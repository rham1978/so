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97D"/>
        </a:solidFill>
        <a:effectLst/>
      </p:bgPr>
    </p:bg>
    <p:spTree>
      <p:nvGrpSpPr>
        <p:cNvPr id="1" name=""/>
        <p:cNvGrpSpPr/>
        <p:nvPr/>
      </p:nvGrpSpPr>
      <p:grpSpPr/>
      <p:sp>
        <p:nvSpPr>
          <p:cNvPr id="2" name="TextBox 1"/>
          <p:cNvSpPr txBox="1"/>
          <p:nvPr/>
        </p:nvSpPr>
        <p:spPr>
          <a:xfrm>
            <a:off x="914400" y="1645920"/>
            <a:ext cx="10332720" cy="2011680"/>
          </a:xfrm>
          <a:prstGeom prst="rect">
            <a:avLst/>
          </a:prstGeom>
          <a:noFill/>
        </p:spPr>
        <p:txBody>
          <a:bodyPr wrap="square">
            <a:spAutoFit/>
          </a:bodyPr>
          <a:lstStyle/>
          <a:p>
            <a:pPr algn="ctr"/>
            <a:r>
              <a:rPr b="1" sz="3600">
                <a:solidFill>
                  <a:srgbClr val="FFFFFF"/>
                </a:solidFill>
              </a:rPr>
              <a:t>Comparativa de Algoritmos de Optimización
de Caja Negra</a:t>
            </a:r>
          </a:p>
        </p:txBody>
      </p:sp>
      <p:sp>
        <p:nvSpPr>
          <p:cNvPr id="3" name="TextBox 2"/>
          <p:cNvSpPr txBox="1"/>
          <p:nvPr/>
        </p:nvSpPr>
        <p:spPr>
          <a:xfrm>
            <a:off x="914400" y="3749039"/>
            <a:ext cx="10332720" cy="822960"/>
          </a:xfrm>
          <a:prstGeom prst="rect">
            <a:avLst/>
          </a:prstGeom>
          <a:noFill/>
        </p:spPr>
        <p:txBody>
          <a:bodyPr wrap="none">
            <a:spAutoFit/>
          </a:bodyPr>
          <a:lstStyle/>
          <a:p>
            <a:pPr algn="ctr"/>
            <a:r>
              <a:rPr b="0" sz="2000">
                <a:solidFill>
                  <a:srgbClr val="BDD7EE"/>
                </a:solidFill>
              </a:rPr>
              <a:t>Simulador DES Clínica de Ginecología — Módulos M4 a M14</a:t>
            </a:r>
          </a:p>
        </p:txBody>
      </p:sp>
      <p:sp>
        <p:nvSpPr>
          <p:cNvPr id="4" name="TextBox 3"/>
          <p:cNvSpPr txBox="1"/>
          <p:nvPr/>
        </p:nvSpPr>
        <p:spPr>
          <a:xfrm>
            <a:off x="914400" y="4937760"/>
            <a:ext cx="10332720" cy="457200"/>
          </a:xfrm>
          <a:prstGeom prst="rect">
            <a:avLst/>
          </a:prstGeom>
          <a:noFill/>
        </p:spPr>
        <p:txBody>
          <a:bodyPr wrap="none">
            <a:spAutoFit/>
          </a:bodyPr>
          <a:lstStyle/>
          <a:p>
            <a:pPr algn="ctr"/>
            <a:r>
              <a:rPr b="0" sz="1300">
                <a:solidFill>
                  <a:srgbClr val="9DC3E6"/>
                </a:solidFill>
              </a:rPr>
              <a:t>Mayo 2026  ·  Raúl Araneda  ·  Resultados combinados: Nube + PC Local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Estado de Resultados por Módulo</a:t>
            </a:r>
          </a:p>
          <a:p>
            <a:pPr algn="l"/>
            <a:r>
              <a:rPr b="0" sz="1300">
                <a:solidFill>
                  <a:srgbClr val="BDD7EE"/>
                </a:solidFill>
              </a:rPr>
              <a:t>Datos consolidados: Nube (M4–M10) + PC Raúl (M13, M14)</a:t>
            </a:r>
          </a:p>
        </p:txBody>
      </p:sp>
      <p:graphicFrame>
        <p:nvGraphicFramePr>
          <p:cNvPr id="3" name="Table 2"/>
          <p:cNvGraphicFramePr>
            <a:graphicFrameLocks noGrp="1"/>
          </p:cNvGraphicFramePr>
          <p:nvPr/>
        </p:nvGraphicFramePr>
        <p:xfrm>
          <a:off x="228600" y="1325880"/>
          <a:ext cx="8988552" cy="5257800"/>
        </p:xfrm>
        <a:graphic>
          <a:graphicData uri="http://schemas.openxmlformats.org/drawingml/2006/table">
            <a:tbl>
              <a:tblPr firstRow="1" bandRow="1">
                <a:tableStyleId>{5C22544A-7EE6-4342-B048-85BDC9FD1C3A}</a:tableStyleId>
              </a:tblPr>
              <a:tblGrid>
                <a:gridCol w="548640"/>
                <a:gridCol w="2148840"/>
                <a:gridCol w="1143000"/>
                <a:gridCol w="914400"/>
                <a:gridCol w="868680"/>
                <a:gridCol w="1005840"/>
                <a:gridCol w="822960"/>
                <a:gridCol w="1536192"/>
              </a:tblGrid>
              <a:tr h="525780">
                <a:tc>
                  <a:txBody>
                    <a:bodyPr wrap="square"/>
                    <a:lstStyle/>
                    <a:p>
                      <a:pPr algn="ctr"/>
                      <a:r>
                        <a:rPr b="1" sz="1000">
                          <a:solidFill>
                            <a:srgbClr val="FFFFFF"/>
                          </a:solidFill>
                        </a:rPr>
                        <a:t>Módulo</a:t>
                      </a:r>
                    </a:p>
                  </a:txBody>
                  <a:tcPr>
                    <a:solidFill>
                      <a:srgbClr val="1F497D"/>
                    </a:solidFill>
                  </a:tcPr>
                </a:tc>
                <a:tc>
                  <a:txBody>
                    <a:bodyPr wrap="square"/>
                    <a:lstStyle/>
                    <a:p>
                      <a:pPr algn="ctr"/>
                      <a:r>
                        <a:rPr b="1" sz="1000">
                          <a:solidFill>
                            <a:srgbClr val="FFFFFF"/>
                          </a:solidFill>
                        </a:rPr>
                        <a:t>Algoritmo</a:t>
                      </a:r>
                    </a:p>
                  </a:txBody>
                  <a:tcPr>
                    <a:solidFill>
                      <a:srgbClr val="1F497D"/>
                    </a:solidFill>
                  </a:tcPr>
                </a:tc>
                <a:tc>
                  <a:txBody>
                    <a:bodyPr wrap="square"/>
                    <a:lstStyle/>
                    <a:p>
                      <a:pPr algn="ctr"/>
                      <a:r>
                        <a:rPr b="1" sz="1000">
                          <a:solidFill>
                            <a:srgbClr val="FFFFFF"/>
                          </a:solidFill>
                        </a:rPr>
                        <a:t>Familia</a:t>
                      </a:r>
                    </a:p>
                  </a:txBody>
                  <a:tcPr>
                    <a:solidFill>
                      <a:srgbClr val="1F497D"/>
                    </a:solidFill>
                  </a:tcPr>
                </a:tc>
                <a:tc>
                  <a:txBody>
                    <a:bodyPr wrap="square"/>
                    <a:lstStyle/>
                    <a:p>
                      <a:pPr algn="ctr"/>
                      <a:r>
                        <a:rPr b="1" sz="1000">
                          <a:solidFill>
                            <a:srgbClr val="FFFFFF"/>
                          </a:solidFill>
                        </a:rPr>
                        <a:t>Costo
(días)</a:t>
                      </a:r>
                    </a:p>
                  </a:txBody>
                  <a:tcPr>
                    <a:solidFill>
                      <a:srgbClr val="1F497D"/>
                    </a:solidFill>
                  </a:tcPr>
                </a:tc>
                <a:tc>
                  <a:txBody>
                    <a:bodyPr wrap="square"/>
                    <a:lstStyle/>
                    <a:p>
                      <a:pPr algn="ctr"/>
                      <a:r>
                        <a:rPr b="1" sz="1000">
                          <a:solidFill>
                            <a:srgbClr val="FFFFFF"/>
                          </a:solidFill>
                        </a:rPr>
                        <a:t>Tiempo</a:t>
                      </a:r>
                    </a:p>
                  </a:txBody>
                  <a:tcPr>
                    <a:solidFill>
                      <a:srgbClr val="1F497D"/>
                    </a:solidFill>
                  </a:tcPr>
                </a:tc>
                <a:tc>
                  <a:txBody>
                    <a:bodyPr wrap="square"/>
                    <a:lstStyle/>
                    <a:p>
                      <a:pPr algn="ctr"/>
                      <a:r>
                        <a:rPr b="1" sz="1000">
                          <a:solidFill>
                            <a:srgbClr val="FFFFFF"/>
                          </a:solidFill>
                        </a:rPr>
                        <a:t>Evaluaciones</a:t>
                      </a:r>
                    </a:p>
                  </a:txBody>
                  <a:tcPr>
                    <a:solidFill>
                      <a:srgbClr val="1F497D"/>
                    </a:solidFill>
                  </a:tcPr>
                </a:tc>
                <a:tc>
                  <a:txBody>
                    <a:bodyPr wrap="square"/>
                    <a:lstStyle/>
                    <a:p>
                      <a:pPr algn="ctr"/>
                      <a:r>
                        <a:rPr b="1" sz="1000">
                          <a:solidFill>
                            <a:srgbClr val="FFFFFF"/>
                          </a:solidFill>
                        </a:rPr>
                        <a:t>Fuente</a:t>
                      </a:r>
                    </a:p>
                  </a:txBody>
                  <a:tcPr>
                    <a:solidFill>
                      <a:srgbClr val="1F497D"/>
                    </a:solidFill>
                  </a:tcPr>
                </a:tc>
                <a:tc>
                  <a:txBody>
                    <a:bodyPr wrap="square"/>
                    <a:lstStyle/>
                    <a:p>
                      <a:pPr algn="ctr"/>
                      <a:r>
                        <a:rPr b="1" sz="1000">
                          <a:solidFill>
                            <a:srgbClr val="FFFFFF"/>
                          </a:solidFill>
                        </a:rPr>
                        <a:t>Estado</a:t>
                      </a:r>
                    </a:p>
                  </a:txBody>
                  <a:tcPr>
                    <a:solidFill>
                      <a:srgbClr val="1F497D"/>
                    </a:solidFill>
                  </a:tcPr>
                </a:tc>
              </a:tr>
              <a:tr h="525780">
                <a:tc>
                  <a:txBody>
                    <a:bodyPr wrap="square"/>
                    <a:lstStyle/>
                    <a:p>
                      <a:pPr algn="ctr"/>
                      <a:r>
                        <a:rPr b="0" sz="1000">
                          <a:solidFill>
                            <a:srgbClr val="404040"/>
                          </a:solidFill>
                        </a:rPr>
                        <a:t>M4</a:t>
                      </a:r>
                    </a:p>
                  </a:txBody>
                  <a:tcPr>
                    <a:solidFill>
                      <a:srgbClr val="D9EAF7"/>
                    </a:solidFill>
                  </a:tcPr>
                </a:tc>
                <a:tc>
                  <a:txBody>
                    <a:bodyPr wrap="square"/>
                    <a:lstStyle/>
                    <a:p>
                      <a:pPr algn="l"/>
                      <a:r>
                        <a:rPr b="0" sz="1000">
                          <a:solidFill>
                            <a:srgbClr val="404040"/>
                          </a:solidFill>
                        </a:rPr>
                        <a:t>SMAC BlackBox GP+EI</a:t>
                      </a:r>
                    </a:p>
                  </a:txBody>
                  <a:tcPr>
                    <a:solidFill>
                      <a:srgbClr val="D9EAF7"/>
                    </a:solidFill>
                  </a:tcPr>
                </a:tc>
                <a:tc>
                  <a:txBody>
                    <a:bodyPr wrap="square"/>
                    <a:lstStyle/>
                    <a:p>
                      <a:pPr algn="ctr"/>
                      <a:r>
                        <a:rPr b="0" sz="1000">
                          <a:solidFill>
                            <a:srgbClr val="404040"/>
                          </a:solidFill>
                        </a:rPr>
                        <a:t>Bayesiana</a:t>
                      </a:r>
                    </a:p>
                  </a:txBody>
                  <a:tcPr>
                    <a:solidFill>
                      <a:srgbClr val="D9EAF7"/>
                    </a:solidFill>
                  </a:tcPr>
                </a:tc>
                <a:tc>
                  <a:txBody>
                    <a:bodyPr wrap="square"/>
                    <a:lstStyle/>
                    <a:p>
                      <a:pPr algn="ctr"/>
                      <a:r>
                        <a:rPr b="0" sz="1000">
                          <a:solidFill>
                            <a:srgbClr val="378648"/>
                          </a:solidFill>
                        </a:rPr>
                        <a:t>205.17 ★</a:t>
                      </a:r>
                    </a:p>
                  </a:txBody>
                  <a:tcPr>
                    <a:solidFill>
                      <a:srgbClr val="D9EAF7"/>
                    </a:solidFill>
                  </a:tcPr>
                </a:tc>
                <a:tc>
                  <a:txBody>
                    <a:bodyPr wrap="square"/>
                    <a:lstStyle/>
                    <a:p>
                      <a:pPr algn="ctr"/>
                      <a:r>
                        <a:rPr b="0" sz="1000">
                          <a:solidFill>
                            <a:srgbClr val="404040"/>
                          </a:solidFill>
                        </a:rPr>
                        <a:t>1.32 h</a:t>
                      </a:r>
                    </a:p>
                  </a:txBody>
                  <a:tcPr>
                    <a:solidFill>
                      <a:srgbClr val="D9EAF7"/>
                    </a:solidFill>
                  </a:tcPr>
                </a:tc>
                <a:tc>
                  <a:txBody>
                    <a:bodyPr wrap="square"/>
                    <a:lstStyle/>
                    <a:p>
                      <a:pPr algn="ctr"/>
                      <a:r>
                        <a:rPr b="0" sz="1000">
                          <a:solidFill>
                            <a:srgbClr val="404040"/>
                          </a:solidFill>
                        </a:rPr>
                        <a:t>20</a:t>
                      </a:r>
                    </a:p>
                  </a:txBody>
                  <a:tcPr>
                    <a:solidFill>
                      <a:srgbClr val="D9EAF7"/>
                    </a:solidFill>
                  </a:tcPr>
                </a:tc>
                <a:tc>
                  <a:txBody>
                    <a:bodyPr wrap="square"/>
                    <a:lstStyle/>
                    <a:p>
                      <a:pPr algn="ctr"/>
                      <a:r>
                        <a:rPr b="0" sz="1000">
                          <a:solidFill>
                            <a:srgbClr val="404040"/>
                          </a:solidFill>
                        </a:rPr>
                        <a:t>Nube</a:t>
                      </a:r>
                    </a:p>
                  </a:txBody>
                  <a:tcPr>
                    <a:solidFill>
                      <a:srgbClr val="D9EAF7"/>
                    </a:solidFill>
                  </a:tcPr>
                </a:tc>
                <a:tc>
                  <a:txBody>
                    <a:bodyPr wrap="square"/>
                    <a:lstStyle/>
                    <a:p>
                      <a:pPr algn="ctr"/>
                      <a:r>
                        <a:rPr b="0" sz="1000">
                          <a:solidFill>
                            <a:srgbClr val="404040"/>
                          </a:solidFill>
                        </a:rPr>
                        <a:t>✓</a:t>
                      </a:r>
                    </a:p>
                  </a:txBody>
                  <a:tcPr>
                    <a:solidFill>
                      <a:srgbClr val="D9EAF7"/>
                    </a:solidFill>
                  </a:tcPr>
                </a:tc>
              </a:tr>
              <a:tr h="525780">
                <a:tc>
                  <a:txBody>
                    <a:bodyPr wrap="square"/>
                    <a:lstStyle/>
                    <a:p>
                      <a:pPr algn="ctr"/>
                      <a:r>
                        <a:rPr b="0" sz="1000">
                          <a:solidFill>
                            <a:srgbClr val="404040"/>
                          </a:solidFill>
                        </a:rPr>
                        <a:t>M7</a:t>
                      </a:r>
                    </a:p>
                  </a:txBody>
                  <a:tcPr>
                    <a:solidFill>
                      <a:srgbClr val="C5DEF2"/>
                    </a:solidFill>
                  </a:tcPr>
                </a:tc>
                <a:tc>
                  <a:txBody>
                    <a:bodyPr wrap="square"/>
                    <a:lstStyle/>
                    <a:p>
                      <a:pPr algn="l"/>
                      <a:r>
                        <a:rPr b="0" sz="1000">
                          <a:solidFill>
                            <a:srgbClr val="404040"/>
                          </a:solidFill>
                        </a:rPr>
                        <a:t>SMAC + SK (EI)</a:t>
                      </a:r>
                    </a:p>
                  </a:txBody>
                  <a:tcPr>
                    <a:solidFill>
                      <a:srgbClr val="C5DEF2"/>
                    </a:solidFill>
                  </a:tcPr>
                </a:tc>
                <a:tc>
                  <a:txBody>
                    <a:bodyPr wrap="square"/>
                    <a:lstStyle/>
                    <a:p>
                      <a:pPr algn="ctr"/>
                      <a:r>
                        <a:rPr b="0" sz="1000">
                          <a:solidFill>
                            <a:srgbClr val="404040"/>
                          </a:solidFill>
                        </a:rPr>
                        <a:t>Bayesiana-SK</a:t>
                      </a:r>
                    </a:p>
                  </a:txBody>
                  <a:tcPr>
                    <a:solidFill>
                      <a:srgbClr val="C5DEF2"/>
                    </a:solidFill>
                  </a:tcPr>
                </a:tc>
                <a:tc>
                  <a:txBody>
                    <a:bodyPr wrap="square"/>
                    <a:lstStyle/>
                    <a:p>
                      <a:pPr algn="ctr"/>
                      <a:r>
                        <a:rPr b="0" sz="1000">
                          <a:solidFill>
                            <a:srgbClr val="404040"/>
                          </a:solidFill>
                        </a:rPr>
                        <a:t>217.76</a:t>
                      </a:r>
                    </a:p>
                  </a:txBody>
                  <a:tcPr>
                    <a:solidFill>
                      <a:srgbClr val="C5DEF2"/>
                    </a:solidFill>
                  </a:tcPr>
                </a:tc>
                <a:tc>
                  <a:txBody>
                    <a:bodyPr wrap="square"/>
                    <a:lstStyle/>
                    <a:p>
                      <a:pPr algn="ctr"/>
                      <a:r>
                        <a:rPr b="0" sz="1000">
                          <a:solidFill>
                            <a:srgbClr val="404040"/>
                          </a:solidFill>
                        </a:rPr>
                        <a:t>2.55 h</a:t>
                      </a:r>
                    </a:p>
                  </a:txBody>
                  <a:tcPr>
                    <a:solidFill>
                      <a:srgbClr val="C5DEF2"/>
                    </a:solidFill>
                  </a:tcPr>
                </a:tc>
                <a:tc>
                  <a:txBody>
                    <a:bodyPr wrap="square"/>
                    <a:lstStyle/>
                    <a:p>
                      <a:pPr algn="ctr"/>
                      <a:r>
                        <a:rPr b="0" sz="1000">
                          <a:solidFill>
                            <a:srgbClr val="404040"/>
                          </a:solidFill>
                        </a:rPr>
                        <a:t>20</a:t>
                      </a:r>
                    </a:p>
                  </a:txBody>
                  <a:tcPr>
                    <a:solidFill>
                      <a:srgbClr val="C5DEF2"/>
                    </a:solidFill>
                  </a:tcPr>
                </a:tc>
                <a:tc>
                  <a:txBody>
                    <a:bodyPr wrap="square"/>
                    <a:lstStyle/>
                    <a:p>
                      <a:pPr algn="ctr"/>
                      <a:r>
                        <a:rPr b="0" sz="1000">
                          <a:solidFill>
                            <a:srgbClr val="404040"/>
                          </a:solidFill>
                        </a:rPr>
                        <a:t>Nube</a:t>
                      </a:r>
                    </a:p>
                  </a:txBody>
                  <a:tcPr>
                    <a:solidFill>
                      <a:srgbClr val="C5DEF2"/>
                    </a:solidFill>
                  </a:tcPr>
                </a:tc>
                <a:tc>
                  <a:txBody>
                    <a:bodyPr wrap="square"/>
                    <a:lstStyle/>
                    <a:p>
                      <a:pPr algn="ctr"/>
                      <a:r>
                        <a:rPr b="0" sz="1000">
                          <a:solidFill>
                            <a:srgbClr val="404040"/>
                          </a:solidFill>
                        </a:rPr>
                        <a:t>✓</a:t>
                      </a:r>
                    </a:p>
                  </a:txBody>
                  <a:tcPr>
                    <a:solidFill>
                      <a:srgbClr val="C5DEF2"/>
                    </a:solidFill>
                  </a:tcPr>
                </a:tc>
              </a:tr>
              <a:tr h="525780">
                <a:tc>
                  <a:txBody>
                    <a:bodyPr wrap="square"/>
                    <a:lstStyle/>
                    <a:p>
                      <a:pPr algn="ctr"/>
                      <a:r>
                        <a:rPr b="0" sz="1000">
                          <a:solidFill>
                            <a:srgbClr val="404040"/>
                          </a:solidFill>
                        </a:rPr>
                        <a:t>M8</a:t>
                      </a:r>
                    </a:p>
                  </a:txBody>
                  <a:tcPr>
                    <a:solidFill>
                      <a:srgbClr val="C5DEF2"/>
                    </a:solidFill>
                  </a:tcPr>
                </a:tc>
                <a:tc>
                  <a:txBody>
                    <a:bodyPr wrap="square"/>
                    <a:lstStyle/>
                    <a:p>
                      <a:pPr algn="l"/>
                      <a:r>
                        <a:rPr b="0" sz="1000">
                          <a:solidFill>
                            <a:srgbClr val="404040"/>
                          </a:solidFill>
                        </a:rPr>
                        <a:t>SK Adaptativo</a:t>
                      </a:r>
                    </a:p>
                  </a:txBody>
                  <a:tcPr>
                    <a:solidFill>
                      <a:srgbClr val="C5DEF2"/>
                    </a:solidFill>
                  </a:tcPr>
                </a:tc>
                <a:tc>
                  <a:txBody>
                    <a:bodyPr wrap="square"/>
                    <a:lstStyle/>
                    <a:p>
                      <a:pPr algn="ctr"/>
                      <a:r>
                        <a:rPr b="0" sz="1000">
                          <a:solidFill>
                            <a:srgbClr val="404040"/>
                          </a:solidFill>
                        </a:rPr>
                        <a:t>Bayesiana-SK</a:t>
                      </a:r>
                    </a:p>
                  </a:txBody>
                  <a:tcPr>
                    <a:solidFill>
                      <a:srgbClr val="C5DEF2"/>
                    </a:solidFill>
                  </a:tcPr>
                </a:tc>
                <a:tc>
                  <a:txBody>
                    <a:bodyPr wrap="square"/>
                    <a:lstStyle/>
                    <a:p>
                      <a:pPr algn="ctr"/>
                      <a:r>
                        <a:rPr b="0" sz="1000">
                          <a:solidFill>
                            <a:srgbClr val="404040"/>
                          </a:solidFill>
                        </a:rPr>
                        <a:t>218.93</a:t>
                      </a:r>
                    </a:p>
                  </a:txBody>
                  <a:tcPr>
                    <a:solidFill>
                      <a:srgbClr val="C5DEF2"/>
                    </a:solidFill>
                  </a:tcPr>
                </a:tc>
                <a:tc>
                  <a:txBody>
                    <a:bodyPr wrap="square"/>
                    <a:lstStyle/>
                    <a:p>
                      <a:pPr algn="ctr"/>
                      <a:r>
                        <a:rPr b="0" sz="1000">
                          <a:solidFill>
                            <a:srgbClr val="404040"/>
                          </a:solidFill>
                        </a:rPr>
                        <a:t>2.17 h</a:t>
                      </a:r>
                    </a:p>
                  </a:txBody>
                  <a:tcPr>
                    <a:solidFill>
                      <a:srgbClr val="C5DEF2"/>
                    </a:solidFill>
                  </a:tcPr>
                </a:tc>
                <a:tc>
                  <a:txBody>
                    <a:bodyPr wrap="square"/>
                    <a:lstStyle/>
                    <a:p>
                      <a:pPr algn="ctr"/>
                      <a:r>
                        <a:rPr b="0" sz="1000">
                          <a:solidFill>
                            <a:srgbClr val="404040"/>
                          </a:solidFill>
                        </a:rPr>
                        <a:t>20</a:t>
                      </a:r>
                    </a:p>
                  </a:txBody>
                  <a:tcPr>
                    <a:solidFill>
                      <a:srgbClr val="C5DEF2"/>
                    </a:solidFill>
                  </a:tcPr>
                </a:tc>
                <a:tc>
                  <a:txBody>
                    <a:bodyPr wrap="square"/>
                    <a:lstStyle/>
                    <a:p>
                      <a:pPr algn="ctr"/>
                      <a:r>
                        <a:rPr b="0" sz="1000">
                          <a:solidFill>
                            <a:srgbClr val="404040"/>
                          </a:solidFill>
                        </a:rPr>
                        <a:t>Nube</a:t>
                      </a:r>
                    </a:p>
                  </a:txBody>
                  <a:tcPr>
                    <a:solidFill>
                      <a:srgbClr val="C5DEF2"/>
                    </a:solidFill>
                  </a:tcPr>
                </a:tc>
                <a:tc>
                  <a:txBody>
                    <a:bodyPr wrap="square"/>
                    <a:lstStyle/>
                    <a:p>
                      <a:pPr algn="ctr"/>
                      <a:r>
                        <a:rPr b="0" sz="1000">
                          <a:solidFill>
                            <a:srgbClr val="404040"/>
                          </a:solidFill>
                        </a:rPr>
                        <a:t>✓</a:t>
                      </a:r>
                    </a:p>
                  </a:txBody>
                  <a:tcPr>
                    <a:solidFill>
                      <a:srgbClr val="C5DEF2"/>
                    </a:solidFill>
                  </a:tcPr>
                </a:tc>
              </a:tr>
              <a:tr h="525780">
                <a:tc>
                  <a:txBody>
                    <a:bodyPr wrap="square"/>
                    <a:lstStyle/>
                    <a:p>
                      <a:pPr algn="ctr"/>
                      <a:r>
                        <a:rPr b="0" sz="1000">
                          <a:solidFill>
                            <a:srgbClr val="404040"/>
                          </a:solidFill>
                        </a:rPr>
                        <a:t>M9</a:t>
                      </a:r>
                    </a:p>
                  </a:txBody>
                  <a:tcPr>
                    <a:solidFill>
                      <a:srgbClr val="C5DEF2"/>
                    </a:solidFill>
                  </a:tcPr>
                </a:tc>
                <a:tc>
                  <a:txBody>
                    <a:bodyPr wrap="square"/>
                    <a:lstStyle/>
                    <a:p>
                      <a:pPr algn="l"/>
                      <a:r>
                        <a:rPr b="0" sz="1000">
                          <a:solidFill>
                            <a:srgbClr val="404040"/>
                          </a:solidFill>
                        </a:rPr>
                        <a:t>SK-REVI</a:t>
                      </a:r>
                    </a:p>
                  </a:txBody>
                  <a:tcPr>
                    <a:solidFill>
                      <a:srgbClr val="C5DEF2"/>
                    </a:solidFill>
                  </a:tcPr>
                </a:tc>
                <a:tc>
                  <a:txBody>
                    <a:bodyPr wrap="square"/>
                    <a:lstStyle/>
                    <a:p>
                      <a:pPr algn="ctr"/>
                      <a:r>
                        <a:rPr b="0" sz="1000">
                          <a:solidFill>
                            <a:srgbClr val="404040"/>
                          </a:solidFill>
                        </a:rPr>
                        <a:t>Bayesiana-SK</a:t>
                      </a:r>
                    </a:p>
                  </a:txBody>
                  <a:tcPr>
                    <a:solidFill>
                      <a:srgbClr val="C5DEF2"/>
                    </a:solidFill>
                  </a:tcPr>
                </a:tc>
                <a:tc>
                  <a:txBody>
                    <a:bodyPr wrap="square"/>
                    <a:lstStyle/>
                    <a:p>
                      <a:pPr algn="ctr"/>
                      <a:r>
                        <a:rPr b="0" sz="1000">
                          <a:solidFill>
                            <a:srgbClr val="404040"/>
                          </a:solidFill>
                        </a:rPr>
                        <a:t>215.66</a:t>
                      </a:r>
                    </a:p>
                  </a:txBody>
                  <a:tcPr>
                    <a:solidFill>
                      <a:srgbClr val="C5DEF2"/>
                    </a:solidFill>
                  </a:tcPr>
                </a:tc>
                <a:tc>
                  <a:txBody>
                    <a:bodyPr wrap="square"/>
                    <a:lstStyle/>
                    <a:p>
                      <a:pPr algn="ctr"/>
                      <a:r>
                        <a:rPr b="0" sz="1000">
                          <a:solidFill>
                            <a:srgbClr val="404040"/>
                          </a:solidFill>
                        </a:rPr>
                        <a:t>1.65 h</a:t>
                      </a:r>
                    </a:p>
                  </a:txBody>
                  <a:tcPr>
                    <a:solidFill>
                      <a:srgbClr val="C5DEF2"/>
                    </a:solidFill>
                  </a:tcPr>
                </a:tc>
                <a:tc>
                  <a:txBody>
                    <a:bodyPr wrap="square"/>
                    <a:lstStyle/>
                    <a:p>
                      <a:pPr algn="ctr"/>
                      <a:r>
                        <a:rPr b="0" sz="1000">
                          <a:solidFill>
                            <a:srgbClr val="404040"/>
                          </a:solidFill>
                        </a:rPr>
                        <a:t>20</a:t>
                      </a:r>
                    </a:p>
                  </a:txBody>
                  <a:tcPr>
                    <a:solidFill>
                      <a:srgbClr val="C5DEF2"/>
                    </a:solidFill>
                  </a:tcPr>
                </a:tc>
                <a:tc>
                  <a:txBody>
                    <a:bodyPr wrap="square"/>
                    <a:lstStyle/>
                    <a:p>
                      <a:pPr algn="ctr"/>
                      <a:r>
                        <a:rPr b="0" sz="1000">
                          <a:solidFill>
                            <a:srgbClr val="404040"/>
                          </a:solidFill>
                        </a:rPr>
                        <a:t>Nube</a:t>
                      </a:r>
                    </a:p>
                  </a:txBody>
                  <a:tcPr>
                    <a:solidFill>
                      <a:srgbClr val="C5DEF2"/>
                    </a:solidFill>
                  </a:tcPr>
                </a:tc>
                <a:tc>
                  <a:txBody>
                    <a:bodyPr wrap="square"/>
                    <a:lstStyle/>
                    <a:p>
                      <a:pPr algn="ctr"/>
                      <a:r>
                        <a:rPr b="0" sz="1000">
                          <a:solidFill>
                            <a:srgbClr val="404040"/>
                          </a:solidFill>
                        </a:rPr>
                        <a:t>✓</a:t>
                      </a:r>
                    </a:p>
                  </a:txBody>
                  <a:tcPr>
                    <a:solidFill>
                      <a:srgbClr val="C5DEF2"/>
                    </a:solidFill>
                  </a:tcPr>
                </a:tc>
              </a:tr>
              <a:tr h="525780">
                <a:tc>
                  <a:txBody>
                    <a:bodyPr wrap="square"/>
                    <a:lstStyle/>
                    <a:p>
                      <a:pPr algn="ctr"/>
                      <a:r>
                        <a:rPr b="0" sz="1000">
                          <a:solidFill>
                            <a:srgbClr val="404040"/>
                          </a:solidFill>
                        </a:rPr>
                        <a:t>M10</a:t>
                      </a:r>
                    </a:p>
                  </a:txBody>
                  <a:tcPr>
                    <a:solidFill>
                      <a:srgbClr val="C5DEF2"/>
                    </a:solidFill>
                  </a:tcPr>
                </a:tc>
                <a:tc>
                  <a:txBody>
                    <a:bodyPr wrap="square"/>
                    <a:lstStyle/>
                    <a:p>
                      <a:pPr algn="l"/>
                      <a:r>
                        <a:rPr b="0" sz="1000">
                          <a:solidFill>
                            <a:srgbClr val="404040"/>
                          </a:solidFill>
                        </a:rPr>
                        <a:t>SK-KGCP</a:t>
                      </a:r>
                    </a:p>
                  </a:txBody>
                  <a:tcPr>
                    <a:solidFill>
                      <a:srgbClr val="C5DEF2"/>
                    </a:solidFill>
                  </a:tcPr>
                </a:tc>
                <a:tc>
                  <a:txBody>
                    <a:bodyPr wrap="square"/>
                    <a:lstStyle/>
                    <a:p>
                      <a:pPr algn="ctr"/>
                      <a:r>
                        <a:rPr b="0" sz="1000">
                          <a:solidFill>
                            <a:srgbClr val="404040"/>
                          </a:solidFill>
                        </a:rPr>
                        <a:t>Bayesiana-SK</a:t>
                      </a:r>
                    </a:p>
                  </a:txBody>
                  <a:tcPr>
                    <a:solidFill>
                      <a:srgbClr val="C5DEF2"/>
                    </a:solidFill>
                  </a:tcPr>
                </a:tc>
                <a:tc>
                  <a:txBody>
                    <a:bodyPr wrap="square"/>
                    <a:lstStyle/>
                    <a:p>
                      <a:pPr algn="ctr"/>
                      <a:r>
                        <a:rPr b="0" sz="1000">
                          <a:solidFill>
                            <a:srgbClr val="404040"/>
                          </a:solidFill>
                        </a:rPr>
                        <a:t>219.96</a:t>
                      </a:r>
                    </a:p>
                  </a:txBody>
                  <a:tcPr>
                    <a:solidFill>
                      <a:srgbClr val="C5DEF2"/>
                    </a:solidFill>
                  </a:tcPr>
                </a:tc>
                <a:tc>
                  <a:txBody>
                    <a:bodyPr wrap="square"/>
                    <a:lstStyle/>
                    <a:p>
                      <a:pPr algn="ctr"/>
                      <a:r>
                        <a:rPr b="0" sz="1000">
                          <a:solidFill>
                            <a:srgbClr val="404040"/>
                          </a:solidFill>
                        </a:rPr>
                        <a:t>1.46 h</a:t>
                      </a:r>
                    </a:p>
                  </a:txBody>
                  <a:tcPr>
                    <a:solidFill>
                      <a:srgbClr val="C5DEF2"/>
                    </a:solidFill>
                  </a:tcPr>
                </a:tc>
                <a:tc>
                  <a:txBody>
                    <a:bodyPr wrap="square"/>
                    <a:lstStyle/>
                    <a:p>
                      <a:pPr algn="ctr"/>
                      <a:r>
                        <a:rPr b="0" sz="1000">
                          <a:solidFill>
                            <a:srgbClr val="404040"/>
                          </a:solidFill>
                        </a:rPr>
                        <a:t>20</a:t>
                      </a:r>
                    </a:p>
                  </a:txBody>
                  <a:tcPr>
                    <a:solidFill>
                      <a:srgbClr val="C5DEF2"/>
                    </a:solidFill>
                  </a:tcPr>
                </a:tc>
                <a:tc>
                  <a:txBody>
                    <a:bodyPr wrap="square"/>
                    <a:lstStyle/>
                    <a:p>
                      <a:pPr algn="ctr"/>
                      <a:r>
                        <a:rPr b="0" sz="1000">
                          <a:solidFill>
                            <a:srgbClr val="404040"/>
                          </a:solidFill>
                        </a:rPr>
                        <a:t>Nube</a:t>
                      </a:r>
                    </a:p>
                  </a:txBody>
                  <a:tcPr>
                    <a:solidFill>
                      <a:srgbClr val="C5DEF2"/>
                    </a:solidFill>
                  </a:tcPr>
                </a:tc>
                <a:tc>
                  <a:txBody>
                    <a:bodyPr wrap="square"/>
                    <a:lstStyle/>
                    <a:p>
                      <a:pPr algn="ctr"/>
                      <a:r>
                        <a:rPr b="0" sz="1000">
                          <a:solidFill>
                            <a:srgbClr val="404040"/>
                          </a:solidFill>
                        </a:rPr>
                        <a:t>✓</a:t>
                      </a:r>
                    </a:p>
                  </a:txBody>
                  <a:tcPr>
                    <a:solidFill>
                      <a:srgbClr val="C5DEF2"/>
                    </a:solidFill>
                  </a:tcPr>
                </a:tc>
              </a:tr>
              <a:tr h="525780">
                <a:tc>
                  <a:txBody>
                    <a:bodyPr wrap="square"/>
                    <a:lstStyle/>
                    <a:p>
                      <a:pPr algn="ctr"/>
                      <a:r>
                        <a:rPr b="0" sz="1000">
                          <a:solidFill>
                            <a:srgbClr val="404040"/>
                          </a:solidFill>
                        </a:rPr>
                        <a:t>M11</a:t>
                      </a:r>
                    </a:p>
                  </a:txBody>
                  <a:tcPr>
                    <a:solidFill>
                      <a:srgbClr val="E2F0D9"/>
                    </a:solidFill>
                  </a:tcPr>
                </a:tc>
                <a:tc>
                  <a:txBody>
                    <a:bodyPr wrap="square"/>
                    <a:lstStyle/>
                    <a:p>
                      <a:pPr algn="l"/>
                      <a:r>
                        <a:rPr b="0" sz="1000">
                          <a:solidFill>
                            <a:srgbClr val="404040"/>
                          </a:solidFill>
                        </a:rPr>
                        <a:t>ASTRO-DF</a:t>
                      </a:r>
                    </a:p>
                  </a:txBody>
                  <a:tcPr>
                    <a:solidFill>
                      <a:srgbClr val="E2F0D9"/>
                    </a:solidFill>
                  </a:tcPr>
                </a:tc>
                <a:tc>
                  <a:txBody>
                    <a:bodyPr wrap="square"/>
                    <a:lstStyle/>
                    <a:p>
                      <a:pPr algn="ctr"/>
                      <a:r>
                        <a:rPr b="0" sz="1000">
                          <a:solidFill>
                            <a:srgbClr val="404040"/>
                          </a:solidFill>
                        </a:rPr>
                        <a:t>Trust-Region</a:t>
                      </a:r>
                    </a:p>
                  </a:txBody>
                  <a:tcPr>
                    <a:solidFill>
                      <a:srgbClr val="E2F0D9"/>
                    </a:solidFill>
                  </a:tcPr>
                </a:tc>
                <a:tc>
                  <a:txBody>
                    <a:bodyPr wrap="square"/>
                    <a:lstStyle/>
                    <a:p>
                      <a:pPr algn="ctr"/>
                      <a:r>
                        <a:rPr b="0" sz="1000">
                          <a:solidFill>
                            <a:srgbClr val="404040"/>
                          </a:solidFill>
                        </a:rPr>
                        <a:t>—</a:t>
                      </a:r>
                    </a:p>
                  </a:txBody>
                  <a:tcPr>
                    <a:solidFill>
                      <a:srgbClr val="E2F0D9"/>
                    </a:solidFill>
                  </a:tcPr>
                </a:tc>
                <a:tc>
                  <a:txBody>
                    <a:bodyPr wrap="square"/>
                    <a:lstStyle/>
                    <a:p>
                      <a:pPr algn="ctr"/>
                      <a:r>
                        <a:rPr b="0" sz="1000">
                          <a:solidFill>
                            <a:srgbClr val="404040"/>
                          </a:solidFill>
                        </a:rPr>
                        <a:t>—</a:t>
                      </a:r>
                    </a:p>
                  </a:txBody>
                  <a:tcPr>
                    <a:solidFill>
                      <a:srgbClr val="E2F0D9"/>
                    </a:solidFill>
                  </a:tcPr>
                </a:tc>
                <a:tc>
                  <a:txBody>
                    <a:bodyPr wrap="square"/>
                    <a:lstStyle/>
                    <a:p>
                      <a:pPr algn="ctr"/>
                      <a:r>
                        <a:rPr b="0" sz="1000">
                          <a:solidFill>
                            <a:srgbClr val="404040"/>
                          </a:solidFill>
                        </a:rPr>
                        <a:t>—</a:t>
                      </a:r>
                    </a:p>
                  </a:txBody>
                  <a:tcPr>
                    <a:solidFill>
                      <a:srgbClr val="E2F0D9"/>
                    </a:solidFill>
                  </a:tcPr>
                </a:tc>
                <a:tc>
                  <a:txBody>
                    <a:bodyPr wrap="square"/>
                    <a:lstStyle/>
                    <a:p>
                      <a:pPr algn="ctr"/>
                      <a:r>
                        <a:rPr b="0" sz="1000">
                          <a:solidFill>
                            <a:srgbClr val="404040"/>
                          </a:solidFill>
                        </a:rPr>
                        <a:t>—</a:t>
                      </a:r>
                    </a:p>
                  </a:txBody>
                  <a:tcPr>
                    <a:solidFill>
                      <a:srgbClr val="E2F0D9"/>
                    </a:solidFill>
                  </a:tcPr>
                </a:tc>
                <a:tc>
                  <a:txBody>
                    <a:bodyPr wrap="square"/>
                    <a:lstStyle/>
                    <a:p>
                      <a:pPr algn="ctr"/>
                      <a:r>
                        <a:rPr b="0" sz="1000">
                          <a:solidFill>
                            <a:srgbClr val="C00000"/>
                          </a:solidFill>
                        </a:rPr>
                        <a:t>✗ Sin datos</a:t>
                      </a:r>
                    </a:p>
                  </a:txBody>
                  <a:tcPr>
                    <a:solidFill>
                      <a:srgbClr val="E2F0D9"/>
                    </a:solidFill>
                  </a:tcPr>
                </a:tc>
              </a:tr>
              <a:tr h="525780">
                <a:tc>
                  <a:txBody>
                    <a:bodyPr wrap="square"/>
                    <a:lstStyle/>
                    <a:p>
                      <a:pPr algn="ctr"/>
                      <a:r>
                        <a:rPr b="0" sz="1000">
                          <a:solidFill>
                            <a:srgbClr val="404040"/>
                          </a:solidFill>
                        </a:rPr>
                        <a:t>M12</a:t>
                      </a:r>
                    </a:p>
                  </a:txBody>
                  <a:tcPr>
                    <a:solidFill>
                      <a:srgbClr val="E2F0D9"/>
                    </a:solidFill>
                  </a:tcPr>
                </a:tc>
                <a:tc>
                  <a:txBody>
                    <a:bodyPr wrap="square"/>
                    <a:lstStyle/>
                    <a:p>
                      <a:pPr algn="l"/>
                      <a:r>
                        <a:rPr b="0" sz="1000">
                          <a:solidFill>
                            <a:srgbClr val="404040"/>
                          </a:solidFill>
                        </a:rPr>
                        <a:t>STRONG</a:t>
                      </a:r>
                    </a:p>
                  </a:txBody>
                  <a:tcPr>
                    <a:solidFill>
                      <a:srgbClr val="E2F0D9"/>
                    </a:solidFill>
                  </a:tcPr>
                </a:tc>
                <a:tc>
                  <a:txBody>
                    <a:bodyPr wrap="square"/>
                    <a:lstStyle/>
                    <a:p>
                      <a:pPr algn="ctr"/>
                      <a:r>
                        <a:rPr b="0" sz="1000">
                          <a:solidFill>
                            <a:srgbClr val="404040"/>
                          </a:solidFill>
                        </a:rPr>
                        <a:t>Trust-Region</a:t>
                      </a:r>
                    </a:p>
                  </a:txBody>
                  <a:tcPr>
                    <a:solidFill>
                      <a:srgbClr val="E2F0D9"/>
                    </a:solidFill>
                  </a:tcPr>
                </a:tc>
                <a:tc>
                  <a:txBody>
                    <a:bodyPr wrap="square"/>
                    <a:lstStyle/>
                    <a:p>
                      <a:pPr algn="ctr"/>
                      <a:r>
                        <a:rPr b="0" sz="1000">
                          <a:solidFill>
                            <a:srgbClr val="404040"/>
                          </a:solidFill>
                        </a:rPr>
                        <a:t>—</a:t>
                      </a:r>
                    </a:p>
                  </a:txBody>
                  <a:tcPr>
                    <a:solidFill>
                      <a:srgbClr val="E2F0D9"/>
                    </a:solidFill>
                  </a:tcPr>
                </a:tc>
                <a:tc>
                  <a:txBody>
                    <a:bodyPr wrap="square"/>
                    <a:lstStyle/>
                    <a:p>
                      <a:pPr algn="ctr"/>
                      <a:r>
                        <a:rPr b="0" sz="1000">
                          <a:solidFill>
                            <a:srgbClr val="404040"/>
                          </a:solidFill>
                        </a:rPr>
                        <a:t>—</a:t>
                      </a:r>
                    </a:p>
                  </a:txBody>
                  <a:tcPr>
                    <a:solidFill>
                      <a:srgbClr val="E2F0D9"/>
                    </a:solidFill>
                  </a:tcPr>
                </a:tc>
                <a:tc>
                  <a:txBody>
                    <a:bodyPr wrap="square"/>
                    <a:lstStyle/>
                    <a:p>
                      <a:pPr algn="ctr"/>
                      <a:r>
                        <a:rPr b="0" sz="1000">
                          <a:solidFill>
                            <a:srgbClr val="404040"/>
                          </a:solidFill>
                        </a:rPr>
                        <a:t>—</a:t>
                      </a:r>
                    </a:p>
                  </a:txBody>
                  <a:tcPr>
                    <a:solidFill>
                      <a:srgbClr val="E2F0D9"/>
                    </a:solidFill>
                  </a:tcPr>
                </a:tc>
                <a:tc>
                  <a:txBody>
                    <a:bodyPr wrap="square"/>
                    <a:lstStyle/>
                    <a:p>
                      <a:pPr algn="ctr"/>
                      <a:r>
                        <a:rPr b="0" sz="1000">
                          <a:solidFill>
                            <a:srgbClr val="404040"/>
                          </a:solidFill>
                        </a:rPr>
                        <a:t>—</a:t>
                      </a:r>
                    </a:p>
                  </a:txBody>
                  <a:tcPr>
                    <a:solidFill>
                      <a:srgbClr val="E2F0D9"/>
                    </a:solidFill>
                  </a:tcPr>
                </a:tc>
                <a:tc>
                  <a:txBody>
                    <a:bodyPr wrap="square"/>
                    <a:lstStyle/>
                    <a:p>
                      <a:pPr algn="ctr"/>
                      <a:r>
                        <a:rPr b="0" sz="1000">
                          <a:solidFill>
                            <a:srgbClr val="C00000"/>
                          </a:solidFill>
                        </a:rPr>
                        <a:t>✗ Sin datos</a:t>
                      </a:r>
                    </a:p>
                  </a:txBody>
                  <a:tcPr>
                    <a:solidFill>
                      <a:srgbClr val="E2F0D9"/>
                    </a:solidFill>
                  </a:tcPr>
                </a:tc>
              </a:tr>
              <a:tr h="525780">
                <a:tc>
                  <a:txBody>
                    <a:bodyPr wrap="square"/>
                    <a:lstStyle/>
                    <a:p>
                      <a:pPr algn="ctr"/>
                      <a:r>
                        <a:rPr b="0" sz="1000">
                          <a:solidFill>
                            <a:srgbClr val="404040"/>
                          </a:solidFill>
                        </a:rPr>
                        <a:t>M13</a:t>
                      </a:r>
                    </a:p>
                  </a:txBody>
                  <a:tcPr>
                    <a:solidFill>
                      <a:srgbClr val="FDF0D0"/>
                    </a:solidFill>
                  </a:tcPr>
                </a:tc>
                <a:tc>
                  <a:txBody>
                    <a:bodyPr wrap="square"/>
                    <a:lstStyle/>
                    <a:p>
                      <a:pPr algn="l"/>
                      <a:r>
                        <a:rPr b="0" sz="1000">
                          <a:solidFill>
                            <a:srgbClr val="404040"/>
                          </a:solidFill>
                        </a:rPr>
                        <a:t>SPSA</a:t>
                      </a:r>
                    </a:p>
                  </a:txBody>
                  <a:tcPr>
                    <a:solidFill>
                      <a:srgbClr val="FDF0D0"/>
                    </a:solidFill>
                  </a:tcPr>
                </a:tc>
                <a:tc>
                  <a:txBody>
                    <a:bodyPr wrap="square"/>
                    <a:lstStyle/>
                    <a:p>
                      <a:pPr algn="ctr"/>
                      <a:r>
                        <a:rPr b="0" sz="1000">
                          <a:solidFill>
                            <a:srgbClr val="404040"/>
                          </a:solidFill>
                        </a:rPr>
                        <a:t>Gradiente</a:t>
                      </a:r>
                    </a:p>
                  </a:txBody>
                  <a:tcPr>
                    <a:solidFill>
                      <a:srgbClr val="FDF0D0"/>
                    </a:solidFill>
                  </a:tcPr>
                </a:tc>
                <a:tc>
                  <a:txBody>
                    <a:bodyPr wrap="square"/>
                    <a:lstStyle/>
                    <a:p>
                      <a:pPr algn="ctr"/>
                      <a:r>
                        <a:rPr b="0" sz="1000">
                          <a:solidFill>
                            <a:srgbClr val="404040"/>
                          </a:solidFill>
                        </a:rPr>
                        <a:t>219.38</a:t>
                      </a:r>
                    </a:p>
                  </a:txBody>
                  <a:tcPr>
                    <a:solidFill>
                      <a:srgbClr val="FDF0D0"/>
                    </a:solidFill>
                  </a:tcPr>
                </a:tc>
                <a:tc>
                  <a:txBody>
                    <a:bodyPr wrap="square"/>
                    <a:lstStyle/>
                    <a:p>
                      <a:pPr algn="ctr"/>
                      <a:r>
                        <a:rPr b="0" sz="1000">
                          <a:solidFill>
                            <a:srgbClr val="404040"/>
                          </a:solidFill>
                        </a:rPr>
                        <a:t>8.65 h</a:t>
                      </a:r>
                    </a:p>
                  </a:txBody>
                  <a:tcPr>
                    <a:solidFill>
                      <a:srgbClr val="FDF0D0"/>
                    </a:solidFill>
                  </a:tcPr>
                </a:tc>
                <a:tc>
                  <a:txBody>
                    <a:bodyPr wrap="square"/>
                    <a:lstStyle/>
                    <a:p>
                      <a:pPr algn="ctr"/>
                      <a:r>
                        <a:rPr b="0" sz="1000">
                          <a:solidFill>
                            <a:srgbClr val="404040"/>
                          </a:solidFill>
                        </a:rPr>
                        <a:t>~300</a:t>
                      </a:r>
                    </a:p>
                  </a:txBody>
                  <a:tcPr>
                    <a:solidFill>
                      <a:srgbClr val="FDF0D0"/>
                    </a:solidFill>
                  </a:tcPr>
                </a:tc>
                <a:tc>
                  <a:txBody>
                    <a:bodyPr wrap="square"/>
                    <a:lstStyle/>
                    <a:p>
                      <a:pPr algn="ctr"/>
                      <a:r>
                        <a:rPr b="0" sz="1000">
                          <a:solidFill>
                            <a:srgbClr val="404040"/>
                          </a:solidFill>
                        </a:rPr>
                        <a:t>Raúl PC</a:t>
                      </a:r>
                    </a:p>
                  </a:txBody>
                  <a:tcPr>
                    <a:solidFill>
                      <a:srgbClr val="FDF0D0"/>
                    </a:solidFill>
                  </a:tcPr>
                </a:tc>
                <a:tc>
                  <a:txBody>
                    <a:bodyPr wrap="square"/>
                    <a:lstStyle/>
                    <a:p>
                      <a:pPr algn="ctr"/>
                      <a:r>
                        <a:rPr b="0" sz="1000">
                          <a:solidFill>
                            <a:srgbClr val="404040"/>
                          </a:solidFill>
                        </a:rPr>
                        <a:t>✓</a:t>
                      </a:r>
                    </a:p>
                  </a:txBody>
                  <a:tcPr>
                    <a:solidFill>
                      <a:srgbClr val="FDF0D0"/>
                    </a:solidFill>
                  </a:tcPr>
                </a:tc>
              </a:tr>
              <a:tr h="525780">
                <a:tc>
                  <a:txBody>
                    <a:bodyPr wrap="square"/>
                    <a:lstStyle/>
                    <a:p>
                      <a:pPr algn="ctr"/>
                      <a:r>
                        <a:rPr b="0" sz="1000">
                          <a:solidFill>
                            <a:srgbClr val="404040"/>
                          </a:solidFill>
                        </a:rPr>
                        <a:t>M14</a:t>
                      </a:r>
                    </a:p>
                  </a:txBody>
                  <a:tcPr>
                    <a:solidFill>
                      <a:srgbClr val="FDF0D0"/>
                    </a:solidFill>
                  </a:tcPr>
                </a:tc>
                <a:tc>
                  <a:txBody>
                    <a:bodyPr wrap="square"/>
                    <a:lstStyle/>
                    <a:p>
                      <a:pPr algn="l"/>
                      <a:r>
                        <a:rPr b="0" sz="1000">
                          <a:solidFill>
                            <a:srgbClr val="404040"/>
                          </a:solidFill>
                        </a:rPr>
                        <a:t>ALOE</a:t>
                      </a:r>
                    </a:p>
                  </a:txBody>
                  <a:tcPr>
                    <a:solidFill>
                      <a:srgbClr val="FDF0D0"/>
                    </a:solidFill>
                  </a:tcPr>
                </a:tc>
                <a:tc>
                  <a:txBody>
                    <a:bodyPr wrap="square"/>
                    <a:lstStyle/>
                    <a:p>
                      <a:pPr algn="ctr"/>
                      <a:r>
                        <a:rPr b="0" sz="1000">
                          <a:solidFill>
                            <a:srgbClr val="404040"/>
                          </a:solidFill>
                        </a:rPr>
                        <a:t>Gradiente</a:t>
                      </a:r>
                    </a:p>
                  </a:txBody>
                  <a:tcPr>
                    <a:solidFill>
                      <a:srgbClr val="FDF0D0"/>
                    </a:solidFill>
                  </a:tcPr>
                </a:tc>
                <a:tc>
                  <a:txBody>
                    <a:bodyPr wrap="square"/>
                    <a:lstStyle/>
                    <a:p>
                      <a:pPr algn="ctr"/>
                      <a:r>
                        <a:rPr b="0" sz="1000">
                          <a:solidFill>
                            <a:srgbClr val="404040"/>
                          </a:solidFill>
                        </a:rPr>
                        <a:t>270.73</a:t>
                      </a:r>
                    </a:p>
                  </a:txBody>
                  <a:tcPr>
                    <a:solidFill>
                      <a:srgbClr val="FDF0D0"/>
                    </a:solidFill>
                  </a:tcPr>
                </a:tc>
                <a:tc>
                  <a:txBody>
                    <a:bodyPr wrap="square"/>
                    <a:lstStyle/>
                    <a:p>
                      <a:pPr algn="ctr"/>
                      <a:r>
                        <a:rPr b="0" sz="1000">
                          <a:solidFill>
                            <a:srgbClr val="404040"/>
                          </a:solidFill>
                        </a:rPr>
                        <a:t>69.5 h</a:t>
                      </a:r>
                    </a:p>
                  </a:txBody>
                  <a:tcPr>
                    <a:solidFill>
                      <a:srgbClr val="FDF0D0"/>
                    </a:solidFill>
                  </a:tcPr>
                </a:tc>
                <a:tc>
                  <a:txBody>
                    <a:bodyPr wrap="square"/>
                    <a:lstStyle/>
                    <a:p>
                      <a:pPr algn="ctr"/>
                      <a:r>
                        <a:rPr b="0" sz="1000">
                          <a:solidFill>
                            <a:srgbClr val="404040"/>
                          </a:solidFill>
                        </a:rPr>
                        <a:t>~420</a:t>
                      </a:r>
                    </a:p>
                  </a:txBody>
                  <a:tcPr>
                    <a:solidFill>
                      <a:srgbClr val="FDF0D0"/>
                    </a:solidFill>
                  </a:tcPr>
                </a:tc>
                <a:tc>
                  <a:txBody>
                    <a:bodyPr wrap="square"/>
                    <a:lstStyle/>
                    <a:p>
                      <a:pPr algn="ctr"/>
                      <a:r>
                        <a:rPr b="0" sz="1000">
                          <a:solidFill>
                            <a:srgbClr val="404040"/>
                          </a:solidFill>
                        </a:rPr>
                        <a:t>Raúl PC</a:t>
                      </a:r>
                    </a:p>
                  </a:txBody>
                  <a:tcPr>
                    <a:solidFill>
                      <a:srgbClr val="FDF0D0"/>
                    </a:solidFill>
                  </a:tcPr>
                </a:tc>
                <a:tc>
                  <a:txBody>
                    <a:bodyPr wrap="square"/>
                    <a:lstStyle/>
                    <a:p>
                      <a:pPr algn="ctr"/>
                      <a:r>
                        <a:rPr b="0" sz="1000">
                          <a:solidFill>
                            <a:srgbClr val="C00000"/>
                          </a:solidFill>
                        </a:rPr>
                        <a:t>✗ Sin mejora</a:t>
                      </a:r>
                    </a:p>
                  </a:txBody>
                  <a:tcPr>
                    <a:solidFill>
                      <a:srgbClr val="FDF0D0"/>
                    </a:solidFill>
                  </a:tcPr>
                </a:tc>
              </a:tr>
            </a:tbl>
          </a:graphicData>
        </a:graphic>
      </p:graphicFrame>
      <p:sp>
        <p:nvSpPr>
          <p:cNvPr id="4" name="TextBox 3"/>
          <p:cNvSpPr txBox="1"/>
          <p:nvPr/>
        </p:nvSpPr>
        <p:spPr>
          <a:xfrm>
            <a:off x="228600" y="6537960"/>
            <a:ext cx="11731752" cy="256032"/>
          </a:xfrm>
          <a:prstGeom prst="rect">
            <a:avLst/>
          </a:prstGeom>
          <a:noFill/>
        </p:spPr>
        <p:txBody>
          <a:bodyPr wrap="none">
            <a:spAutoFit/>
          </a:bodyPr>
          <a:lstStyle/>
          <a:p>
            <a:pPr algn="l"/>
            <a:r>
              <a:rPr b="0" sz="850">
                <a:solidFill>
                  <a:srgbClr val="808080"/>
                </a:solidFill>
              </a:rPr>
              <a:t>★ Mejor resultado global (−24% vs línea base ~270 días)  ·  M11/M12: proceso colapsó por limitación de recursos en nube  ·  M14: no mejoró línea base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Descripción del Problema</a:t>
            </a:r>
          </a:p>
          <a:p>
            <a:pPr algn="l"/>
            <a:r>
              <a:rPr b="0" sz="1300">
                <a:solidFill>
                  <a:srgbClr val="BDD7EE"/>
                </a:solidFill>
              </a:rPr>
              <a:t>Optimización caja negra sobre simulador DES de Clínica de Ginecología</a:t>
            </a:r>
          </a:p>
        </p:txBody>
      </p:sp>
      <p:sp>
        <p:nvSpPr>
          <p:cNvPr id="3" name="Rectangle 2"/>
          <p:cNvSpPr/>
          <p:nvPr/>
        </p:nvSpPr>
        <p:spPr>
          <a:xfrm>
            <a:off x="347472" y="1371600"/>
            <a:ext cx="64008" cy="6400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1298448"/>
            <a:ext cx="11338560" cy="1005840"/>
          </a:xfrm>
          <a:prstGeom prst="rect">
            <a:avLst/>
          </a:prstGeom>
          <a:noFill/>
        </p:spPr>
        <p:txBody>
          <a:bodyPr wrap="square">
            <a:spAutoFit/>
          </a:bodyPr>
          <a:lstStyle/>
          <a:p>
            <a:pPr algn="l"/>
            <a:r>
              <a:rPr b="1" sz="1200">
                <a:solidFill>
                  <a:srgbClr val="1F497D"/>
                </a:solidFill>
              </a:rPr>
              <a:t>Objetivo</a:t>
            </a:r>
          </a:p>
          <a:p>
            <a:pPr algn="l"/>
            <a:r>
              <a:rPr b="0" sz="1100">
                <a:solidFill>
                  <a:srgbClr val="404040"/>
                </a:solidFill>
              </a:rPr>
              <a:t>Minimizar tts_full_days_mean: tiempo promedio total de espera (días) desde derivación hasta alta.</a:t>
            </a:r>
          </a:p>
        </p:txBody>
      </p:sp>
      <p:sp>
        <p:nvSpPr>
          <p:cNvPr id="5" name="Rectangle 4"/>
          <p:cNvSpPr/>
          <p:nvPr/>
        </p:nvSpPr>
        <p:spPr>
          <a:xfrm>
            <a:off x="347472" y="2697480"/>
            <a:ext cx="64008" cy="6400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2624328"/>
            <a:ext cx="11338560" cy="1005840"/>
          </a:xfrm>
          <a:prstGeom prst="rect">
            <a:avLst/>
          </a:prstGeom>
          <a:noFill/>
        </p:spPr>
        <p:txBody>
          <a:bodyPr wrap="square">
            <a:spAutoFit/>
          </a:bodyPr>
          <a:lstStyle/>
          <a:p>
            <a:pPr algn="l"/>
            <a:r>
              <a:rPr b="1" sz="1200">
                <a:solidFill>
                  <a:srgbClr val="1F497D"/>
                </a:solidFill>
              </a:rPr>
              <a:t>Variables de decisión (12)</a:t>
            </a:r>
          </a:p>
          <a:p>
            <a:pPr algn="l"/>
            <a:r>
              <a:rPr b="0" sz="1100">
                <a:solidFill>
                  <a:srgbClr val="404040"/>
                </a:solidFill>
              </a:rPr>
              <a:t>cupos_eco_matrona, cupos_eco_ugd, cupos_lab_ugd, dias_publicacion,
horas_control_post, horas_especialista_1ra, num_agentes_ugd, num_matronas,
pct_bloqueo_1ra, pct_bloqueo_post_control, pct_consultas_vacias, pct_no_contactabilidad</a:t>
            </a:r>
          </a:p>
        </p:txBody>
      </p:sp>
      <p:sp>
        <p:nvSpPr>
          <p:cNvPr id="7" name="Rectangle 6"/>
          <p:cNvSpPr/>
          <p:nvPr/>
        </p:nvSpPr>
        <p:spPr>
          <a:xfrm>
            <a:off x="347472" y="4023360"/>
            <a:ext cx="64008" cy="6400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3950208"/>
            <a:ext cx="11338560" cy="1005840"/>
          </a:xfrm>
          <a:prstGeom prst="rect">
            <a:avLst/>
          </a:prstGeom>
          <a:noFill/>
        </p:spPr>
        <p:txBody>
          <a:bodyPr wrap="square">
            <a:spAutoFit/>
          </a:bodyPr>
          <a:lstStyle/>
          <a:p>
            <a:pPr algn="l"/>
            <a:r>
              <a:rPr b="1" sz="1200">
                <a:solidFill>
                  <a:srgbClr val="1F497D"/>
                </a:solidFill>
              </a:rPr>
              <a:t>Simulador</a:t>
            </a:r>
          </a:p>
          <a:p>
            <a:pPr algn="l"/>
            <a:r>
              <a:rPr b="0" sz="1100">
                <a:solidFill>
                  <a:srgbClr val="404040"/>
                </a:solidFill>
              </a:rPr>
              <a:t>simulador_clinica_baseline.py — modelo DES estocástico (simpy). Cada evaluación ejecuta
2–3 réplicas aleatorias → función ruidosa de alta varianza σ²(x).</a:t>
            </a:r>
          </a:p>
        </p:txBody>
      </p:sp>
      <p:sp>
        <p:nvSpPr>
          <p:cNvPr id="9" name="Rectangle 8"/>
          <p:cNvSpPr/>
          <p:nvPr/>
        </p:nvSpPr>
        <p:spPr>
          <a:xfrm>
            <a:off x="347472" y="5349240"/>
            <a:ext cx="64008" cy="6400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5276088"/>
            <a:ext cx="11338560" cy="1005840"/>
          </a:xfrm>
          <a:prstGeom prst="rect">
            <a:avLst/>
          </a:prstGeom>
          <a:noFill/>
        </p:spPr>
        <p:txBody>
          <a:bodyPr wrap="square">
            <a:spAutoFit/>
          </a:bodyPr>
          <a:lstStyle/>
          <a:p>
            <a:pPr algn="l"/>
            <a:r>
              <a:rPr b="1" sz="1200">
                <a:solidFill>
                  <a:srgbClr val="1F497D"/>
                </a:solidFill>
              </a:rPr>
              <a:t>Línea base vs mejor encontrado</a:t>
            </a:r>
          </a:p>
          <a:p>
            <a:pPr algn="l"/>
            <a:r>
              <a:rPr b="0" sz="1100">
                <a:solidFill>
                  <a:srgbClr val="404040"/>
                </a:solidFill>
              </a:rPr>
              <a:t>Configuración real: ~270 días  →  M4 (SMAC GP+EI): 205.17 días  →  mejora del 24%
Hallazgo clave: reducir pct_bloqueo_1ra y pct_vacias de ~30% a ~5% equivale a duplicar capacidad efectiva.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Clasificación de Algoritmos y Referencias Bibliográficas</a:t>
            </a:r>
          </a:p>
        </p:txBody>
      </p:sp>
      <p:graphicFrame>
        <p:nvGraphicFramePr>
          <p:cNvPr id="3" name="Table 2"/>
          <p:cNvGraphicFramePr>
            <a:graphicFrameLocks noGrp="1"/>
          </p:cNvGraphicFramePr>
          <p:nvPr/>
        </p:nvGraphicFramePr>
        <p:xfrm>
          <a:off x="228600" y="1325880"/>
          <a:ext cx="9445752" cy="5257800"/>
        </p:xfrm>
        <a:graphic>
          <a:graphicData uri="http://schemas.openxmlformats.org/drawingml/2006/table">
            <a:tbl>
              <a:tblPr firstRow="1" bandRow="1">
                <a:tableStyleId>{5C22544A-7EE6-4342-B048-85BDC9FD1C3A}</a:tableStyleId>
              </a:tblPr>
              <a:tblGrid>
                <a:gridCol w="594360"/>
                <a:gridCol w="2011680"/>
                <a:gridCol w="1600200"/>
                <a:gridCol w="3931920"/>
                <a:gridCol w="1307592"/>
              </a:tblGrid>
              <a:tr h="525780">
                <a:tc>
                  <a:txBody>
                    <a:bodyPr wrap="square"/>
                    <a:lstStyle/>
                    <a:p>
                      <a:pPr algn="ctr"/>
                      <a:r>
                        <a:rPr b="1" sz="1000">
                          <a:solidFill>
                            <a:srgbClr val="FFFFFF"/>
                          </a:solidFill>
                        </a:rPr>
                        <a:t>Módulo</a:t>
                      </a:r>
                    </a:p>
                  </a:txBody>
                  <a:tcPr>
                    <a:solidFill>
                      <a:srgbClr val="1F497D"/>
                    </a:solidFill>
                  </a:tcPr>
                </a:tc>
                <a:tc>
                  <a:txBody>
                    <a:bodyPr wrap="square"/>
                    <a:lstStyle/>
                    <a:p>
                      <a:pPr algn="ctr"/>
                      <a:r>
                        <a:rPr b="1" sz="1000">
                          <a:solidFill>
                            <a:srgbClr val="FFFFFF"/>
                          </a:solidFill>
                        </a:rPr>
                        <a:t>Algoritmo</a:t>
                      </a:r>
                    </a:p>
                  </a:txBody>
                  <a:tcPr>
                    <a:solidFill>
                      <a:srgbClr val="1F497D"/>
                    </a:solidFill>
                  </a:tcPr>
                </a:tc>
                <a:tc>
                  <a:txBody>
                    <a:bodyPr wrap="square"/>
                    <a:lstStyle/>
                    <a:p>
                      <a:pPr algn="ctr"/>
                      <a:r>
                        <a:rPr b="1" sz="1000">
                          <a:solidFill>
                            <a:srgbClr val="FFFFFF"/>
                          </a:solidFill>
                        </a:rPr>
                        <a:t>Familia</a:t>
                      </a:r>
                    </a:p>
                  </a:txBody>
                  <a:tcPr>
                    <a:solidFill>
                      <a:srgbClr val="1F497D"/>
                    </a:solidFill>
                  </a:tcPr>
                </a:tc>
                <a:tc>
                  <a:txBody>
                    <a:bodyPr wrap="square"/>
                    <a:lstStyle/>
                    <a:p>
                      <a:pPr algn="ctr"/>
                      <a:r>
                        <a:rPr b="1" sz="1000">
                          <a:solidFill>
                            <a:srgbClr val="FFFFFF"/>
                          </a:solidFill>
                        </a:rPr>
                        <a:t>Referencia clave</a:t>
                      </a:r>
                    </a:p>
                  </a:txBody>
                  <a:tcPr>
                    <a:solidFill>
                      <a:srgbClr val="1F497D"/>
                    </a:solidFill>
                  </a:tcPr>
                </a:tc>
                <a:tc>
                  <a:txBody>
                    <a:bodyPr wrap="square"/>
                    <a:lstStyle/>
                    <a:p>
                      <a:pPr algn="ctr"/>
                      <a:r>
                        <a:rPr b="1" sz="1000">
                          <a:solidFill>
                            <a:srgbClr val="FFFFFF"/>
                          </a:solidFill>
                        </a:rPr>
                        <a:t>Datos disponibles</a:t>
                      </a:r>
                    </a:p>
                  </a:txBody>
                  <a:tcPr>
                    <a:solidFill>
                      <a:srgbClr val="1F497D"/>
                    </a:solidFill>
                  </a:tcPr>
                </a:tc>
              </a:tr>
              <a:tr h="525780">
                <a:tc>
                  <a:txBody>
                    <a:bodyPr wrap="square"/>
                    <a:lstStyle/>
                    <a:p>
                      <a:pPr algn="ctr"/>
                      <a:r>
                        <a:rPr b="0" sz="1000">
                          <a:solidFill>
                            <a:srgbClr val="404040"/>
                          </a:solidFill>
                        </a:rPr>
                        <a:t>M4</a:t>
                      </a:r>
                    </a:p>
                  </a:txBody>
                  <a:tcPr>
                    <a:solidFill>
                      <a:srgbClr val="D9EAF7"/>
                    </a:solidFill>
                  </a:tcPr>
                </a:tc>
                <a:tc>
                  <a:txBody>
                    <a:bodyPr wrap="square"/>
                    <a:lstStyle/>
                    <a:p>
                      <a:pPr algn="l"/>
                      <a:r>
                        <a:rPr b="0" sz="1000">
                          <a:solidFill>
                            <a:srgbClr val="404040"/>
                          </a:solidFill>
                        </a:rPr>
                        <a:t>SMAC BlackBox (GP+EI)</a:t>
                      </a:r>
                    </a:p>
                  </a:txBody>
                  <a:tcPr>
                    <a:solidFill>
                      <a:srgbClr val="D9EAF7"/>
                    </a:solidFill>
                  </a:tcPr>
                </a:tc>
                <a:tc>
                  <a:txBody>
                    <a:bodyPr wrap="square"/>
                    <a:lstStyle/>
                    <a:p>
                      <a:pPr algn="ctr"/>
                      <a:r>
                        <a:rPr b="0" sz="1000">
                          <a:solidFill>
                            <a:srgbClr val="404040"/>
                          </a:solidFill>
                        </a:rPr>
                        <a:t>Bayesiana — GP</a:t>
                      </a:r>
                    </a:p>
                  </a:txBody>
                  <a:tcPr>
                    <a:solidFill>
                      <a:srgbClr val="D9EAF7"/>
                    </a:solidFill>
                  </a:tcPr>
                </a:tc>
                <a:tc>
                  <a:txBody>
                    <a:bodyPr wrap="square"/>
                    <a:lstStyle/>
                    <a:p>
                      <a:pPr algn="l"/>
                      <a:r>
                        <a:rPr b="0" sz="1000">
                          <a:solidFill>
                            <a:srgbClr val="404040"/>
                          </a:solidFill>
                        </a:rPr>
                        <a:t>Hutter et al. 2011 (JAIR)</a:t>
                      </a:r>
                    </a:p>
                  </a:txBody>
                  <a:tcPr>
                    <a:solidFill>
                      <a:srgbClr val="D9EAF7"/>
                    </a:solidFill>
                  </a:tcPr>
                </a:tc>
                <a:tc>
                  <a:txBody>
                    <a:bodyPr wrap="square"/>
                    <a:lstStyle/>
                    <a:p>
                      <a:pPr algn="ctr"/>
                      <a:r>
                        <a:rPr b="0" sz="1000">
                          <a:solidFill>
                            <a:srgbClr val="378648"/>
                          </a:solidFill>
                        </a:rPr>
                        <a:t>✓ Nube</a:t>
                      </a:r>
                    </a:p>
                  </a:txBody>
                  <a:tcPr>
                    <a:solidFill>
                      <a:srgbClr val="D9EAF7"/>
                    </a:solidFill>
                  </a:tcPr>
                </a:tc>
              </a:tr>
              <a:tr h="525780">
                <a:tc>
                  <a:txBody>
                    <a:bodyPr wrap="square"/>
                    <a:lstStyle/>
                    <a:p>
                      <a:pPr algn="ctr"/>
                      <a:r>
                        <a:rPr b="0" sz="1000">
                          <a:solidFill>
                            <a:srgbClr val="404040"/>
                          </a:solidFill>
                        </a:rPr>
                        <a:t>M7</a:t>
                      </a:r>
                    </a:p>
                  </a:txBody>
                  <a:tcPr>
                    <a:solidFill>
                      <a:srgbClr val="C5DEF2"/>
                    </a:solidFill>
                  </a:tcPr>
                </a:tc>
                <a:tc>
                  <a:txBody>
                    <a:bodyPr wrap="square"/>
                    <a:lstStyle/>
                    <a:p>
                      <a:pPr algn="l"/>
                      <a:r>
                        <a:rPr b="0" sz="1000">
                          <a:solidFill>
                            <a:srgbClr val="404040"/>
                          </a:solidFill>
                        </a:rPr>
                        <a:t>SMAC + SK (EI)</a:t>
                      </a:r>
                    </a:p>
                  </a:txBody>
                  <a:tcPr>
                    <a:solidFill>
                      <a:srgbClr val="C5DEF2"/>
                    </a:solidFill>
                  </a:tcPr>
                </a:tc>
                <a:tc>
                  <a:txBody>
                    <a:bodyPr wrap="square"/>
                    <a:lstStyle/>
                    <a:p>
                      <a:pPr algn="ctr"/>
                      <a:r>
                        <a:rPr b="0" sz="1000">
                          <a:solidFill>
                            <a:srgbClr val="404040"/>
                          </a:solidFill>
                        </a:rPr>
                        <a:t>Bayesiana — SK</a:t>
                      </a:r>
                    </a:p>
                  </a:txBody>
                  <a:tcPr>
                    <a:solidFill>
                      <a:srgbClr val="C5DEF2"/>
                    </a:solidFill>
                  </a:tcPr>
                </a:tc>
                <a:tc>
                  <a:txBody>
                    <a:bodyPr wrap="square"/>
                    <a:lstStyle/>
                    <a:p>
                      <a:pPr algn="l"/>
                      <a:r>
                        <a:rPr b="0" sz="1000">
                          <a:solidFill>
                            <a:srgbClr val="404040"/>
                          </a:solidFill>
                        </a:rPr>
                        <a:t>Ankenman et al. 2010 + Hutter 2011</a:t>
                      </a:r>
                    </a:p>
                  </a:txBody>
                  <a:tcPr>
                    <a:solidFill>
                      <a:srgbClr val="C5DEF2"/>
                    </a:solidFill>
                  </a:tcPr>
                </a:tc>
                <a:tc>
                  <a:txBody>
                    <a:bodyPr wrap="square"/>
                    <a:lstStyle/>
                    <a:p>
                      <a:pPr algn="ctr"/>
                      <a:r>
                        <a:rPr b="0" sz="1000">
                          <a:solidFill>
                            <a:srgbClr val="378648"/>
                          </a:solidFill>
                        </a:rPr>
                        <a:t>✓ Nube</a:t>
                      </a:r>
                    </a:p>
                  </a:txBody>
                  <a:tcPr>
                    <a:solidFill>
                      <a:srgbClr val="C5DEF2"/>
                    </a:solidFill>
                  </a:tcPr>
                </a:tc>
              </a:tr>
              <a:tr h="525780">
                <a:tc>
                  <a:txBody>
                    <a:bodyPr wrap="square"/>
                    <a:lstStyle/>
                    <a:p>
                      <a:pPr algn="ctr"/>
                      <a:r>
                        <a:rPr b="0" sz="1000">
                          <a:solidFill>
                            <a:srgbClr val="404040"/>
                          </a:solidFill>
                        </a:rPr>
                        <a:t>M8</a:t>
                      </a:r>
                    </a:p>
                  </a:txBody>
                  <a:tcPr>
                    <a:solidFill>
                      <a:srgbClr val="C5DEF2"/>
                    </a:solidFill>
                  </a:tcPr>
                </a:tc>
                <a:tc>
                  <a:txBody>
                    <a:bodyPr wrap="square"/>
                    <a:lstStyle/>
                    <a:p>
                      <a:pPr algn="l"/>
                      <a:r>
                        <a:rPr b="0" sz="1000">
                          <a:solidFill>
                            <a:srgbClr val="404040"/>
                          </a:solidFill>
                        </a:rPr>
                        <a:t>SK Adaptativo</a:t>
                      </a:r>
                    </a:p>
                  </a:txBody>
                  <a:tcPr>
                    <a:solidFill>
                      <a:srgbClr val="C5DEF2"/>
                    </a:solidFill>
                  </a:tcPr>
                </a:tc>
                <a:tc>
                  <a:txBody>
                    <a:bodyPr wrap="square"/>
                    <a:lstStyle/>
                    <a:p>
                      <a:pPr algn="ctr"/>
                      <a:r>
                        <a:rPr b="0" sz="1000">
                          <a:solidFill>
                            <a:srgbClr val="404040"/>
                          </a:solidFill>
                        </a:rPr>
                        <a:t>Bayesiana — SK</a:t>
                      </a:r>
                    </a:p>
                  </a:txBody>
                  <a:tcPr>
                    <a:solidFill>
                      <a:srgbClr val="C5DEF2"/>
                    </a:solidFill>
                  </a:tcPr>
                </a:tc>
                <a:tc>
                  <a:txBody>
                    <a:bodyPr wrap="square"/>
                    <a:lstStyle/>
                    <a:p>
                      <a:pPr algn="l"/>
                      <a:r>
                        <a:rPr b="0" sz="1000">
                          <a:solidFill>
                            <a:srgbClr val="404040"/>
                          </a:solidFill>
                        </a:rPr>
                        <a:t>Ankenman et al. 2010 (Management Sci.)</a:t>
                      </a:r>
                    </a:p>
                  </a:txBody>
                  <a:tcPr>
                    <a:solidFill>
                      <a:srgbClr val="C5DEF2"/>
                    </a:solidFill>
                  </a:tcPr>
                </a:tc>
                <a:tc>
                  <a:txBody>
                    <a:bodyPr wrap="square"/>
                    <a:lstStyle/>
                    <a:p>
                      <a:pPr algn="ctr"/>
                      <a:r>
                        <a:rPr b="0" sz="1000">
                          <a:solidFill>
                            <a:srgbClr val="378648"/>
                          </a:solidFill>
                        </a:rPr>
                        <a:t>✓ Nube</a:t>
                      </a:r>
                    </a:p>
                  </a:txBody>
                  <a:tcPr>
                    <a:solidFill>
                      <a:srgbClr val="C5DEF2"/>
                    </a:solidFill>
                  </a:tcPr>
                </a:tc>
              </a:tr>
              <a:tr h="525780">
                <a:tc>
                  <a:txBody>
                    <a:bodyPr wrap="square"/>
                    <a:lstStyle/>
                    <a:p>
                      <a:pPr algn="ctr"/>
                      <a:r>
                        <a:rPr b="0" sz="1000">
                          <a:solidFill>
                            <a:srgbClr val="404040"/>
                          </a:solidFill>
                        </a:rPr>
                        <a:t>M9</a:t>
                      </a:r>
                    </a:p>
                  </a:txBody>
                  <a:tcPr>
                    <a:solidFill>
                      <a:srgbClr val="C5DEF2"/>
                    </a:solidFill>
                  </a:tcPr>
                </a:tc>
                <a:tc>
                  <a:txBody>
                    <a:bodyPr wrap="square"/>
                    <a:lstStyle/>
                    <a:p>
                      <a:pPr algn="l"/>
                      <a:r>
                        <a:rPr b="0" sz="1000">
                          <a:solidFill>
                            <a:srgbClr val="404040"/>
                          </a:solidFill>
                        </a:rPr>
                        <a:t>SK-REVI</a:t>
                      </a:r>
                    </a:p>
                  </a:txBody>
                  <a:tcPr>
                    <a:solidFill>
                      <a:srgbClr val="C5DEF2"/>
                    </a:solidFill>
                  </a:tcPr>
                </a:tc>
                <a:tc>
                  <a:txBody>
                    <a:bodyPr wrap="square"/>
                    <a:lstStyle/>
                    <a:p>
                      <a:pPr algn="ctr"/>
                      <a:r>
                        <a:rPr b="0" sz="1000">
                          <a:solidFill>
                            <a:srgbClr val="404040"/>
                          </a:solidFill>
                        </a:rPr>
                        <a:t>Bayesiana — SK</a:t>
                      </a:r>
                    </a:p>
                  </a:txBody>
                  <a:tcPr>
                    <a:solidFill>
                      <a:srgbClr val="C5DEF2"/>
                    </a:solidFill>
                  </a:tcPr>
                </a:tc>
                <a:tc>
                  <a:txBody>
                    <a:bodyPr wrap="square"/>
                    <a:lstStyle/>
                    <a:p>
                      <a:pPr algn="l"/>
                      <a:r>
                        <a:rPr b="0" sz="1000">
                          <a:solidFill>
                            <a:srgbClr val="404040"/>
                          </a:solidFill>
                        </a:rPr>
                        <a:t>Quan et al. 2013 (IIE Trans.)</a:t>
                      </a:r>
                    </a:p>
                  </a:txBody>
                  <a:tcPr>
                    <a:solidFill>
                      <a:srgbClr val="C5DEF2"/>
                    </a:solidFill>
                  </a:tcPr>
                </a:tc>
                <a:tc>
                  <a:txBody>
                    <a:bodyPr wrap="square"/>
                    <a:lstStyle/>
                    <a:p>
                      <a:pPr algn="ctr"/>
                      <a:r>
                        <a:rPr b="0" sz="1000">
                          <a:solidFill>
                            <a:srgbClr val="378648"/>
                          </a:solidFill>
                        </a:rPr>
                        <a:t>✓ Nube</a:t>
                      </a:r>
                    </a:p>
                  </a:txBody>
                  <a:tcPr>
                    <a:solidFill>
                      <a:srgbClr val="C5DEF2"/>
                    </a:solidFill>
                  </a:tcPr>
                </a:tc>
              </a:tr>
              <a:tr h="525780">
                <a:tc>
                  <a:txBody>
                    <a:bodyPr wrap="square"/>
                    <a:lstStyle/>
                    <a:p>
                      <a:pPr algn="ctr"/>
                      <a:r>
                        <a:rPr b="0" sz="1000">
                          <a:solidFill>
                            <a:srgbClr val="404040"/>
                          </a:solidFill>
                        </a:rPr>
                        <a:t>M10</a:t>
                      </a:r>
                    </a:p>
                  </a:txBody>
                  <a:tcPr>
                    <a:solidFill>
                      <a:srgbClr val="C5DEF2"/>
                    </a:solidFill>
                  </a:tcPr>
                </a:tc>
                <a:tc>
                  <a:txBody>
                    <a:bodyPr wrap="square"/>
                    <a:lstStyle/>
                    <a:p>
                      <a:pPr algn="l"/>
                      <a:r>
                        <a:rPr b="0" sz="1000">
                          <a:solidFill>
                            <a:srgbClr val="404040"/>
                          </a:solidFill>
                        </a:rPr>
                        <a:t>SK-KGCP</a:t>
                      </a:r>
                    </a:p>
                  </a:txBody>
                  <a:tcPr>
                    <a:solidFill>
                      <a:srgbClr val="C5DEF2"/>
                    </a:solidFill>
                  </a:tcPr>
                </a:tc>
                <a:tc>
                  <a:txBody>
                    <a:bodyPr wrap="square"/>
                    <a:lstStyle/>
                    <a:p>
                      <a:pPr algn="ctr"/>
                      <a:r>
                        <a:rPr b="0" sz="1000">
                          <a:solidFill>
                            <a:srgbClr val="404040"/>
                          </a:solidFill>
                        </a:rPr>
                        <a:t>Bayesiana — SK</a:t>
                      </a:r>
                    </a:p>
                  </a:txBody>
                  <a:tcPr>
                    <a:solidFill>
                      <a:srgbClr val="C5DEF2"/>
                    </a:solidFill>
                  </a:tcPr>
                </a:tc>
                <a:tc>
                  <a:txBody>
                    <a:bodyPr wrap="square"/>
                    <a:lstStyle/>
                    <a:p>
                      <a:pPr algn="l"/>
                      <a:r>
                        <a:rPr b="0" sz="1000">
                          <a:solidFill>
                            <a:srgbClr val="404040"/>
                          </a:solidFill>
                        </a:rPr>
                        <a:t>Scott et al. 2011 (Winter Sim.)</a:t>
                      </a:r>
                    </a:p>
                  </a:txBody>
                  <a:tcPr>
                    <a:solidFill>
                      <a:srgbClr val="C5DEF2"/>
                    </a:solidFill>
                  </a:tcPr>
                </a:tc>
                <a:tc>
                  <a:txBody>
                    <a:bodyPr wrap="square"/>
                    <a:lstStyle/>
                    <a:p>
                      <a:pPr algn="ctr"/>
                      <a:r>
                        <a:rPr b="0" sz="1000">
                          <a:solidFill>
                            <a:srgbClr val="378648"/>
                          </a:solidFill>
                        </a:rPr>
                        <a:t>✓ Nube</a:t>
                      </a:r>
                    </a:p>
                  </a:txBody>
                  <a:tcPr>
                    <a:solidFill>
                      <a:srgbClr val="C5DEF2"/>
                    </a:solidFill>
                  </a:tcPr>
                </a:tc>
              </a:tr>
              <a:tr h="525780">
                <a:tc>
                  <a:txBody>
                    <a:bodyPr wrap="square"/>
                    <a:lstStyle/>
                    <a:p>
                      <a:pPr algn="ctr"/>
                      <a:r>
                        <a:rPr b="0" sz="1000">
                          <a:solidFill>
                            <a:srgbClr val="404040"/>
                          </a:solidFill>
                        </a:rPr>
                        <a:t>M11</a:t>
                      </a:r>
                    </a:p>
                  </a:txBody>
                  <a:tcPr>
                    <a:solidFill>
                      <a:srgbClr val="E2F0D9"/>
                    </a:solidFill>
                  </a:tcPr>
                </a:tc>
                <a:tc>
                  <a:txBody>
                    <a:bodyPr wrap="square"/>
                    <a:lstStyle/>
                    <a:p>
                      <a:pPr algn="l"/>
                      <a:r>
                        <a:rPr b="0" sz="1000">
                          <a:solidFill>
                            <a:srgbClr val="404040"/>
                          </a:solidFill>
                        </a:rPr>
                        <a:t>ASTRO-DF</a:t>
                      </a:r>
                    </a:p>
                  </a:txBody>
                  <a:tcPr>
                    <a:solidFill>
                      <a:srgbClr val="E2F0D9"/>
                    </a:solidFill>
                  </a:tcPr>
                </a:tc>
                <a:tc>
                  <a:txBody>
                    <a:bodyPr wrap="square"/>
                    <a:lstStyle/>
                    <a:p>
                      <a:pPr algn="ctr"/>
                      <a:r>
                        <a:rPr b="0" sz="1000">
                          <a:solidFill>
                            <a:srgbClr val="404040"/>
                          </a:solidFill>
                        </a:rPr>
                        <a:t>Trust-Region (lin.)</a:t>
                      </a:r>
                    </a:p>
                  </a:txBody>
                  <a:tcPr>
                    <a:solidFill>
                      <a:srgbClr val="E2F0D9"/>
                    </a:solidFill>
                  </a:tcPr>
                </a:tc>
                <a:tc>
                  <a:txBody>
                    <a:bodyPr wrap="square"/>
                    <a:lstStyle/>
                    <a:p>
                      <a:pPr algn="l"/>
                      <a:r>
                        <a:rPr b="0" sz="1000">
                          <a:solidFill>
                            <a:srgbClr val="404040"/>
                          </a:solidFill>
                        </a:rPr>
                        <a:t>Poloczek et al. 2017 (Winter Sim.)</a:t>
                      </a:r>
                    </a:p>
                  </a:txBody>
                  <a:tcPr>
                    <a:solidFill>
                      <a:srgbClr val="E2F0D9"/>
                    </a:solidFill>
                  </a:tcPr>
                </a:tc>
                <a:tc>
                  <a:txBody>
                    <a:bodyPr wrap="square"/>
                    <a:lstStyle/>
                    <a:p>
                      <a:pPr algn="ctr"/>
                      <a:r>
                        <a:rPr b="0" sz="1000">
                          <a:solidFill>
                            <a:srgbClr val="C00000"/>
                          </a:solidFill>
                        </a:rPr>
                        <a:t>✗ Pendiente</a:t>
                      </a:r>
                    </a:p>
                  </a:txBody>
                  <a:tcPr>
                    <a:solidFill>
                      <a:srgbClr val="E2F0D9"/>
                    </a:solidFill>
                  </a:tcPr>
                </a:tc>
              </a:tr>
              <a:tr h="525780">
                <a:tc>
                  <a:txBody>
                    <a:bodyPr wrap="square"/>
                    <a:lstStyle/>
                    <a:p>
                      <a:pPr algn="ctr"/>
                      <a:r>
                        <a:rPr b="0" sz="1000">
                          <a:solidFill>
                            <a:srgbClr val="404040"/>
                          </a:solidFill>
                        </a:rPr>
                        <a:t>M12</a:t>
                      </a:r>
                    </a:p>
                  </a:txBody>
                  <a:tcPr>
                    <a:solidFill>
                      <a:srgbClr val="E2F0D9"/>
                    </a:solidFill>
                  </a:tcPr>
                </a:tc>
                <a:tc>
                  <a:txBody>
                    <a:bodyPr wrap="square"/>
                    <a:lstStyle/>
                    <a:p>
                      <a:pPr algn="l"/>
                      <a:r>
                        <a:rPr b="0" sz="1000">
                          <a:solidFill>
                            <a:srgbClr val="404040"/>
                          </a:solidFill>
                        </a:rPr>
                        <a:t>STRONG</a:t>
                      </a:r>
                    </a:p>
                  </a:txBody>
                  <a:tcPr>
                    <a:solidFill>
                      <a:srgbClr val="E2F0D9"/>
                    </a:solidFill>
                  </a:tcPr>
                </a:tc>
                <a:tc>
                  <a:txBody>
                    <a:bodyPr wrap="square"/>
                    <a:lstStyle/>
                    <a:p>
                      <a:pPr algn="ctr"/>
                      <a:r>
                        <a:rPr b="0" sz="1000">
                          <a:solidFill>
                            <a:srgbClr val="404040"/>
                          </a:solidFill>
                        </a:rPr>
                        <a:t>Trust-Region (cuad.)</a:t>
                      </a:r>
                    </a:p>
                  </a:txBody>
                  <a:tcPr>
                    <a:solidFill>
                      <a:srgbClr val="E2F0D9"/>
                    </a:solidFill>
                  </a:tcPr>
                </a:tc>
                <a:tc>
                  <a:txBody>
                    <a:bodyPr wrap="square"/>
                    <a:lstStyle/>
                    <a:p>
                      <a:pPr algn="l"/>
                      <a:r>
                        <a:rPr b="0" sz="1000">
                          <a:solidFill>
                            <a:srgbClr val="404040"/>
                          </a:solidFill>
                        </a:rPr>
                        <a:t>Chang et al. 2013 (ACM TOMACS)</a:t>
                      </a:r>
                    </a:p>
                  </a:txBody>
                  <a:tcPr>
                    <a:solidFill>
                      <a:srgbClr val="E2F0D9"/>
                    </a:solidFill>
                  </a:tcPr>
                </a:tc>
                <a:tc>
                  <a:txBody>
                    <a:bodyPr wrap="square"/>
                    <a:lstStyle/>
                    <a:p>
                      <a:pPr algn="ctr"/>
                      <a:r>
                        <a:rPr b="0" sz="1000">
                          <a:solidFill>
                            <a:srgbClr val="C00000"/>
                          </a:solidFill>
                        </a:rPr>
                        <a:t>✗ Pendiente</a:t>
                      </a:r>
                    </a:p>
                  </a:txBody>
                  <a:tcPr>
                    <a:solidFill>
                      <a:srgbClr val="E2F0D9"/>
                    </a:solidFill>
                  </a:tcPr>
                </a:tc>
              </a:tr>
              <a:tr h="525780">
                <a:tc>
                  <a:txBody>
                    <a:bodyPr wrap="square"/>
                    <a:lstStyle/>
                    <a:p>
                      <a:pPr algn="ctr"/>
                      <a:r>
                        <a:rPr b="0" sz="1000">
                          <a:solidFill>
                            <a:srgbClr val="404040"/>
                          </a:solidFill>
                        </a:rPr>
                        <a:t>M13</a:t>
                      </a:r>
                    </a:p>
                  </a:txBody>
                  <a:tcPr>
                    <a:solidFill>
                      <a:srgbClr val="FDF0D0"/>
                    </a:solidFill>
                  </a:tcPr>
                </a:tc>
                <a:tc>
                  <a:txBody>
                    <a:bodyPr wrap="square"/>
                    <a:lstStyle/>
                    <a:p>
                      <a:pPr algn="l"/>
                      <a:r>
                        <a:rPr b="0" sz="1000">
                          <a:solidFill>
                            <a:srgbClr val="404040"/>
                          </a:solidFill>
                        </a:rPr>
                        <a:t>SPSA</a:t>
                      </a:r>
                    </a:p>
                  </a:txBody>
                  <a:tcPr>
                    <a:solidFill>
                      <a:srgbClr val="FDF0D0"/>
                    </a:solidFill>
                  </a:tcPr>
                </a:tc>
                <a:tc>
                  <a:txBody>
                    <a:bodyPr wrap="square"/>
                    <a:lstStyle/>
                    <a:p>
                      <a:pPr algn="ctr"/>
                      <a:r>
                        <a:rPr b="0" sz="1000">
                          <a:solidFill>
                            <a:srgbClr val="404040"/>
                          </a:solidFill>
                        </a:rPr>
                        <a:t>Gradiente estocástico</a:t>
                      </a:r>
                    </a:p>
                  </a:txBody>
                  <a:tcPr>
                    <a:solidFill>
                      <a:srgbClr val="FDF0D0"/>
                    </a:solidFill>
                  </a:tcPr>
                </a:tc>
                <a:tc>
                  <a:txBody>
                    <a:bodyPr wrap="square"/>
                    <a:lstStyle/>
                    <a:p>
                      <a:pPr algn="l"/>
                      <a:r>
                        <a:rPr b="0" sz="1000">
                          <a:solidFill>
                            <a:srgbClr val="404040"/>
                          </a:solidFill>
                        </a:rPr>
                        <a:t>Spall 1992 (IEEE Trans. Autom. Control)</a:t>
                      </a:r>
                    </a:p>
                  </a:txBody>
                  <a:tcPr>
                    <a:solidFill>
                      <a:srgbClr val="FDF0D0"/>
                    </a:solidFill>
                  </a:tcPr>
                </a:tc>
                <a:tc>
                  <a:txBody>
                    <a:bodyPr wrap="square"/>
                    <a:lstStyle/>
                    <a:p>
                      <a:pPr algn="ctr"/>
                      <a:r>
                        <a:rPr b="0" sz="1000">
                          <a:solidFill>
                            <a:srgbClr val="378648"/>
                          </a:solidFill>
                        </a:rPr>
                        <a:t>✓ Raúl PC</a:t>
                      </a:r>
                    </a:p>
                  </a:txBody>
                  <a:tcPr>
                    <a:solidFill>
                      <a:srgbClr val="FDF0D0"/>
                    </a:solidFill>
                  </a:tcPr>
                </a:tc>
              </a:tr>
              <a:tr h="525780">
                <a:tc>
                  <a:txBody>
                    <a:bodyPr wrap="square"/>
                    <a:lstStyle/>
                    <a:p>
                      <a:pPr algn="ctr"/>
                      <a:r>
                        <a:rPr b="0" sz="1000">
                          <a:solidFill>
                            <a:srgbClr val="404040"/>
                          </a:solidFill>
                        </a:rPr>
                        <a:t>M14</a:t>
                      </a:r>
                    </a:p>
                  </a:txBody>
                  <a:tcPr>
                    <a:solidFill>
                      <a:srgbClr val="FDF0D0"/>
                    </a:solidFill>
                  </a:tcPr>
                </a:tc>
                <a:tc>
                  <a:txBody>
                    <a:bodyPr wrap="square"/>
                    <a:lstStyle/>
                    <a:p>
                      <a:pPr algn="l"/>
                      <a:r>
                        <a:rPr b="0" sz="1000">
                          <a:solidFill>
                            <a:srgbClr val="404040"/>
                          </a:solidFill>
                        </a:rPr>
                        <a:t>ALOE</a:t>
                      </a:r>
                    </a:p>
                  </a:txBody>
                  <a:tcPr>
                    <a:solidFill>
                      <a:srgbClr val="FDF0D0"/>
                    </a:solidFill>
                  </a:tcPr>
                </a:tc>
                <a:tc>
                  <a:txBody>
                    <a:bodyPr wrap="square"/>
                    <a:lstStyle/>
                    <a:p>
                      <a:pPr algn="ctr"/>
                      <a:r>
                        <a:rPr b="0" sz="1000">
                          <a:solidFill>
                            <a:srgbClr val="404040"/>
                          </a:solidFill>
                        </a:rPr>
                        <a:t>Gradiente estocástico</a:t>
                      </a:r>
                    </a:p>
                  </a:txBody>
                  <a:tcPr>
                    <a:solidFill>
                      <a:srgbClr val="FDF0D0"/>
                    </a:solidFill>
                  </a:tcPr>
                </a:tc>
                <a:tc>
                  <a:txBody>
                    <a:bodyPr wrap="square"/>
                    <a:lstStyle/>
                    <a:p>
                      <a:pPr algn="l"/>
                      <a:r>
                        <a:rPr b="0" sz="1000">
                          <a:solidFill>
                            <a:srgbClr val="404040"/>
                          </a:solidFill>
                        </a:rPr>
                        <a:t>Rojas-Gonzalez &amp; Van Nieuwenhuyse 2020</a:t>
                      </a:r>
                    </a:p>
                  </a:txBody>
                  <a:tcPr>
                    <a:solidFill>
                      <a:srgbClr val="FDF0D0"/>
                    </a:solidFill>
                  </a:tcPr>
                </a:tc>
                <a:tc>
                  <a:txBody>
                    <a:bodyPr wrap="square"/>
                    <a:lstStyle/>
                    <a:p>
                      <a:pPr algn="ctr"/>
                      <a:r>
                        <a:rPr b="0" sz="1000">
                          <a:solidFill>
                            <a:srgbClr val="378648"/>
                          </a:solidFill>
                        </a:rPr>
                        <a:t>✓ Raúl PC</a:t>
                      </a:r>
                    </a:p>
                  </a:txBody>
                  <a:tcPr>
                    <a:solidFill>
                      <a:srgbClr val="FDF0D0"/>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Parámetros de Configuración por Módulo</a:t>
            </a:r>
          </a:p>
        </p:txBody>
      </p:sp>
      <p:sp>
        <p:nvSpPr>
          <p:cNvPr id="3" name="TextBox 2"/>
          <p:cNvSpPr txBox="1"/>
          <p:nvPr/>
        </p:nvSpPr>
        <p:spPr>
          <a:xfrm>
            <a:off x="256032" y="1298448"/>
            <a:ext cx="5760720" cy="1005840"/>
          </a:xfrm>
          <a:prstGeom prst="rect">
            <a:avLst/>
          </a:prstGeom>
          <a:noFill/>
        </p:spPr>
        <p:txBody>
          <a:bodyPr wrap="square">
            <a:spAutoFit/>
          </a:bodyPr>
          <a:lstStyle/>
          <a:p>
            <a:pPr algn="l"/>
            <a:r>
              <a:rPr b="1" sz="1000">
                <a:solidFill>
                  <a:srgbClr val="1F497D"/>
                </a:solidFill>
              </a:rPr>
              <a:t>M4 — SMAC BlackBox (GP+EI)</a:t>
            </a:r>
          </a:p>
          <a:p>
            <a:pPr algn="l"/>
            <a:r>
              <a:rPr b="0" sz="900">
                <a:solidFill>
                  <a:srgbClr val="404040"/>
                </a:solidFill>
              </a:rPr>
              <a:t>n_trials=20, seed=42
Surrogado: Gaussian Process (Matérn 5/2)
Adquisición: Expected Improvement (EI)</a:t>
            </a:r>
          </a:p>
        </p:txBody>
      </p:sp>
      <p:sp>
        <p:nvSpPr>
          <p:cNvPr id="4" name="TextBox 3"/>
          <p:cNvSpPr txBox="1"/>
          <p:nvPr/>
        </p:nvSpPr>
        <p:spPr>
          <a:xfrm>
            <a:off x="256032" y="2368296"/>
            <a:ext cx="5760720" cy="1005840"/>
          </a:xfrm>
          <a:prstGeom prst="rect">
            <a:avLst/>
          </a:prstGeom>
          <a:noFill/>
        </p:spPr>
        <p:txBody>
          <a:bodyPr wrap="square">
            <a:spAutoFit/>
          </a:bodyPr>
          <a:lstStyle/>
          <a:p>
            <a:pPr algn="l"/>
            <a:r>
              <a:rPr b="1" sz="1000">
                <a:solidFill>
                  <a:srgbClr val="1F497D"/>
                </a:solidFill>
              </a:rPr>
              <a:t>M7 — SMAC + SK (EI)</a:t>
            </a:r>
          </a:p>
          <a:p>
            <a:pPr algn="l"/>
            <a:r>
              <a:rPr b="0" sz="900">
                <a:solidFill>
                  <a:srgbClr val="404040"/>
                </a:solidFill>
              </a:rPr>
              <a:t>n_trials=20, seed=42
Surrogado: Stochastic Kriging heteroscedástico
Adquisición: EI con corrección de ruido</a:t>
            </a:r>
          </a:p>
        </p:txBody>
      </p:sp>
      <p:sp>
        <p:nvSpPr>
          <p:cNvPr id="5" name="TextBox 4"/>
          <p:cNvSpPr txBox="1"/>
          <p:nvPr/>
        </p:nvSpPr>
        <p:spPr>
          <a:xfrm>
            <a:off x="256032" y="3438144"/>
            <a:ext cx="5760720" cy="1005840"/>
          </a:xfrm>
          <a:prstGeom prst="rect">
            <a:avLst/>
          </a:prstGeom>
          <a:noFill/>
        </p:spPr>
        <p:txBody>
          <a:bodyPr wrap="square">
            <a:spAutoFit/>
          </a:bodyPr>
          <a:lstStyle/>
          <a:p>
            <a:pPr algn="l"/>
            <a:r>
              <a:rPr b="1" sz="1000">
                <a:solidFill>
                  <a:srgbClr val="1F497D"/>
                </a:solidFill>
              </a:rPr>
              <a:t>M8 — SK Adaptativo</a:t>
            </a:r>
          </a:p>
          <a:p>
            <a:pPr algn="l"/>
            <a:r>
              <a:rPr b="0" sz="900">
                <a:solidFill>
                  <a:srgbClr val="404040"/>
                </a:solidFill>
              </a:rPr>
              <a:t>n_trials=20, seed=42
Surrogado: SK con δ adaptativo por región
Adquisición: EI adaptativo</a:t>
            </a:r>
          </a:p>
        </p:txBody>
      </p:sp>
      <p:sp>
        <p:nvSpPr>
          <p:cNvPr id="6" name="TextBox 5"/>
          <p:cNvSpPr txBox="1"/>
          <p:nvPr/>
        </p:nvSpPr>
        <p:spPr>
          <a:xfrm>
            <a:off x="256032" y="4507992"/>
            <a:ext cx="5760720" cy="1005840"/>
          </a:xfrm>
          <a:prstGeom prst="rect">
            <a:avLst/>
          </a:prstGeom>
          <a:noFill/>
        </p:spPr>
        <p:txBody>
          <a:bodyPr wrap="square">
            <a:spAutoFit/>
          </a:bodyPr>
          <a:lstStyle/>
          <a:p>
            <a:pPr algn="l"/>
            <a:r>
              <a:rPr b="1" sz="1000">
                <a:solidFill>
                  <a:srgbClr val="1F497D"/>
                </a:solidFill>
              </a:rPr>
              <a:t>M9 — SK-REVI</a:t>
            </a:r>
          </a:p>
          <a:p>
            <a:pPr algn="l"/>
            <a:r>
              <a:rPr b="0" sz="900">
                <a:solidFill>
                  <a:srgbClr val="404040"/>
                </a:solidFill>
              </a:rPr>
              <a:t>n_trials=20, seed=42, β=1.0
Surrogado: SK + Replicated EVI (REVI)
Adquisición: Expected Value of Information replicado</a:t>
            </a:r>
          </a:p>
        </p:txBody>
      </p:sp>
      <p:sp>
        <p:nvSpPr>
          <p:cNvPr id="7" name="TextBox 6"/>
          <p:cNvSpPr txBox="1"/>
          <p:nvPr/>
        </p:nvSpPr>
        <p:spPr>
          <a:xfrm>
            <a:off x="256032" y="5577840"/>
            <a:ext cx="5760720" cy="1005840"/>
          </a:xfrm>
          <a:prstGeom prst="rect">
            <a:avLst/>
          </a:prstGeom>
          <a:noFill/>
        </p:spPr>
        <p:txBody>
          <a:bodyPr wrap="square">
            <a:spAutoFit/>
          </a:bodyPr>
          <a:lstStyle/>
          <a:p>
            <a:pPr algn="l"/>
            <a:r>
              <a:rPr b="1" sz="1000">
                <a:solidFill>
                  <a:srgbClr val="1F497D"/>
                </a:solidFill>
              </a:rPr>
              <a:t>M10 — SK-KGCP</a:t>
            </a:r>
          </a:p>
          <a:p>
            <a:pPr algn="l"/>
            <a:r>
              <a:rPr b="0" sz="900">
                <a:solidFill>
                  <a:srgbClr val="404040"/>
                </a:solidFill>
              </a:rPr>
              <a:t>n_trials=20, seed=42
Surrogado: SK + Knowledge Gradient CP
Adquisición: KG look-ahead</a:t>
            </a:r>
          </a:p>
        </p:txBody>
      </p:sp>
      <p:sp>
        <p:nvSpPr>
          <p:cNvPr id="8" name="TextBox 7"/>
          <p:cNvSpPr txBox="1"/>
          <p:nvPr/>
        </p:nvSpPr>
        <p:spPr>
          <a:xfrm>
            <a:off x="6245352" y="1298448"/>
            <a:ext cx="5760720" cy="1005840"/>
          </a:xfrm>
          <a:prstGeom prst="rect">
            <a:avLst/>
          </a:prstGeom>
          <a:noFill/>
        </p:spPr>
        <p:txBody>
          <a:bodyPr wrap="square">
            <a:spAutoFit/>
          </a:bodyPr>
          <a:lstStyle/>
          <a:p>
            <a:pPr algn="l"/>
            <a:r>
              <a:rPr b="1" sz="1000">
                <a:solidFill>
                  <a:srgbClr val="1F497D"/>
                </a:solidFill>
              </a:rPr>
              <a:t>M11 — ASTRO-DF</a:t>
            </a:r>
          </a:p>
          <a:p>
            <a:pPr algn="l"/>
            <a:r>
              <a:rPr b="0" sz="900">
                <a:solidFill>
                  <a:srgbClr val="C55A11"/>
                </a:solidFill>
              </a:rPr>
              <a:t>max_iter=3, seed=42, Δ0=0.30
η1=0.10, γ1=2.0, γ2=0.50, κ=0.10, μ=1.0
n réplicas adaptativas (~30 por punto)</a:t>
            </a:r>
          </a:p>
        </p:txBody>
      </p:sp>
      <p:sp>
        <p:nvSpPr>
          <p:cNvPr id="9" name="TextBox 8"/>
          <p:cNvSpPr txBox="1"/>
          <p:nvPr/>
        </p:nvSpPr>
        <p:spPr>
          <a:xfrm>
            <a:off x="6245352" y="2368296"/>
            <a:ext cx="5760720" cy="1005840"/>
          </a:xfrm>
          <a:prstGeom prst="rect">
            <a:avLst/>
          </a:prstGeom>
          <a:noFill/>
        </p:spPr>
        <p:txBody>
          <a:bodyPr wrap="square">
            <a:spAutoFit/>
          </a:bodyPr>
          <a:lstStyle/>
          <a:p>
            <a:pPr algn="l"/>
            <a:r>
              <a:rPr b="1" sz="1000">
                <a:solidFill>
                  <a:srgbClr val="1F497D"/>
                </a:solidFill>
              </a:rPr>
              <a:t>M12 — STRONG</a:t>
            </a:r>
          </a:p>
          <a:p>
            <a:pPr algn="l"/>
            <a:r>
              <a:rPr b="0" sz="900">
                <a:solidFill>
                  <a:srgbClr val="C55A11"/>
                </a:solidFill>
              </a:rPr>
              <a:t>max_iter=3, seed=42, Δ0=0.30
n0=10, n_r=10, η0=0.01, η1=0.30
Modelo cuadrático local con réplicas adaptativas</a:t>
            </a:r>
          </a:p>
        </p:txBody>
      </p:sp>
      <p:sp>
        <p:nvSpPr>
          <p:cNvPr id="10" name="TextBox 9"/>
          <p:cNvSpPr txBox="1"/>
          <p:nvPr/>
        </p:nvSpPr>
        <p:spPr>
          <a:xfrm>
            <a:off x="6245352" y="3438144"/>
            <a:ext cx="5760720" cy="1005840"/>
          </a:xfrm>
          <a:prstGeom prst="rect">
            <a:avLst/>
          </a:prstGeom>
          <a:noFill/>
        </p:spPr>
        <p:txBody>
          <a:bodyPr wrap="square">
            <a:spAutoFit/>
          </a:bodyPr>
          <a:lstStyle/>
          <a:p>
            <a:pPr algn="l"/>
            <a:r>
              <a:rPr b="1" sz="1000">
                <a:solidFill>
                  <a:srgbClr val="1F497D"/>
                </a:solidFill>
              </a:rPr>
              <a:t>M13 — SPSA</a:t>
            </a:r>
          </a:p>
          <a:p>
            <a:pPr algn="l"/>
            <a:r>
              <a:rPr b="0" sz="900">
                <a:solidFill>
                  <a:srgbClr val="404040"/>
                </a:solidFill>
              </a:rPr>
              <a:t>max_iter=30, n_reps=5, seed=42
α=0.602, γ=0.101, a=0.10, A=10
Gradiente estimado con 2 evaluaciones por iter</a:t>
            </a:r>
          </a:p>
        </p:txBody>
      </p:sp>
      <p:sp>
        <p:nvSpPr>
          <p:cNvPr id="11" name="TextBox 10"/>
          <p:cNvSpPr txBox="1"/>
          <p:nvPr/>
        </p:nvSpPr>
        <p:spPr>
          <a:xfrm>
            <a:off x="6245352" y="4507992"/>
            <a:ext cx="5760720" cy="1005840"/>
          </a:xfrm>
          <a:prstGeom prst="rect">
            <a:avLst/>
          </a:prstGeom>
          <a:noFill/>
        </p:spPr>
        <p:txBody>
          <a:bodyPr wrap="square">
            <a:spAutoFit/>
          </a:bodyPr>
          <a:lstStyle/>
          <a:p>
            <a:pPr algn="l"/>
            <a:r>
              <a:rPr b="1" sz="1000">
                <a:solidFill>
                  <a:srgbClr val="1F497D"/>
                </a:solidFill>
              </a:rPr>
              <a:t>M14 — ALOE</a:t>
            </a:r>
          </a:p>
          <a:p>
            <a:pPr algn="l"/>
            <a:r>
              <a:rPr b="0" sz="900">
                <a:solidFill>
                  <a:srgbClr val="C55A11"/>
                </a:solidFill>
              </a:rPr>
              <a:t>max_iter=30, r=5, seed=42
θ=0.20, γ=0.80, α0=1.0, αmax=10, h=0.01
Gradiente simultáneo + Armijo (2d eval/iter)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Tabla Comparativa — Resultados Consolidados</a:t>
            </a:r>
          </a:p>
          <a:p>
            <a:pPr algn="l"/>
            <a:r>
              <a:rPr b="0" sz="1300">
                <a:solidFill>
                  <a:srgbClr val="BDD7EE"/>
                </a:solidFill>
              </a:rPr>
              <a:t>Mejor costo encontrado por cada algoritmo (línea base: ~270 días)</a:t>
            </a:r>
          </a:p>
        </p:txBody>
      </p:sp>
      <p:graphicFrame>
        <p:nvGraphicFramePr>
          <p:cNvPr id="3" name="Table 2"/>
          <p:cNvGraphicFramePr>
            <a:graphicFrameLocks noGrp="1"/>
          </p:cNvGraphicFramePr>
          <p:nvPr/>
        </p:nvGraphicFramePr>
        <p:xfrm>
          <a:off x="182880" y="1325880"/>
          <a:ext cx="8897112" cy="5257800"/>
        </p:xfrm>
        <a:graphic>
          <a:graphicData uri="http://schemas.openxmlformats.org/drawingml/2006/table">
            <a:tbl>
              <a:tblPr firstRow="1" bandRow="1">
                <a:tableStyleId>{5C22544A-7EE6-4342-B048-85BDC9FD1C3A}</a:tableStyleId>
              </a:tblPr>
              <a:tblGrid>
                <a:gridCol w="457200"/>
                <a:gridCol w="548640"/>
                <a:gridCol w="2011680"/>
                <a:gridCol w="1143000"/>
                <a:gridCol w="1005840"/>
                <a:gridCol w="1005840"/>
                <a:gridCol w="868680"/>
                <a:gridCol w="1005840"/>
                <a:gridCol w="850392"/>
              </a:tblGrid>
              <a:tr h="525780">
                <a:tc>
                  <a:txBody>
                    <a:bodyPr wrap="square"/>
                    <a:lstStyle/>
                    <a:p>
                      <a:pPr algn="ctr"/>
                      <a:r>
                        <a:rPr b="1" sz="1000">
                          <a:solidFill>
                            <a:srgbClr val="FFFFFF"/>
                          </a:solidFill>
                        </a:rPr>
                        <a:t>Rank</a:t>
                      </a:r>
                    </a:p>
                  </a:txBody>
                  <a:tcPr>
                    <a:solidFill>
                      <a:srgbClr val="1F497D"/>
                    </a:solidFill>
                  </a:tcPr>
                </a:tc>
                <a:tc>
                  <a:txBody>
                    <a:bodyPr wrap="square"/>
                    <a:lstStyle/>
                    <a:p>
                      <a:pPr algn="ctr"/>
                      <a:r>
                        <a:rPr b="1" sz="1000">
                          <a:solidFill>
                            <a:srgbClr val="FFFFFF"/>
                          </a:solidFill>
                        </a:rPr>
                        <a:t>Módulo</a:t>
                      </a:r>
                    </a:p>
                  </a:txBody>
                  <a:tcPr>
                    <a:solidFill>
                      <a:srgbClr val="1F497D"/>
                    </a:solidFill>
                  </a:tcPr>
                </a:tc>
                <a:tc>
                  <a:txBody>
                    <a:bodyPr wrap="square"/>
                    <a:lstStyle/>
                    <a:p>
                      <a:pPr algn="ctr"/>
                      <a:r>
                        <a:rPr b="1" sz="1000">
                          <a:solidFill>
                            <a:srgbClr val="FFFFFF"/>
                          </a:solidFill>
                        </a:rPr>
                        <a:t>Algoritmo</a:t>
                      </a:r>
                    </a:p>
                  </a:txBody>
                  <a:tcPr>
                    <a:solidFill>
                      <a:srgbClr val="1F497D"/>
                    </a:solidFill>
                  </a:tcPr>
                </a:tc>
                <a:tc>
                  <a:txBody>
                    <a:bodyPr wrap="square"/>
                    <a:lstStyle/>
                    <a:p>
                      <a:pPr algn="ctr"/>
                      <a:r>
                        <a:rPr b="1" sz="1000">
                          <a:solidFill>
                            <a:srgbClr val="FFFFFF"/>
                          </a:solidFill>
                        </a:rPr>
                        <a:t>Familia</a:t>
                      </a:r>
                    </a:p>
                  </a:txBody>
                  <a:tcPr>
                    <a:solidFill>
                      <a:srgbClr val="1F497D"/>
                    </a:solidFill>
                  </a:tcPr>
                </a:tc>
                <a:tc>
                  <a:txBody>
                    <a:bodyPr wrap="square"/>
                    <a:lstStyle/>
                    <a:p>
                      <a:pPr algn="ctr"/>
                      <a:r>
                        <a:rPr b="1" sz="1000">
                          <a:solidFill>
                            <a:srgbClr val="FFFFFF"/>
                          </a:solidFill>
                        </a:rPr>
                        <a:t>Mejor Costo
(días)</a:t>
                      </a:r>
                    </a:p>
                  </a:txBody>
                  <a:tcPr>
                    <a:solidFill>
                      <a:srgbClr val="1F497D"/>
                    </a:solidFill>
                  </a:tcPr>
                </a:tc>
                <a:tc>
                  <a:txBody>
                    <a:bodyPr wrap="square"/>
                    <a:lstStyle/>
                    <a:p>
                      <a:pPr algn="ctr"/>
                      <a:r>
                        <a:rPr b="1" sz="1000">
                          <a:solidFill>
                            <a:srgbClr val="FFFFFF"/>
                          </a:solidFill>
                        </a:rPr>
                        <a:t>vs Línea Base</a:t>
                      </a:r>
                    </a:p>
                  </a:txBody>
                  <a:tcPr>
                    <a:solidFill>
                      <a:srgbClr val="1F497D"/>
                    </a:solidFill>
                  </a:tcPr>
                </a:tc>
                <a:tc>
                  <a:txBody>
                    <a:bodyPr wrap="square"/>
                    <a:lstStyle/>
                    <a:p>
                      <a:pPr algn="ctr"/>
                      <a:r>
                        <a:rPr b="1" sz="1000">
                          <a:solidFill>
                            <a:srgbClr val="FFFFFF"/>
                          </a:solidFill>
                        </a:rPr>
                        <a:t>Tiempo</a:t>
                      </a:r>
                    </a:p>
                  </a:txBody>
                  <a:tcPr>
                    <a:solidFill>
                      <a:srgbClr val="1F497D"/>
                    </a:solidFill>
                  </a:tcPr>
                </a:tc>
                <a:tc>
                  <a:txBody>
                    <a:bodyPr wrap="square"/>
                    <a:lstStyle/>
                    <a:p>
                      <a:pPr algn="ctr"/>
                      <a:r>
                        <a:rPr b="1" sz="1000">
                          <a:solidFill>
                            <a:srgbClr val="FFFFFF"/>
                          </a:solidFill>
                        </a:rPr>
                        <a:t>Evaluaciones</a:t>
                      </a:r>
                    </a:p>
                  </a:txBody>
                  <a:tcPr>
                    <a:solidFill>
                      <a:srgbClr val="1F497D"/>
                    </a:solidFill>
                  </a:tcPr>
                </a:tc>
                <a:tc>
                  <a:txBody>
                    <a:bodyPr wrap="square"/>
                    <a:lstStyle/>
                    <a:p>
                      <a:pPr algn="ctr"/>
                      <a:r>
                        <a:rPr b="1" sz="1000">
                          <a:solidFill>
                            <a:srgbClr val="FFFFFF"/>
                          </a:solidFill>
                        </a:rPr>
                        <a:t>Fuente</a:t>
                      </a:r>
                    </a:p>
                  </a:txBody>
                  <a:tcPr>
                    <a:solidFill>
                      <a:srgbClr val="1F497D"/>
                    </a:solidFill>
                  </a:tcPr>
                </a:tc>
              </a:tr>
              <a:tr h="525780">
                <a:tc>
                  <a:txBody>
                    <a:bodyPr wrap="square"/>
                    <a:lstStyle/>
                    <a:p>
                      <a:pPr algn="ctr"/>
                      <a:r>
                        <a:rPr b="0" sz="1000">
                          <a:solidFill>
                            <a:srgbClr val="378648"/>
                          </a:solidFill>
                        </a:rPr>
                        <a:t>1</a:t>
                      </a:r>
                    </a:p>
                  </a:txBody>
                  <a:tcPr>
                    <a:solidFill>
                      <a:srgbClr val="D9EAF7"/>
                    </a:solidFill>
                  </a:tcPr>
                </a:tc>
                <a:tc>
                  <a:txBody>
                    <a:bodyPr wrap="square"/>
                    <a:lstStyle/>
                    <a:p>
                      <a:pPr algn="ctr"/>
                      <a:r>
                        <a:rPr b="0" sz="1000">
                          <a:solidFill>
                            <a:srgbClr val="378648"/>
                          </a:solidFill>
                        </a:rPr>
                        <a:t>M4</a:t>
                      </a:r>
                    </a:p>
                  </a:txBody>
                  <a:tcPr>
                    <a:solidFill>
                      <a:srgbClr val="D9EAF7"/>
                    </a:solidFill>
                  </a:tcPr>
                </a:tc>
                <a:tc>
                  <a:txBody>
                    <a:bodyPr wrap="square"/>
                    <a:lstStyle/>
                    <a:p>
                      <a:pPr algn="l"/>
                      <a:r>
                        <a:rPr b="0" sz="1000">
                          <a:solidFill>
                            <a:srgbClr val="378648"/>
                          </a:solidFill>
                        </a:rPr>
                        <a:t>SMAC BlackBox (GP+EI)</a:t>
                      </a:r>
                    </a:p>
                  </a:txBody>
                  <a:tcPr>
                    <a:solidFill>
                      <a:srgbClr val="D9EAF7"/>
                    </a:solidFill>
                  </a:tcPr>
                </a:tc>
                <a:tc>
                  <a:txBody>
                    <a:bodyPr wrap="square"/>
                    <a:lstStyle/>
                    <a:p>
                      <a:pPr algn="ctr"/>
                      <a:r>
                        <a:rPr b="0" sz="1000">
                          <a:solidFill>
                            <a:srgbClr val="378648"/>
                          </a:solidFill>
                        </a:rPr>
                        <a:t>Bayesiana</a:t>
                      </a:r>
                    </a:p>
                  </a:txBody>
                  <a:tcPr>
                    <a:solidFill>
                      <a:srgbClr val="D9EAF7"/>
                    </a:solidFill>
                  </a:tcPr>
                </a:tc>
                <a:tc>
                  <a:txBody>
                    <a:bodyPr wrap="square"/>
                    <a:lstStyle/>
                    <a:p>
                      <a:pPr algn="ctr"/>
                      <a:r>
                        <a:rPr b="0" sz="1000">
                          <a:solidFill>
                            <a:srgbClr val="378648"/>
                          </a:solidFill>
                        </a:rPr>
                        <a:t>205.17</a:t>
                      </a:r>
                    </a:p>
                  </a:txBody>
                  <a:tcPr>
                    <a:solidFill>
                      <a:srgbClr val="D9EAF7"/>
                    </a:solidFill>
                  </a:tcPr>
                </a:tc>
                <a:tc>
                  <a:txBody>
                    <a:bodyPr wrap="square"/>
                    <a:lstStyle/>
                    <a:p>
                      <a:pPr algn="ctr"/>
                      <a:r>
                        <a:rPr b="0" sz="1000">
                          <a:solidFill>
                            <a:srgbClr val="378648"/>
                          </a:solidFill>
                        </a:rPr>
                        <a:t>−24.2%</a:t>
                      </a:r>
                    </a:p>
                  </a:txBody>
                  <a:tcPr>
                    <a:solidFill>
                      <a:srgbClr val="D9EAF7"/>
                    </a:solidFill>
                  </a:tcPr>
                </a:tc>
                <a:tc>
                  <a:txBody>
                    <a:bodyPr wrap="square"/>
                    <a:lstStyle/>
                    <a:p>
                      <a:pPr algn="ctr"/>
                      <a:r>
                        <a:rPr b="0" sz="1000">
                          <a:solidFill>
                            <a:srgbClr val="378648"/>
                          </a:solidFill>
                        </a:rPr>
                        <a:t>1.32 h</a:t>
                      </a:r>
                    </a:p>
                  </a:txBody>
                  <a:tcPr>
                    <a:solidFill>
                      <a:srgbClr val="D9EAF7"/>
                    </a:solidFill>
                  </a:tcPr>
                </a:tc>
                <a:tc>
                  <a:txBody>
                    <a:bodyPr wrap="square"/>
                    <a:lstStyle/>
                    <a:p>
                      <a:pPr algn="ctr"/>
                      <a:r>
                        <a:rPr b="0" sz="1000">
                          <a:solidFill>
                            <a:srgbClr val="378648"/>
                          </a:solidFill>
                        </a:rPr>
                        <a:t>20</a:t>
                      </a:r>
                    </a:p>
                  </a:txBody>
                  <a:tcPr>
                    <a:solidFill>
                      <a:srgbClr val="D9EAF7"/>
                    </a:solidFill>
                  </a:tcPr>
                </a:tc>
                <a:tc>
                  <a:txBody>
                    <a:bodyPr wrap="square"/>
                    <a:lstStyle/>
                    <a:p>
                      <a:pPr algn="ctr"/>
                      <a:r>
                        <a:rPr b="0" sz="1000">
                          <a:solidFill>
                            <a:srgbClr val="378648"/>
                          </a:solidFill>
                        </a:rPr>
                        <a:t>Nube</a:t>
                      </a:r>
                    </a:p>
                  </a:txBody>
                  <a:tcPr>
                    <a:solidFill>
                      <a:srgbClr val="D9EAF7"/>
                    </a:solidFill>
                  </a:tcPr>
                </a:tc>
              </a:tr>
              <a:tr h="525780">
                <a:tc>
                  <a:txBody>
                    <a:bodyPr wrap="square"/>
                    <a:lstStyle/>
                    <a:p>
                      <a:pPr algn="ctr"/>
                      <a:r>
                        <a:rPr b="0" sz="1000">
                          <a:solidFill>
                            <a:srgbClr val="404040"/>
                          </a:solidFill>
                        </a:rPr>
                        <a:t>2</a:t>
                      </a:r>
                    </a:p>
                  </a:txBody>
                  <a:tcPr>
                    <a:solidFill>
                      <a:srgbClr val="D9EAF7"/>
                    </a:solidFill>
                  </a:tcPr>
                </a:tc>
                <a:tc>
                  <a:txBody>
                    <a:bodyPr wrap="square"/>
                    <a:lstStyle/>
                    <a:p>
                      <a:pPr algn="ctr"/>
                      <a:r>
                        <a:rPr b="0" sz="1000">
                          <a:solidFill>
                            <a:srgbClr val="404040"/>
                          </a:solidFill>
                        </a:rPr>
                        <a:t>M9</a:t>
                      </a:r>
                    </a:p>
                  </a:txBody>
                  <a:tcPr>
                    <a:solidFill>
                      <a:srgbClr val="D9EAF7"/>
                    </a:solidFill>
                  </a:tcPr>
                </a:tc>
                <a:tc>
                  <a:txBody>
                    <a:bodyPr wrap="square"/>
                    <a:lstStyle/>
                    <a:p>
                      <a:pPr algn="l"/>
                      <a:r>
                        <a:rPr b="0" sz="1000">
                          <a:solidFill>
                            <a:srgbClr val="404040"/>
                          </a:solidFill>
                        </a:rPr>
                        <a:t>SK-REVI</a:t>
                      </a:r>
                    </a:p>
                  </a:txBody>
                  <a:tcPr>
                    <a:solidFill>
                      <a:srgbClr val="D9EAF7"/>
                    </a:solidFill>
                  </a:tcPr>
                </a:tc>
                <a:tc>
                  <a:txBody>
                    <a:bodyPr wrap="square"/>
                    <a:lstStyle/>
                    <a:p>
                      <a:pPr algn="ctr"/>
                      <a:r>
                        <a:rPr b="0" sz="1000">
                          <a:solidFill>
                            <a:srgbClr val="404040"/>
                          </a:solidFill>
                        </a:rPr>
                        <a:t>Bayesiana</a:t>
                      </a:r>
                    </a:p>
                  </a:txBody>
                  <a:tcPr>
                    <a:solidFill>
                      <a:srgbClr val="D9EAF7"/>
                    </a:solidFill>
                  </a:tcPr>
                </a:tc>
                <a:tc>
                  <a:txBody>
                    <a:bodyPr wrap="square"/>
                    <a:lstStyle/>
                    <a:p>
                      <a:pPr algn="ctr"/>
                      <a:r>
                        <a:rPr b="0" sz="1000">
                          <a:solidFill>
                            <a:srgbClr val="404040"/>
                          </a:solidFill>
                        </a:rPr>
                        <a:t>215.66</a:t>
                      </a:r>
                    </a:p>
                  </a:txBody>
                  <a:tcPr>
                    <a:solidFill>
                      <a:srgbClr val="D9EAF7"/>
                    </a:solidFill>
                  </a:tcPr>
                </a:tc>
                <a:tc>
                  <a:txBody>
                    <a:bodyPr wrap="square"/>
                    <a:lstStyle/>
                    <a:p>
                      <a:pPr algn="ctr"/>
                      <a:r>
                        <a:rPr b="0" sz="1000">
                          <a:solidFill>
                            <a:srgbClr val="378648"/>
                          </a:solidFill>
                        </a:rPr>
                        <a:t>−20.3%</a:t>
                      </a:r>
                    </a:p>
                  </a:txBody>
                  <a:tcPr>
                    <a:solidFill>
                      <a:srgbClr val="D9EAF7"/>
                    </a:solidFill>
                  </a:tcPr>
                </a:tc>
                <a:tc>
                  <a:txBody>
                    <a:bodyPr wrap="square"/>
                    <a:lstStyle/>
                    <a:p>
                      <a:pPr algn="ctr"/>
                      <a:r>
                        <a:rPr b="0" sz="1000">
                          <a:solidFill>
                            <a:srgbClr val="404040"/>
                          </a:solidFill>
                        </a:rPr>
                        <a:t>1.65 h</a:t>
                      </a:r>
                    </a:p>
                  </a:txBody>
                  <a:tcPr>
                    <a:solidFill>
                      <a:srgbClr val="D9EAF7"/>
                    </a:solidFill>
                  </a:tcPr>
                </a:tc>
                <a:tc>
                  <a:txBody>
                    <a:bodyPr wrap="square"/>
                    <a:lstStyle/>
                    <a:p>
                      <a:pPr algn="ctr"/>
                      <a:r>
                        <a:rPr b="0" sz="1000">
                          <a:solidFill>
                            <a:srgbClr val="404040"/>
                          </a:solidFill>
                        </a:rPr>
                        <a:t>20</a:t>
                      </a:r>
                    </a:p>
                  </a:txBody>
                  <a:tcPr>
                    <a:solidFill>
                      <a:srgbClr val="D9EAF7"/>
                    </a:solidFill>
                  </a:tcPr>
                </a:tc>
                <a:tc>
                  <a:txBody>
                    <a:bodyPr wrap="square"/>
                    <a:lstStyle/>
                    <a:p>
                      <a:pPr algn="ctr"/>
                      <a:r>
                        <a:rPr b="0" sz="1000">
                          <a:solidFill>
                            <a:srgbClr val="404040"/>
                          </a:solidFill>
                        </a:rPr>
                        <a:t>Nube</a:t>
                      </a:r>
                    </a:p>
                  </a:txBody>
                  <a:tcPr>
                    <a:solidFill>
                      <a:srgbClr val="D9EAF7"/>
                    </a:solidFill>
                  </a:tcPr>
                </a:tc>
              </a:tr>
              <a:tr h="525780">
                <a:tc>
                  <a:txBody>
                    <a:bodyPr wrap="square"/>
                    <a:lstStyle/>
                    <a:p>
                      <a:pPr algn="ctr"/>
                      <a:r>
                        <a:rPr b="0" sz="1000">
                          <a:solidFill>
                            <a:srgbClr val="404040"/>
                          </a:solidFill>
                        </a:rPr>
                        <a:t>3</a:t>
                      </a:r>
                    </a:p>
                  </a:txBody>
                  <a:tcPr>
                    <a:solidFill>
                      <a:srgbClr val="D9EAF7"/>
                    </a:solidFill>
                  </a:tcPr>
                </a:tc>
                <a:tc>
                  <a:txBody>
                    <a:bodyPr wrap="square"/>
                    <a:lstStyle/>
                    <a:p>
                      <a:pPr algn="ctr"/>
                      <a:r>
                        <a:rPr b="0" sz="1000">
                          <a:solidFill>
                            <a:srgbClr val="404040"/>
                          </a:solidFill>
                        </a:rPr>
                        <a:t>M7</a:t>
                      </a:r>
                    </a:p>
                  </a:txBody>
                  <a:tcPr>
                    <a:solidFill>
                      <a:srgbClr val="D9EAF7"/>
                    </a:solidFill>
                  </a:tcPr>
                </a:tc>
                <a:tc>
                  <a:txBody>
                    <a:bodyPr wrap="square"/>
                    <a:lstStyle/>
                    <a:p>
                      <a:pPr algn="l"/>
                      <a:r>
                        <a:rPr b="0" sz="1000">
                          <a:solidFill>
                            <a:srgbClr val="404040"/>
                          </a:solidFill>
                        </a:rPr>
                        <a:t>SMAC + SK (EI)</a:t>
                      </a:r>
                    </a:p>
                  </a:txBody>
                  <a:tcPr>
                    <a:solidFill>
                      <a:srgbClr val="D9EAF7"/>
                    </a:solidFill>
                  </a:tcPr>
                </a:tc>
                <a:tc>
                  <a:txBody>
                    <a:bodyPr wrap="square"/>
                    <a:lstStyle/>
                    <a:p>
                      <a:pPr algn="ctr"/>
                      <a:r>
                        <a:rPr b="0" sz="1000">
                          <a:solidFill>
                            <a:srgbClr val="404040"/>
                          </a:solidFill>
                        </a:rPr>
                        <a:t>Bayesiana</a:t>
                      </a:r>
                    </a:p>
                  </a:txBody>
                  <a:tcPr>
                    <a:solidFill>
                      <a:srgbClr val="D9EAF7"/>
                    </a:solidFill>
                  </a:tcPr>
                </a:tc>
                <a:tc>
                  <a:txBody>
                    <a:bodyPr wrap="square"/>
                    <a:lstStyle/>
                    <a:p>
                      <a:pPr algn="ctr"/>
                      <a:r>
                        <a:rPr b="0" sz="1000">
                          <a:solidFill>
                            <a:srgbClr val="404040"/>
                          </a:solidFill>
                        </a:rPr>
                        <a:t>217.76</a:t>
                      </a:r>
                    </a:p>
                  </a:txBody>
                  <a:tcPr>
                    <a:solidFill>
                      <a:srgbClr val="D9EAF7"/>
                    </a:solidFill>
                  </a:tcPr>
                </a:tc>
                <a:tc>
                  <a:txBody>
                    <a:bodyPr wrap="square"/>
                    <a:lstStyle/>
                    <a:p>
                      <a:pPr algn="ctr"/>
                      <a:r>
                        <a:rPr b="0" sz="1000">
                          <a:solidFill>
                            <a:srgbClr val="378648"/>
                          </a:solidFill>
                        </a:rPr>
                        <a:t>−19.6%</a:t>
                      </a:r>
                    </a:p>
                  </a:txBody>
                  <a:tcPr>
                    <a:solidFill>
                      <a:srgbClr val="D9EAF7"/>
                    </a:solidFill>
                  </a:tcPr>
                </a:tc>
                <a:tc>
                  <a:txBody>
                    <a:bodyPr wrap="square"/>
                    <a:lstStyle/>
                    <a:p>
                      <a:pPr algn="ctr"/>
                      <a:r>
                        <a:rPr b="0" sz="1000">
                          <a:solidFill>
                            <a:srgbClr val="404040"/>
                          </a:solidFill>
                        </a:rPr>
                        <a:t>2.55 h</a:t>
                      </a:r>
                    </a:p>
                  </a:txBody>
                  <a:tcPr>
                    <a:solidFill>
                      <a:srgbClr val="D9EAF7"/>
                    </a:solidFill>
                  </a:tcPr>
                </a:tc>
                <a:tc>
                  <a:txBody>
                    <a:bodyPr wrap="square"/>
                    <a:lstStyle/>
                    <a:p>
                      <a:pPr algn="ctr"/>
                      <a:r>
                        <a:rPr b="0" sz="1000">
                          <a:solidFill>
                            <a:srgbClr val="404040"/>
                          </a:solidFill>
                        </a:rPr>
                        <a:t>20</a:t>
                      </a:r>
                    </a:p>
                  </a:txBody>
                  <a:tcPr>
                    <a:solidFill>
                      <a:srgbClr val="D9EAF7"/>
                    </a:solidFill>
                  </a:tcPr>
                </a:tc>
                <a:tc>
                  <a:txBody>
                    <a:bodyPr wrap="square"/>
                    <a:lstStyle/>
                    <a:p>
                      <a:pPr algn="ctr"/>
                      <a:r>
                        <a:rPr b="0" sz="1000">
                          <a:solidFill>
                            <a:srgbClr val="404040"/>
                          </a:solidFill>
                        </a:rPr>
                        <a:t>Nube</a:t>
                      </a:r>
                    </a:p>
                  </a:txBody>
                  <a:tcPr>
                    <a:solidFill>
                      <a:srgbClr val="D9EAF7"/>
                    </a:solidFill>
                  </a:tcPr>
                </a:tc>
              </a:tr>
              <a:tr h="525780">
                <a:tc>
                  <a:txBody>
                    <a:bodyPr wrap="square"/>
                    <a:lstStyle/>
                    <a:p>
                      <a:pPr algn="ctr"/>
                      <a:r>
                        <a:rPr b="0" sz="1000">
                          <a:solidFill>
                            <a:srgbClr val="404040"/>
                          </a:solidFill>
                        </a:rPr>
                        <a:t>4</a:t>
                      </a:r>
                    </a:p>
                  </a:txBody>
                  <a:tcPr>
                    <a:solidFill>
                      <a:srgbClr val="D9EAF7"/>
                    </a:solidFill>
                  </a:tcPr>
                </a:tc>
                <a:tc>
                  <a:txBody>
                    <a:bodyPr wrap="square"/>
                    <a:lstStyle/>
                    <a:p>
                      <a:pPr algn="ctr"/>
                      <a:r>
                        <a:rPr b="0" sz="1000">
                          <a:solidFill>
                            <a:srgbClr val="404040"/>
                          </a:solidFill>
                        </a:rPr>
                        <a:t>M8</a:t>
                      </a:r>
                    </a:p>
                  </a:txBody>
                  <a:tcPr>
                    <a:solidFill>
                      <a:srgbClr val="D9EAF7"/>
                    </a:solidFill>
                  </a:tcPr>
                </a:tc>
                <a:tc>
                  <a:txBody>
                    <a:bodyPr wrap="square"/>
                    <a:lstStyle/>
                    <a:p>
                      <a:pPr algn="l"/>
                      <a:r>
                        <a:rPr b="0" sz="1000">
                          <a:solidFill>
                            <a:srgbClr val="404040"/>
                          </a:solidFill>
                        </a:rPr>
                        <a:t>SK Adaptativo</a:t>
                      </a:r>
                    </a:p>
                  </a:txBody>
                  <a:tcPr>
                    <a:solidFill>
                      <a:srgbClr val="D9EAF7"/>
                    </a:solidFill>
                  </a:tcPr>
                </a:tc>
                <a:tc>
                  <a:txBody>
                    <a:bodyPr wrap="square"/>
                    <a:lstStyle/>
                    <a:p>
                      <a:pPr algn="ctr"/>
                      <a:r>
                        <a:rPr b="0" sz="1000">
                          <a:solidFill>
                            <a:srgbClr val="404040"/>
                          </a:solidFill>
                        </a:rPr>
                        <a:t>Bayesiana</a:t>
                      </a:r>
                    </a:p>
                  </a:txBody>
                  <a:tcPr>
                    <a:solidFill>
                      <a:srgbClr val="D9EAF7"/>
                    </a:solidFill>
                  </a:tcPr>
                </a:tc>
                <a:tc>
                  <a:txBody>
                    <a:bodyPr wrap="square"/>
                    <a:lstStyle/>
                    <a:p>
                      <a:pPr algn="ctr"/>
                      <a:r>
                        <a:rPr b="0" sz="1000">
                          <a:solidFill>
                            <a:srgbClr val="404040"/>
                          </a:solidFill>
                        </a:rPr>
                        <a:t>218.93</a:t>
                      </a:r>
                    </a:p>
                  </a:txBody>
                  <a:tcPr>
                    <a:solidFill>
                      <a:srgbClr val="D9EAF7"/>
                    </a:solidFill>
                  </a:tcPr>
                </a:tc>
                <a:tc>
                  <a:txBody>
                    <a:bodyPr wrap="square"/>
                    <a:lstStyle/>
                    <a:p>
                      <a:pPr algn="ctr"/>
                      <a:r>
                        <a:rPr b="0" sz="1000">
                          <a:solidFill>
                            <a:srgbClr val="378648"/>
                          </a:solidFill>
                        </a:rPr>
                        <a:t>−19.1%</a:t>
                      </a:r>
                    </a:p>
                  </a:txBody>
                  <a:tcPr>
                    <a:solidFill>
                      <a:srgbClr val="D9EAF7"/>
                    </a:solidFill>
                  </a:tcPr>
                </a:tc>
                <a:tc>
                  <a:txBody>
                    <a:bodyPr wrap="square"/>
                    <a:lstStyle/>
                    <a:p>
                      <a:pPr algn="ctr"/>
                      <a:r>
                        <a:rPr b="0" sz="1000">
                          <a:solidFill>
                            <a:srgbClr val="404040"/>
                          </a:solidFill>
                        </a:rPr>
                        <a:t>2.17 h</a:t>
                      </a:r>
                    </a:p>
                  </a:txBody>
                  <a:tcPr>
                    <a:solidFill>
                      <a:srgbClr val="D9EAF7"/>
                    </a:solidFill>
                  </a:tcPr>
                </a:tc>
                <a:tc>
                  <a:txBody>
                    <a:bodyPr wrap="square"/>
                    <a:lstStyle/>
                    <a:p>
                      <a:pPr algn="ctr"/>
                      <a:r>
                        <a:rPr b="0" sz="1000">
                          <a:solidFill>
                            <a:srgbClr val="404040"/>
                          </a:solidFill>
                        </a:rPr>
                        <a:t>20</a:t>
                      </a:r>
                    </a:p>
                  </a:txBody>
                  <a:tcPr>
                    <a:solidFill>
                      <a:srgbClr val="D9EAF7"/>
                    </a:solidFill>
                  </a:tcPr>
                </a:tc>
                <a:tc>
                  <a:txBody>
                    <a:bodyPr wrap="square"/>
                    <a:lstStyle/>
                    <a:p>
                      <a:pPr algn="ctr"/>
                      <a:r>
                        <a:rPr b="0" sz="1000">
                          <a:solidFill>
                            <a:srgbClr val="404040"/>
                          </a:solidFill>
                        </a:rPr>
                        <a:t>Nube</a:t>
                      </a:r>
                    </a:p>
                  </a:txBody>
                  <a:tcPr>
                    <a:solidFill>
                      <a:srgbClr val="D9EAF7"/>
                    </a:solidFill>
                  </a:tcPr>
                </a:tc>
              </a:tr>
              <a:tr h="525780">
                <a:tc>
                  <a:txBody>
                    <a:bodyPr wrap="square"/>
                    <a:lstStyle/>
                    <a:p>
                      <a:pPr algn="ctr"/>
                      <a:r>
                        <a:rPr b="0" sz="1000">
                          <a:solidFill>
                            <a:srgbClr val="404040"/>
                          </a:solidFill>
                        </a:rPr>
                        <a:t>5</a:t>
                      </a:r>
                    </a:p>
                  </a:txBody>
                  <a:tcPr>
                    <a:solidFill>
                      <a:srgbClr val="FDF0D0"/>
                    </a:solidFill>
                  </a:tcPr>
                </a:tc>
                <a:tc>
                  <a:txBody>
                    <a:bodyPr wrap="square"/>
                    <a:lstStyle/>
                    <a:p>
                      <a:pPr algn="ctr"/>
                      <a:r>
                        <a:rPr b="0" sz="1000">
                          <a:solidFill>
                            <a:srgbClr val="404040"/>
                          </a:solidFill>
                        </a:rPr>
                        <a:t>M13</a:t>
                      </a:r>
                    </a:p>
                  </a:txBody>
                  <a:tcPr>
                    <a:solidFill>
                      <a:srgbClr val="FDF0D0"/>
                    </a:solidFill>
                  </a:tcPr>
                </a:tc>
                <a:tc>
                  <a:txBody>
                    <a:bodyPr wrap="square"/>
                    <a:lstStyle/>
                    <a:p>
                      <a:pPr algn="l"/>
                      <a:r>
                        <a:rPr b="0" sz="1000">
                          <a:solidFill>
                            <a:srgbClr val="404040"/>
                          </a:solidFill>
                        </a:rPr>
                        <a:t>SPSA</a:t>
                      </a:r>
                    </a:p>
                  </a:txBody>
                  <a:tcPr>
                    <a:solidFill>
                      <a:srgbClr val="FDF0D0"/>
                    </a:solidFill>
                  </a:tcPr>
                </a:tc>
                <a:tc>
                  <a:txBody>
                    <a:bodyPr wrap="square"/>
                    <a:lstStyle/>
                    <a:p>
                      <a:pPr algn="ctr"/>
                      <a:r>
                        <a:rPr b="0" sz="1000">
                          <a:solidFill>
                            <a:srgbClr val="404040"/>
                          </a:solidFill>
                        </a:rPr>
                        <a:t>Gradiente</a:t>
                      </a:r>
                    </a:p>
                  </a:txBody>
                  <a:tcPr>
                    <a:solidFill>
                      <a:srgbClr val="FDF0D0"/>
                    </a:solidFill>
                  </a:tcPr>
                </a:tc>
                <a:tc>
                  <a:txBody>
                    <a:bodyPr wrap="square"/>
                    <a:lstStyle/>
                    <a:p>
                      <a:pPr algn="ctr"/>
                      <a:r>
                        <a:rPr b="0" sz="1000">
                          <a:solidFill>
                            <a:srgbClr val="404040"/>
                          </a:solidFill>
                        </a:rPr>
                        <a:t>219.38</a:t>
                      </a:r>
                    </a:p>
                  </a:txBody>
                  <a:tcPr>
                    <a:solidFill>
                      <a:srgbClr val="FDF0D0"/>
                    </a:solidFill>
                  </a:tcPr>
                </a:tc>
                <a:tc>
                  <a:txBody>
                    <a:bodyPr wrap="square"/>
                    <a:lstStyle/>
                    <a:p>
                      <a:pPr algn="ctr"/>
                      <a:r>
                        <a:rPr b="0" sz="1000">
                          <a:solidFill>
                            <a:srgbClr val="378648"/>
                          </a:solidFill>
                        </a:rPr>
                        <a:t>−19.0%</a:t>
                      </a:r>
                    </a:p>
                  </a:txBody>
                  <a:tcPr>
                    <a:solidFill>
                      <a:srgbClr val="FDF0D0"/>
                    </a:solidFill>
                  </a:tcPr>
                </a:tc>
                <a:tc>
                  <a:txBody>
                    <a:bodyPr wrap="square"/>
                    <a:lstStyle/>
                    <a:p>
                      <a:pPr algn="ctr"/>
                      <a:r>
                        <a:rPr b="0" sz="1000">
                          <a:solidFill>
                            <a:srgbClr val="404040"/>
                          </a:solidFill>
                        </a:rPr>
                        <a:t>8.65 h</a:t>
                      </a:r>
                    </a:p>
                  </a:txBody>
                  <a:tcPr>
                    <a:solidFill>
                      <a:srgbClr val="FDF0D0"/>
                    </a:solidFill>
                  </a:tcPr>
                </a:tc>
                <a:tc>
                  <a:txBody>
                    <a:bodyPr wrap="square"/>
                    <a:lstStyle/>
                    <a:p>
                      <a:pPr algn="ctr"/>
                      <a:r>
                        <a:rPr b="0" sz="1000">
                          <a:solidFill>
                            <a:srgbClr val="404040"/>
                          </a:solidFill>
                        </a:rPr>
                        <a:t>~300</a:t>
                      </a:r>
                    </a:p>
                  </a:txBody>
                  <a:tcPr>
                    <a:solidFill>
                      <a:srgbClr val="FDF0D0"/>
                    </a:solidFill>
                  </a:tcPr>
                </a:tc>
                <a:tc>
                  <a:txBody>
                    <a:bodyPr wrap="square"/>
                    <a:lstStyle/>
                    <a:p>
                      <a:pPr algn="ctr"/>
                      <a:r>
                        <a:rPr b="0" sz="1000">
                          <a:solidFill>
                            <a:srgbClr val="404040"/>
                          </a:solidFill>
                        </a:rPr>
                        <a:t>Raúl PC</a:t>
                      </a:r>
                    </a:p>
                  </a:txBody>
                  <a:tcPr>
                    <a:solidFill>
                      <a:srgbClr val="FDF0D0"/>
                    </a:solidFill>
                  </a:tcPr>
                </a:tc>
              </a:tr>
              <a:tr h="525780">
                <a:tc>
                  <a:txBody>
                    <a:bodyPr wrap="square"/>
                    <a:lstStyle/>
                    <a:p>
                      <a:pPr algn="ctr"/>
                      <a:r>
                        <a:rPr b="0" sz="1000">
                          <a:solidFill>
                            <a:srgbClr val="404040"/>
                          </a:solidFill>
                        </a:rPr>
                        <a:t>6</a:t>
                      </a:r>
                    </a:p>
                  </a:txBody>
                  <a:tcPr>
                    <a:solidFill>
                      <a:srgbClr val="D9EAF7"/>
                    </a:solidFill>
                  </a:tcPr>
                </a:tc>
                <a:tc>
                  <a:txBody>
                    <a:bodyPr wrap="square"/>
                    <a:lstStyle/>
                    <a:p>
                      <a:pPr algn="ctr"/>
                      <a:r>
                        <a:rPr b="0" sz="1000">
                          <a:solidFill>
                            <a:srgbClr val="404040"/>
                          </a:solidFill>
                        </a:rPr>
                        <a:t>M10</a:t>
                      </a:r>
                    </a:p>
                  </a:txBody>
                  <a:tcPr>
                    <a:solidFill>
                      <a:srgbClr val="D9EAF7"/>
                    </a:solidFill>
                  </a:tcPr>
                </a:tc>
                <a:tc>
                  <a:txBody>
                    <a:bodyPr wrap="square"/>
                    <a:lstStyle/>
                    <a:p>
                      <a:pPr algn="l"/>
                      <a:r>
                        <a:rPr b="0" sz="1000">
                          <a:solidFill>
                            <a:srgbClr val="404040"/>
                          </a:solidFill>
                        </a:rPr>
                        <a:t>SK-KGCP</a:t>
                      </a:r>
                    </a:p>
                  </a:txBody>
                  <a:tcPr>
                    <a:solidFill>
                      <a:srgbClr val="D9EAF7"/>
                    </a:solidFill>
                  </a:tcPr>
                </a:tc>
                <a:tc>
                  <a:txBody>
                    <a:bodyPr wrap="square"/>
                    <a:lstStyle/>
                    <a:p>
                      <a:pPr algn="ctr"/>
                      <a:r>
                        <a:rPr b="0" sz="1000">
                          <a:solidFill>
                            <a:srgbClr val="404040"/>
                          </a:solidFill>
                        </a:rPr>
                        <a:t>Bayesiana</a:t>
                      </a:r>
                    </a:p>
                  </a:txBody>
                  <a:tcPr>
                    <a:solidFill>
                      <a:srgbClr val="D9EAF7"/>
                    </a:solidFill>
                  </a:tcPr>
                </a:tc>
                <a:tc>
                  <a:txBody>
                    <a:bodyPr wrap="square"/>
                    <a:lstStyle/>
                    <a:p>
                      <a:pPr algn="ctr"/>
                      <a:r>
                        <a:rPr b="0" sz="1000">
                          <a:solidFill>
                            <a:srgbClr val="404040"/>
                          </a:solidFill>
                        </a:rPr>
                        <a:t>219.96</a:t>
                      </a:r>
                    </a:p>
                  </a:txBody>
                  <a:tcPr>
                    <a:solidFill>
                      <a:srgbClr val="D9EAF7"/>
                    </a:solidFill>
                  </a:tcPr>
                </a:tc>
                <a:tc>
                  <a:txBody>
                    <a:bodyPr wrap="square"/>
                    <a:lstStyle/>
                    <a:p>
                      <a:pPr algn="ctr"/>
                      <a:r>
                        <a:rPr b="0" sz="1000">
                          <a:solidFill>
                            <a:srgbClr val="378648"/>
                          </a:solidFill>
                        </a:rPr>
                        <a:t>−18.8%</a:t>
                      </a:r>
                    </a:p>
                  </a:txBody>
                  <a:tcPr>
                    <a:solidFill>
                      <a:srgbClr val="D9EAF7"/>
                    </a:solidFill>
                  </a:tcPr>
                </a:tc>
                <a:tc>
                  <a:txBody>
                    <a:bodyPr wrap="square"/>
                    <a:lstStyle/>
                    <a:p>
                      <a:pPr algn="ctr"/>
                      <a:r>
                        <a:rPr b="0" sz="1000">
                          <a:solidFill>
                            <a:srgbClr val="404040"/>
                          </a:solidFill>
                        </a:rPr>
                        <a:t>1.46 h</a:t>
                      </a:r>
                    </a:p>
                  </a:txBody>
                  <a:tcPr>
                    <a:solidFill>
                      <a:srgbClr val="D9EAF7"/>
                    </a:solidFill>
                  </a:tcPr>
                </a:tc>
                <a:tc>
                  <a:txBody>
                    <a:bodyPr wrap="square"/>
                    <a:lstStyle/>
                    <a:p>
                      <a:pPr algn="ctr"/>
                      <a:r>
                        <a:rPr b="0" sz="1000">
                          <a:solidFill>
                            <a:srgbClr val="404040"/>
                          </a:solidFill>
                        </a:rPr>
                        <a:t>20</a:t>
                      </a:r>
                    </a:p>
                  </a:txBody>
                  <a:tcPr>
                    <a:solidFill>
                      <a:srgbClr val="D9EAF7"/>
                    </a:solidFill>
                  </a:tcPr>
                </a:tc>
                <a:tc>
                  <a:txBody>
                    <a:bodyPr wrap="square"/>
                    <a:lstStyle/>
                    <a:p>
                      <a:pPr algn="ctr"/>
                      <a:r>
                        <a:rPr b="0" sz="1000">
                          <a:solidFill>
                            <a:srgbClr val="404040"/>
                          </a:solidFill>
                        </a:rPr>
                        <a:t>Nube</a:t>
                      </a:r>
                    </a:p>
                  </a:txBody>
                  <a:tcPr>
                    <a:solidFill>
                      <a:srgbClr val="D9EAF7"/>
                    </a:solidFill>
                  </a:tcPr>
                </a:tc>
              </a:tr>
              <a:tr h="525780">
                <a:tc>
                  <a:txBody>
                    <a:bodyPr wrap="square"/>
                    <a:lstStyle/>
                    <a:p>
                      <a:pPr algn="ctr"/>
                      <a:r>
                        <a:rPr b="0" sz="1000">
                          <a:solidFill>
                            <a:srgbClr val="404040"/>
                          </a:solidFill>
                        </a:rPr>
                        <a:t>7</a:t>
                      </a:r>
                    </a:p>
                  </a:txBody>
                  <a:tcPr>
                    <a:solidFill>
                      <a:srgbClr val="FDF0D0"/>
                    </a:solidFill>
                  </a:tcPr>
                </a:tc>
                <a:tc>
                  <a:txBody>
                    <a:bodyPr wrap="square"/>
                    <a:lstStyle/>
                    <a:p>
                      <a:pPr algn="ctr"/>
                      <a:r>
                        <a:rPr b="0" sz="1000">
                          <a:solidFill>
                            <a:srgbClr val="404040"/>
                          </a:solidFill>
                        </a:rPr>
                        <a:t>M14</a:t>
                      </a:r>
                    </a:p>
                  </a:txBody>
                  <a:tcPr>
                    <a:solidFill>
                      <a:srgbClr val="FDF0D0"/>
                    </a:solidFill>
                  </a:tcPr>
                </a:tc>
                <a:tc>
                  <a:txBody>
                    <a:bodyPr wrap="square"/>
                    <a:lstStyle/>
                    <a:p>
                      <a:pPr algn="l"/>
                      <a:r>
                        <a:rPr b="0" sz="1000">
                          <a:solidFill>
                            <a:srgbClr val="404040"/>
                          </a:solidFill>
                        </a:rPr>
                        <a:t>ALOE</a:t>
                      </a:r>
                    </a:p>
                  </a:txBody>
                  <a:tcPr>
                    <a:solidFill>
                      <a:srgbClr val="FDF0D0"/>
                    </a:solidFill>
                  </a:tcPr>
                </a:tc>
                <a:tc>
                  <a:txBody>
                    <a:bodyPr wrap="square"/>
                    <a:lstStyle/>
                    <a:p>
                      <a:pPr algn="ctr"/>
                      <a:r>
                        <a:rPr b="0" sz="1000">
                          <a:solidFill>
                            <a:srgbClr val="404040"/>
                          </a:solidFill>
                        </a:rPr>
                        <a:t>Gradiente</a:t>
                      </a:r>
                    </a:p>
                  </a:txBody>
                  <a:tcPr>
                    <a:solidFill>
                      <a:srgbClr val="FDF0D0"/>
                    </a:solidFill>
                  </a:tcPr>
                </a:tc>
                <a:tc>
                  <a:txBody>
                    <a:bodyPr wrap="square"/>
                    <a:lstStyle/>
                    <a:p>
                      <a:pPr algn="ctr"/>
                      <a:r>
                        <a:rPr b="0" sz="1000">
                          <a:solidFill>
                            <a:srgbClr val="404040"/>
                          </a:solidFill>
                        </a:rPr>
                        <a:t>270.73</a:t>
                      </a:r>
                    </a:p>
                  </a:txBody>
                  <a:tcPr>
                    <a:solidFill>
                      <a:srgbClr val="FDF0D0"/>
                    </a:solidFill>
                  </a:tcPr>
                </a:tc>
                <a:tc>
                  <a:txBody>
                    <a:bodyPr wrap="square"/>
                    <a:lstStyle/>
                    <a:p>
                      <a:pPr algn="ctr"/>
                      <a:r>
                        <a:rPr b="0" sz="1000">
                          <a:solidFill>
                            <a:srgbClr val="378648"/>
                          </a:solidFill>
                        </a:rPr>
                        <a:t>−0.0%</a:t>
                      </a:r>
                    </a:p>
                  </a:txBody>
                  <a:tcPr>
                    <a:solidFill>
                      <a:srgbClr val="FDF0D0"/>
                    </a:solidFill>
                  </a:tcPr>
                </a:tc>
                <a:tc>
                  <a:txBody>
                    <a:bodyPr wrap="square"/>
                    <a:lstStyle/>
                    <a:p>
                      <a:pPr algn="ctr"/>
                      <a:r>
                        <a:rPr b="0" sz="1000">
                          <a:solidFill>
                            <a:srgbClr val="404040"/>
                          </a:solidFill>
                        </a:rPr>
                        <a:t>69.5 h</a:t>
                      </a:r>
                    </a:p>
                  </a:txBody>
                  <a:tcPr>
                    <a:solidFill>
                      <a:srgbClr val="FDF0D0"/>
                    </a:solidFill>
                  </a:tcPr>
                </a:tc>
                <a:tc>
                  <a:txBody>
                    <a:bodyPr wrap="square"/>
                    <a:lstStyle/>
                    <a:p>
                      <a:pPr algn="ctr"/>
                      <a:r>
                        <a:rPr b="0" sz="1000">
                          <a:solidFill>
                            <a:srgbClr val="404040"/>
                          </a:solidFill>
                        </a:rPr>
                        <a:t>~420</a:t>
                      </a:r>
                    </a:p>
                  </a:txBody>
                  <a:tcPr>
                    <a:solidFill>
                      <a:srgbClr val="FDF0D0"/>
                    </a:solidFill>
                  </a:tcPr>
                </a:tc>
                <a:tc>
                  <a:txBody>
                    <a:bodyPr wrap="square"/>
                    <a:lstStyle/>
                    <a:p>
                      <a:pPr algn="ctr"/>
                      <a:r>
                        <a:rPr b="0" sz="1000">
                          <a:solidFill>
                            <a:srgbClr val="404040"/>
                          </a:solidFill>
                        </a:rPr>
                        <a:t>Raúl PC</a:t>
                      </a:r>
                    </a:p>
                  </a:txBody>
                  <a:tcPr>
                    <a:solidFill>
                      <a:srgbClr val="FDF0D0"/>
                    </a:solidFill>
                  </a:tcPr>
                </a:tc>
              </a:tr>
              <a:tr h="525780">
                <a:tc>
                  <a:txBody>
                    <a:bodyPr wrap="square"/>
                    <a:lstStyle/>
                    <a:p>
                      <a:pPr algn="ctr"/>
                      <a:r>
                        <a:rPr b="0" sz="1000">
                          <a:solidFill>
                            <a:srgbClr val="C00000"/>
                          </a:solidFill>
                        </a:rPr>
                        <a:t>—</a:t>
                      </a:r>
                    </a:p>
                  </a:txBody>
                  <a:tcPr>
                    <a:solidFill>
                      <a:srgbClr val="F9F9F9"/>
                    </a:solidFill>
                  </a:tcPr>
                </a:tc>
                <a:tc>
                  <a:txBody>
                    <a:bodyPr wrap="square"/>
                    <a:lstStyle/>
                    <a:p>
                      <a:pPr algn="ctr"/>
                      <a:r>
                        <a:rPr b="0" sz="1000">
                          <a:solidFill>
                            <a:srgbClr val="C00000"/>
                          </a:solidFill>
                        </a:rPr>
                        <a:t>M11</a:t>
                      </a:r>
                    </a:p>
                  </a:txBody>
                  <a:tcPr>
                    <a:solidFill>
                      <a:srgbClr val="F9F9F9"/>
                    </a:solidFill>
                  </a:tcPr>
                </a:tc>
                <a:tc>
                  <a:txBody>
                    <a:bodyPr wrap="square"/>
                    <a:lstStyle/>
                    <a:p>
                      <a:pPr algn="l"/>
                      <a:r>
                        <a:rPr b="0" sz="1000">
                          <a:solidFill>
                            <a:srgbClr val="C00000"/>
                          </a:solidFill>
                        </a:rPr>
                        <a:t>ASTRO-DF</a:t>
                      </a:r>
                    </a:p>
                  </a:txBody>
                  <a:tcPr>
                    <a:solidFill>
                      <a:srgbClr val="F9F9F9"/>
                    </a:solidFill>
                  </a:tcPr>
                </a:tc>
                <a:tc>
                  <a:txBody>
                    <a:bodyPr wrap="square"/>
                    <a:lstStyle/>
                    <a:p>
                      <a:pPr algn="ctr"/>
                      <a:r>
                        <a:rPr b="0" sz="1000">
                          <a:solidFill>
                            <a:srgbClr val="C00000"/>
                          </a:solidFill>
                        </a:rPr>
                        <a:t>Trust-Region</a:t>
                      </a:r>
                    </a:p>
                  </a:txBody>
                  <a:tcPr>
                    <a:solidFill>
                      <a:srgbClr val="F9F9F9"/>
                    </a:solidFill>
                  </a:tcPr>
                </a:tc>
                <a:tc>
                  <a:txBody>
                    <a:bodyPr wrap="square"/>
                    <a:lstStyle/>
                    <a:p>
                      <a:pPr algn="ctr"/>
                      <a:r>
                        <a:rPr b="0" sz="1000">
                          <a:solidFill>
                            <a:srgbClr val="C00000"/>
                          </a:solidFill>
                        </a:rPr>
                        <a:t>—</a:t>
                      </a:r>
                    </a:p>
                  </a:txBody>
                  <a:tcPr>
                    <a:solidFill>
                      <a:srgbClr val="F9F9F9"/>
                    </a:solidFill>
                  </a:tcPr>
                </a:tc>
                <a:tc>
                  <a:txBody>
                    <a:bodyPr wrap="square"/>
                    <a:lstStyle/>
                    <a:p>
                      <a:pPr algn="ctr"/>
                      <a:r>
                        <a:rPr b="0" sz="1000">
                          <a:solidFill>
                            <a:srgbClr val="C00000"/>
                          </a:solidFill>
                        </a:rPr>
                        <a:t>—</a:t>
                      </a:r>
                    </a:p>
                  </a:txBody>
                  <a:tcPr>
                    <a:solidFill>
                      <a:srgbClr val="F9F9F9"/>
                    </a:solidFill>
                  </a:tcPr>
                </a:tc>
                <a:tc>
                  <a:txBody>
                    <a:bodyPr wrap="square"/>
                    <a:lstStyle/>
                    <a:p>
                      <a:pPr algn="ctr"/>
                      <a:r>
                        <a:rPr b="0" sz="1000">
                          <a:solidFill>
                            <a:srgbClr val="C00000"/>
                          </a:solidFill>
                        </a:rPr>
                        <a:t>—</a:t>
                      </a:r>
                    </a:p>
                  </a:txBody>
                  <a:tcPr>
                    <a:solidFill>
                      <a:srgbClr val="F9F9F9"/>
                    </a:solidFill>
                  </a:tcPr>
                </a:tc>
                <a:tc>
                  <a:txBody>
                    <a:bodyPr wrap="square"/>
                    <a:lstStyle/>
                    <a:p>
                      <a:pPr algn="ctr"/>
                      <a:r>
                        <a:rPr b="0" sz="1000">
                          <a:solidFill>
                            <a:srgbClr val="C00000"/>
                          </a:solidFill>
                        </a:rPr>
                        <a:t>—</a:t>
                      </a:r>
                    </a:p>
                  </a:txBody>
                  <a:tcPr>
                    <a:solidFill>
                      <a:srgbClr val="F9F9F9"/>
                    </a:solidFill>
                  </a:tcPr>
                </a:tc>
                <a:tc>
                  <a:txBody>
                    <a:bodyPr wrap="square"/>
                    <a:lstStyle/>
                    <a:p>
                      <a:pPr algn="ctr"/>
                      <a:r>
                        <a:rPr b="0" sz="1000">
                          <a:solidFill>
                            <a:srgbClr val="C00000"/>
                          </a:solidFill>
                        </a:rPr>
                        <a:t>—</a:t>
                      </a:r>
                    </a:p>
                  </a:txBody>
                  <a:tcPr>
                    <a:solidFill>
                      <a:srgbClr val="F9F9F9"/>
                    </a:solidFill>
                  </a:tcPr>
                </a:tc>
              </a:tr>
              <a:tr h="525780">
                <a:tc>
                  <a:txBody>
                    <a:bodyPr wrap="square"/>
                    <a:lstStyle/>
                    <a:p>
                      <a:pPr algn="ctr"/>
                      <a:r>
                        <a:rPr b="0" sz="1000">
                          <a:solidFill>
                            <a:srgbClr val="C00000"/>
                          </a:solidFill>
                        </a:rPr>
                        <a:t>—</a:t>
                      </a:r>
                    </a:p>
                  </a:txBody>
                  <a:tcPr>
                    <a:solidFill>
                      <a:srgbClr val="F9F9F9"/>
                    </a:solidFill>
                  </a:tcPr>
                </a:tc>
                <a:tc>
                  <a:txBody>
                    <a:bodyPr wrap="square"/>
                    <a:lstStyle/>
                    <a:p>
                      <a:pPr algn="ctr"/>
                      <a:r>
                        <a:rPr b="0" sz="1000">
                          <a:solidFill>
                            <a:srgbClr val="C00000"/>
                          </a:solidFill>
                        </a:rPr>
                        <a:t>M12</a:t>
                      </a:r>
                    </a:p>
                  </a:txBody>
                  <a:tcPr>
                    <a:solidFill>
                      <a:srgbClr val="F9F9F9"/>
                    </a:solidFill>
                  </a:tcPr>
                </a:tc>
                <a:tc>
                  <a:txBody>
                    <a:bodyPr wrap="square"/>
                    <a:lstStyle/>
                    <a:p>
                      <a:pPr algn="l"/>
                      <a:r>
                        <a:rPr b="0" sz="1000">
                          <a:solidFill>
                            <a:srgbClr val="C00000"/>
                          </a:solidFill>
                        </a:rPr>
                        <a:t>STRONG</a:t>
                      </a:r>
                    </a:p>
                  </a:txBody>
                  <a:tcPr>
                    <a:solidFill>
                      <a:srgbClr val="F9F9F9"/>
                    </a:solidFill>
                  </a:tcPr>
                </a:tc>
                <a:tc>
                  <a:txBody>
                    <a:bodyPr wrap="square"/>
                    <a:lstStyle/>
                    <a:p>
                      <a:pPr algn="ctr"/>
                      <a:r>
                        <a:rPr b="0" sz="1000">
                          <a:solidFill>
                            <a:srgbClr val="C00000"/>
                          </a:solidFill>
                        </a:rPr>
                        <a:t>Trust-Region</a:t>
                      </a:r>
                    </a:p>
                  </a:txBody>
                  <a:tcPr>
                    <a:solidFill>
                      <a:srgbClr val="F9F9F9"/>
                    </a:solidFill>
                  </a:tcPr>
                </a:tc>
                <a:tc>
                  <a:txBody>
                    <a:bodyPr wrap="square"/>
                    <a:lstStyle/>
                    <a:p>
                      <a:pPr algn="ctr"/>
                      <a:r>
                        <a:rPr b="0" sz="1000">
                          <a:solidFill>
                            <a:srgbClr val="C00000"/>
                          </a:solidFill>
                        </a:rPr>
                        <a:t>—</a:t>
                      </a:r>
                    </a:p>
                  </a:txBody>
                  <a:tcPr>
                    <a:solidFill>
                      <a:srgbClr val="F9F9F9"/>
                    </a:solidFill>
                  </a:tcPr>
                </a:tc>
                <a:tc>
                  <a:txBody>
                    <a:bodyPr wrap="square"/>
                    <a:lstStyle/>
                    <a:p>
                      <a:pPr algn="ctr"/>
                      <a:r>
                        <a:rPr b="0" sz="1000">
                          <a:solidFill>
                            <a:srgbClr val="C00000"/>
                          </a:solidFill>
                        </a:rPr>
                        <a:t>—</a:t>
                      </a:r>
                    </a:p>
                  </a:txBody>
                  <a:tcPr>
                    <a:solidFill>
                      <a:srgbClr val="F9F9F9"/>
                    </a:solidFill>
                  </a:tcPr>
                </a:tc>
                <a:tc>
                  <a:txBody>
                    <a:bodyPr wrap="square"/>
                    <a:lstStyle/>
                    <a:p>
                      <a:pPr algn="ctr"/>
                      <a:r>
                        <a:rPr b="0" sz="1000">
                          <a:solidFill>
                            <a:srgbClr val="C00000"/>
                          </a:solidFill>
                        </a:rPr>
                        <a:t>—</a:t>
                      </a:r>
                    </a:p>
                  </a:txBody>
                  <a:tcPr>
                    <a:solidFill>
                      <a:srgbClr val="F9F9F9"/>
                    </a:solidFill>
                  </a:tcPr>
                </a:tc>
                <a:tc>
                  <a:txBody>
                    <a:bodyPr wrap="square"/>
                    <a:lstStyle/>
                    <a:p>
                      <a:pPr algn="ctr"/>
                      <a:r>
                        <a:rPr b="0" sz="1000">
                          <a:solidFill>
                            <a:srgbClr val="C00000"/>
                          </a:solidFill>
                        </a:rPr>
                        <a:t>—</a:t>
                      </a:r>
                    </a:p>
                  </a:txBody>
                  <a:tcPr>
                    <a:solidFill>
                      <a:srgbClr val="F9F9F9"/>
                    </a:solidFill>
                  </a:tcPr>
                </a:tc>
                <a:tc>
                  <a:txBody>
                    <a:bodyPr wrap="square"/>
                    <a:lstStyle/>
                    <a:p>
                      <a:pPr algn="ctr"/>
                      <a:r>
                        <a:rPr b="0" sz="1000">
                          <a:solidFill>
                            <a:srgbClr val="C00000"/>
                          </a:solidFill>
                        </a:rPr>
                        <a:t>—</a:t>
                      </a:r>
                    </a:p>
                  </a:txBody>
                  <a:tcPr>
                    <a:solidFill>
                      <a:srgbClr val="F9F9F9"/>
                    </a:solidFill>
                  </a:tcPr>
                </a:tc>
              </a:tr>
            </a:tbl>
          </a:graphicData>
        </a:graphic>
      </p:graphicFrame>
      <p:sp>
        <p:nvSpPr>
          <p:cNvPr id="4" name="TextBox 3"/>
          <p:cNvSpPr txBox="1"/>
          <p:nvPr/>
        </p:nvSpPr>
        <p:spPr>
          <a:xfrm>
            <a:off x="182880" y="6537960"/>
            <a:ext cx="11823192" cy="256032"/>
          </a:xfrm>
          <a:prstGeom prst="rect">
            <a:avLst/>
          </a:prstGeom>
          <a:noFill/>
        </p:spPr>
        <p:txBody>
          <a:bodyPr wrap="none">
            <a:spAutoFit/>
          </a:bodyPr>
          <a:lstStyle/>
          <a:p>
            <a:pPr algn="l"/>
            <a:r>
              <a:rPr b="0" sz="850">
                <a:solidFill>
                  <a:srgbClr val="808080"/>
                </a:solidFill>
              </a:rPr>
              <a:t>★ M4 mejor resultado global  ·  M11/M12 sin datos (colapso de recursos en nube, timeout)  ·  M14 no mejoró línea base (convergencia prematura)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Parámetros Óptimos (Incumbentes) — Algoritmos Bayesianos M4–M10</a:t>
            </a:r>
          </a:p>
          <a:p>
            <a:pPr algn="l"/>
            <a:r>
              <a:rPr b="0" sz="1300">
                <a:solidFill>
                  <a:srgbClr val="BDD7EE"/>
                </a:solidFill>
              </a:rPr>
              <a:t>Configuración que minimizó tts_full_days_mean en cada módulo</a:t>
            </a:r>
          </a:p>
        </p:txBody>
      </p:sp>
      <p:graphicFrame>
        <p:nvGraphicFramePr>
          <p:cNvPr id="3" name="Table 2"/>
          <p:cNvGraphicFramePr>
            <a:graphicFrameLocks noGrp="1"/>
          </p:cNvGraphicFramePr>
          <p:nvPr/>
        </p:nvGraphicFramePr>
        <p:xfrm>
          <a:off x="182880" y="1325880"/>
          <a:ext cx="11823192" cy="5257800"/>
        </p:xfrm>
        <a:graphic>
          <a:graphicData uri="http://schemas.openxmlformats.org/drawingml/2006/table">
            <a:tbl>
              <a:tblPr firstRow="1" bandRow="1">
                <a:tableStyleId>{5C22544A-7EE6-4342-B048-85BDC9FD1C3A}</a:tableStyleId>
              </a:tblPr>
              <a:tblGrid>
                <a:gridCol w="2221992"/>
                <a:gridCol w="1920240"/>
                <a:gridCol w="1920240"/>
                <a:gridCol w="1920240"/>
                <a:gridCol w="1920240"/>
                <a:gridCol w="1920240"/>
              </a:tblGrid>
              <a:tr h="404446">
                <a:tc>
                  <a:txBody>
                    <a:bodyPr wrap="square"/>
                    <a:lstStyle/>
                    <a:p>
                      <a:pPr algn="l"/>
                      <a:r>
                        <a:rPr b="1" sz="1000">
                          <a:solidFill>
                            <a:srgbClr val="FFFFFF"/>
                          </a:solidFill>
                        </a:rPr>
                        <a:t>Parámetro</a:t>
                      </a:r>
                    </a:p>
                  </a:txBody>
                  <a:tcPr>
                    <a:solidFill>
                      <a:srgbClr val="1F497D"/>
                    </a:solidFill>
                  </a:tcPr>
                </a:tc>
                <a:tc>
                  <a:txBody>
                    <a:bodyPr wrap="square"/>
                    <a:lstStyle/>
                    <a:p>
                      <a:pPr algn="ctr"/>
                      <a:r>
                        <a:rPr b="1" sz="1000">
                          <a:solidFill>
                            <a:srgbClr val="FFFFFF"/>
                          </a:solidFill>
                        </a:rPr>
                        <a:t>M4
(205.17 d)</a:t>
                      </a:r>
                    </a:p>
                  </a:txBody>
                  <a:tcPr>
                    <a:solidFill>
                      <a:srgbClr val="1F497D"/>
                    </a:solidFill>
                  </a:tcPr>
                </a:tc>
                <a:tc>
                  <a:txBody>
                    <a:bodyPr wrap="square"/>
                    <a:lstStyle/>
                    <a:p>
                      <a:pPr algn="ctr"/>
                      <a:r>
                        <a:rPr b="1" sz="1000">
                          <a:solidFill>
                            <a:srgbClr val="FFFFFF"/>
                          </a:solidFill>
                        </a:rPr>
                        <a:t>M7
(217.76 d)</a:t>
                      </a:r>
                    </a:p>
                  </a:txBody>
                  <a:tcPr>
                    <a:solidFill>
                      <a:srgbClr val="1F497D"/>
                    </a:solidFill>
                  </a:tcPr>
                </a:tc>
                <a:tc>
                  <a:txBody>
                    <a:bodyPr wrap="square"/>
                    <a:lstStyle/>
                    <a:p>
                      <a:pPr algn="ctr"/>
                      <a:r>
                        <a:rPr b="1" sz="1000">
                          <a:solidFill>
                            <a:srgbClr val="FFFFFF"/>
                          </a:solidFill>
                        </a:rPr>
                        <a:t>M8
(218.93 d)</a:t>
                      </a:r>
                    </a:p>
                  </a:txBody>
                  <a:tcPr>
                    <a:solidFill>
                      <a:srgbClr val="1F497D"/>
                    </a:solidFill>
                  </a:tcPr>
                </a:tc>
                <a:tc>
                  <a:txBody>
                    <a:bodyPr wrap="square"/>
                    <a:lstStyle/>
                    <a:p>
                      <a:pPr algn="ctr"/>
                      <a:r>
                        <a:rPr b="1" sz="1000">
                          <a:solidFill>
                            <a:srgbClr val="FFFFFF"/>
                          </a:solidFill>
                        </a:rPr>
                        <a:t>M9
(215.66 d)</a:t>
                      </a:r>
                    </a:p>
                  </a:txBody>
                  <a:tcPr>
                    <a:solidFill>
                      <a:srgbClr val="1F497D"/>
                    </a:solidFill>
                  </a:tcPr>
                </a:tc>
                <a:tc>
                  <a:txBody>
                    <a:bodyPr wrap="square"/>
                    <a:lstStyle/>
                    <a:p>
                      <a:pPr algn="ctr"/>
                      <a:r>
                        <a:rPr b="1" sz="1000">
                          <a:solidFill>
                            <a:srgbClr val="FFFFFF"/>
                          </a:solidFill>
                        </a:rPr>
                        <a:t>M10
(219.96 d)</a:t>
                      </a:r>
                    </a:p>
                  </a:txBody>
                  <a:tcPr>
                    <a:solidFill>
                      <a:srgbClr val="1F497D"/>
                    </a:solidFill>
                  </a:tcPr>
                </a:tc>
              </a:tr>
              <a:tr h="404446">
                <a:tc>
                  <a:txBody>
                    <a:bodyPr wrap="square"/>
                    <a:lstStyle/>
                    <a:p>
                      <a:pPr algn="l"/>
                      <a:r>
                        <a:rPr b="0" sz="900">
                          <a:solidFill>
                            <a:srgbClr val="404040"/>
                          </a:solidFill>
                        </a:rPr>
                        <a:t>cupos_eco_mat</a:t>
                      </a:r>
                    </a:p>
                  </a:txBody>
                  <a:tcPr>
                    <a:solidFill>
                      <a:srgbClr val="FFFFFF"/>
                    </a:solidFill>
                  </a:tcPr>
                </a:tc>
                <a:tc>
                  <a:txBody>
                    <a:bodyPr wrap="square"/>
                    <a:lstStyle/>
                    <a:p>
                      <a:pPr algn="ctr"/>
                      <a:r>
                        <a:rPr b="0" sz="900">
                          <a:solidFill>
                            <a:srgbClr val="404040"/>
                          </a:solidFill>
                        </a:rPr>
                        <a:t>25</a:t>
                      </a:r>
                    </a:p>
                  </a:txBody>
                  <a:tcPr>
                    <a:solidFill>
                      <a:srgbClr val="FFFFFF"/>
                    </a:solidFill>
                  </a:tcPr>
                </a:tc>
                <a:tc>
                  <a:txBody>
                    <a:bodyPr wrap="square"/>
                    <a:lstStyle/>
                    <a:p>
                      <a:pPr algn="ctr"/>
                      <a:r>
                        <a:rPr b="0" sz="900">
                          <a:solidFill>
                            <a:srgbClr val="404040"/>
                          </a:solidFill>
                        </a:rPr>
                        <a:t>25</a:t>
                      </a:r>
                    </a:p>
                  </a:txBody>
                  <a:tcPr>
                    <a:solidFill>
                      <a:srgbClr val="FFFFFF"/>
                    </a:solidFill>
                  </a:tcPr>
                </a:tc>
                <a:tc>
                  <a:txBody>
                    <a:bodyPr wrap="square"/>
                    <a:lstStyle/>
                    <a:p>
                      <a:pPr algn="ctr"/>
                      <a:r>
                        <a:rPr b="0" sz="900">
                          <a:solidFill>
                            <a:srgbClr val="404040"/>
                          </a:solidFill>
                        </a:rPr>
                        <a:t>25</a:t>
                      </a:r>
                    </a:p>
                  </a:txBody>
                  <a:tcPr>
                    <a:solidFill>
                      <a:srgbClr val="FFFFFF"/>
                    </a:solidFill>
                  </a:tcPr>
                </a:tc>
                <a:tc>
                  <a:txBody>
                    <a:bodyPr wrap="square"/>
                    <a:lstStyle/>
                    <a:p>
                      <a:pPr algn="ctr"/>
                      <a:r>
                        <a:rPr b="0" sz="900">
                          <a:solidFill>
                            <a:srgbClr val="404040"/>
                          </a:solidFill>
                        </a:rPr>
                        <a:t>24</a:t>
                      </a:r>
                    </a:p>
                  </a:txBody>
                  <a:tcPr>
                    <a:solidFill>
                      <a:srgbClr val="FFFFFF"/>
                    </a:solidFill>
                  </a:tcPr>
                </a:tc>
                <a:tc>
                  <a:txBody>
                    <a:bodyPr wrap="square"/>
                    <a:lstStyle/>
                    <a:p>
                      <a:pPr algn="ctr"/>
                      <a:r>
                        <a:rPr b="0" sz="900">
                          <a:solidFill>
                            <a:srgbClr val="404040"/>
                          </a:solidFill>
                        </a:rPr>
                        <a:t>25</a:t>
                      </a:r>
                    </a:p>
                  </a:txBody>
                  <a:tcPr>
                    <a:solidFill>
                      <a:srgbClr val="FFFFFF"/>
                    </a:solidFill>
                  </a:tcPr>
                </a:tc>
              </a:tr>
              <a:tr h="404446">
                <a:tc>
                  <a:txBody>
                    <a:bodyPr wrap="square"/>
                    <a:lstStyle/>
                    <a:p>
                      <a:pPr algn="l"/>
                      <a:r>
                        <a:rPr b="0" sz="900">
                          <a:solidFill>
                            <a:srgbClr val="404040"/>
                          </a:solidFill>
                        </a:rPr>
                        <a:t>cupos_eco_ugd</a:t>
                      </a:r>
                    </a:p>
                  </a:txBody>
                  <a:tcPr>
                    <a:solidFill>
                      <a:srgbClr val="BDD7EE"/>
                    </a:solidFill>
                  </a:tcPr>
                </a:tc>
                <a:tc>
                  <a:txBody>
                    <a:bodyPr wrap="square"/>
                    <a:lstStyle/>
                    <a:p>
                      <a:pPr algn="ctr"/>
                      <a:r>
                        <a:rPr b="0" sz="900">
                          <a:solidFill>
                            <a:srgbClr val="404040"/>
                          </a:solidFill>
                        </a:rPr>
                        <a:t>26</a:t>
                      </a:r>
                    </a:p>
                  </a:txBody>
                  <a:tcPr>
                    <a:solidFill>
                      <a:srgbClr val="BDD7EE"/>
                    </a:solidFill>
                  </a:tcPr>
                </a:tc>
                <a:tc>
                  <a:txBody>
                    <a:bodyPr wrap="square"/>
                    <a:lstStyle/>
                    <a:p>
                      <a:pPr algn="ctr"/>
                      <a:r>
                        <a:rPr b="0" sz="900">
                          <a:solidFill>
                            <a:srgbClr val="404040"/>
                          </a:solidFill>
                        </a:rPr>
                        <a:t>27</a:t>
                      </a:r>
                    </a:p>
                  </a:txBody>
                  <a:tcPr>
                    <a:solidFill>
                      <a:srgbClr val="BDD7EE"/>
                    </a:solidFill>
                  </a:tcPr>
                </a:tc>
                <a:tc>
                  <a:txBody>
                    <a:bodyPr wrap="square"/>
                    <a:lstStyle/>
                    <a:p>
                      <a:pPr algn="ctr"/>
                      <a:r>
                        <a:rPr b="0" sz="900">
                          <a:solidFill>
                            <a:srgbClr val="404040"/>
                          </a:solidFill>
                        </a:rPr>
                        <a:t>26</a:t>
                      </a:r>
                    </a:p>
                  </a:txBody>
                  <a:tcPr>
                    <a:solidFill>
                      <a:srgbClr val="BDD7EE"/>
                    </a:solidFill>
                  </a:tcPr>
                </a:tc>
                <a:tc>
                  <a:txBody>
                    <a:bodyPr wrap="square"/>
                    <a:lstStyle/>
                    <a:p>
                      <a:pPr algn="ctr"/>
                      <a:r>
                        <a:rPr b="0" sz="900">
                          <a:solidFill>
                            <a:srgbClr val="404040"/>
                          </a:solidFill>
                        </a:rPr>
                        <a:t>27</a:t>
                      </a:r>
                    </a:p>
                  </a:txBody>
                  <a:tcPr>
                    <a:solidFill>
                      <a:srgbClr val="BDD7EE"/>
                    </a:solidFill>
                  </a:tcPr>
                </a:tc>
                <a:tc>
                  <a:txBody>
                    <a:bodyPr wrap="square"/>
                    <a:lstStyle/>
                    <a:p>
                      <a:pPr algn="ctr"/>
                      <a:r>
                        <a:rPr b="0" sz="900">
                          <a:solidFill>
                            <a:srgbClr val="404040"/>
                          </a:solidFill>
                        </a:rPr>
                        <a:t>26</a:t>
                      </a:r>
                    </a:p>
                  </a:txBody>
                  <a:tcPr>
                    <a:solidFill>
                      <a:srgbClr val="BDD7EE"/>
                    </a:solidFill>
                  </a:tcPr>
                </a:tc>
              </a:tr>
              <a:tr h="404446">
                <a:tc>
                  <a:txBody>
                    <a:bodyPr wrap="square"/>
                    <a:lstStyle/>
                    <a:p>
                      <a:pPr algn="l"/>
                      <a:r>
                        <a:rPr b="0" sz="900">
                          <a:solidFill>
                            <a:srgbClr val="404040"/>
                          </a:solidFill>
                        </a:rPr>
                        <a:t>cupos_lab</a:t>
                      </a:r>
                    </a:p>
                  </a:txBody>
                  <a:tcPr>
                    <a:solidFill>
                      <a:srgbClr val="FFFFFF"/>
                    </a:solidFill>
                  </a:tcPr>
                </a:tc>
                <a:tc>
                  <a:txBody>
                    <a:bodyPr wrap="square"/>
                    <a:lstStyle/>
                    <a:p>
                      <a:pPr algn="ctr"/>
                      <a:r>
                        <a:rPr b="0" sz="900">
                          <a:solidFill>
                            <a:srgbClr val="404040"/>
                          </a:solidFill>
                        </a:rPr>
                        <a:t>92</a:t>
                      </a:r>
                    </a:p>
                  </a:txBody>
                  <a:tcPr>
                    <a:solidFill>
                      <a:srgbClr val="FFFFFF"/>
                    </a:solidFill>
                  </a:tcPr>
                </a:tc>
                <a:tc>
                  <a:txBody>
                    <a:bodyPr wrap="square"/>
                    <a:lstStyle/>
                    <a:p>
                      <a:pPr algn="ctr"/>
                      <a:r>
                        <a:rPr b="0" sz="900">
                          <a:solidFill>
                            <a:srgbClr val="404040"/>
                          </a:solidFill>
                        </a:rPr>
                        <a:t>71</a:t>
                      </a:r>
                    </a:p>
                  </a:txBody>
                  <a:tcPr>
                    <a:solidFill>
                      <a:srgbClr val="FFFFFF"/>
                    </a:solidFill>
                  </a:tcPr>
                </a:tc>
                <a:tc>
                  <a:txBody>
                    <a:bodyPr wrap="square"/>
                    <a:lstStyle/>
                    <a:p>
                      <a:pPr algn="ctr"/>
                      <a:r>
                        <a:rPr b="0" sz="900">
                          <a:solidFill>
                            <a:srgbClr val="404040"/>
                          </a:solidFill>
                        </a:rPr>
                        <a:t>70</a:t>
                      </a:r>
                    </a:p>
                  </a:txBody>
                  <a:tcPr>
                    <a:solidFill>
                      <a:srgbClr val="FFFFFF"/>
                    </a:solidFill>
                  </a:tcPr>
                </a:tc>
                <a:tc>
                  <a:txBody>
                    <a:bodyPr wrap="square"/>
                    <a:lstStyle/>
                    <a:p>
                      <a:pPr algn="ctr"/>
                      <a:r>
                        <a:rPr b="0" sz="900">
                          <a:solidFill>
                            <a:srgbClr val="404040"/>
                          </a:solidFill>
                        </a:rPr>
                        <a:t>70</a:t>
                      </a:r>
                    </a:p>
                  </a:txBody>
                  <a:tcPr>
                    <a:solidFill>
                      <a:srgbClr val="FFFFFF"/>
                    </a:solidFill>
                  </a:tcPr>
                </a:tc>
                <a:tc>
                  <a:txBody>
                    <a:bodyPr wrap="square"/>
                    <a:lstStyle/>
                    <a:p>
                      <a:pPr algn="ctr"/>
                      <a:r>
                        <a:rPr b="0" sz="900">
                          <a:solidFill>
                            <a:srgbClr val="404040"/>
                          </a:solidFill>
                        </a:rPr>
                        <a:t>70</a:t>
                      </a:r>
                    </a:p>
                  </a:txBody>
                  <a:tcPr>
                    <a:solidFill>
                      <a:srgbClr val="FFFFFF"/>
                    </a:solidFill>
                  </a:tcPr>
                </a:tc>
              </a:tr>
              <a:tr h="404446">
                <a:tc>
                  <a:txBody>
                    <a:bodyPr wrap="square"/>
                    <a:lstStyle/>
                    <a:p>
                      <a:pPr algn="l"/>
                      <a:r>
                        <a:rPr b="0" sz="900">
                          <a:solidFill>
                            <a:srgbClr val="404040"/>
                          </a:solidFill>
                        </a:rPr>
                        <a:t>dias_pub</a:t>
                      </a:r>
                    </a:p>
                  </a:txBody>
                  <a:tcPr>
                    <a:solidFill>
                      <a:srgbClr val="BDD7EE"/>
                    </a:solidFill>
                  </a:tcPr>
                </a:tc>
                <a:tc>
                  <a:txBody>
                    <a:bodyPr wrap="square"/>
                    <a:lstStyle/>
                    <a:p>
                      <a:pPr algn="ctr"/>
                      <a:r>
                        <a:rPr b="0" sz="900">
                          <a:solidFill>
                            <a:srgbClr val="404040"/>
                          </a:solidFill>
                        </a:rPr>
                        <a:t>9</a:t>
                      </a:r>
                    </a:p>
                  </a:txBody>
                  <a:tcPr>
                    <a:solidFill>
                      <a:srgbClr val="BDD7EE"/>
                    </a:solidFill>
                  </a:tcPr>
                </a:tc>
                <a:tc>
                  <a:txBody>
                    <a:bodyPr wrap="square"/>
                    <a:lstStyle/>
                    <a:p>
                      <a:pPr algn="ctr"/>
                      <a:r>
                        <a:rPr b="0" sz="900">
                          <a:solidFill>
                            <a:srgbClr val="404040"/>
                          </a:solidFill>
                        </a:rPr>
                        <a:t>3</a:t>
                      </a:r>
                    </a:p>
                  </a:txBody>
                  <a:tcPr>
                    <a:solidFill>
                      <a:srgbClr val="BDD7EE"/>
                    </a:solidFill>
                  </a:tcPr>
                </a:tc>
                <a:tc>
                  <a:txBody>
                    <a:bodyPr wrap="square"/>
                    <a:lstStyle/>
                    <a:p>
                      <a:pPr algn="ctr"/>
                      <a:r>
                        <a:rPr b="0" sz="900">
                          <a:solidFill>
                            <a:srgbClr val="404040"/>
                          </a:solidFill>
                        </a:rPr>
                        <a:t>3</a:t>
                      </a:r>
                    </a:p>
                  </a:txBody>
                  <a:tcPr>
                    <a:solidFill>
                      <a:srgbClr val="BDD7EE"/>
                    </a:solidFill>
                  </a:tcPr>
                </a:tc>
                <a:tc>
                  <a:txBody>
                    <a:bodyPr wrap="square"/>
                    <a:lstStyle/>
                    <a:p>
                      <a:pPr algn="ctr"/>
                      <a:r>
                        <a:rPr b="0" sz="900">
                          <a:solidFill>
                            <a:srgbClr val="404040"/>
                          </a:solidFill>
                        </a:rPr>
                        <a:t>3</a:t>
                      </a:r>
                    </a:p>
                  </a:txBody>
                  <a:tcPr>
                    <a:solidFill>
                      <a:srgbClr val="BDD7EE"/>
                    </a:solidFill>
                  </a:tcPr>
                </a:tc>
                <a:tc>
                  <a:txBody>
                    <a:bodyPr wrap="square"/>
                    <a:lstStyle/>
                    <a:p>
                      <a:pPr algn="ctr"/>
                      <a:r>
                        <a:rPr b="0" sz="900">
                          <a:solidFill>
                            <a:srgbClr val="404040"/>
                          </a:solidFill>
                        </a:rPr>
                        <a:t>3</a:t>
                      </a:r>
                    </a:p>
                  </a:txBody>
                  <a:tcPr>
                    <a:solidFill>
                      <a:srgbClr val="BDD7EE"/>
                    </a:solidFill>
                  </a:tcPr>
                </a:tc>
              </a:tr>
              <a:tr h="404446">
                <a:tc>
                  <a:txBody>
                    <a:bodyPr wrap="square"/>
                    <a:lstStyle/>
                    <a:p>
                      <a:pPr algn="l"/>
                      <a:r>
                        <a:rPr b="0" sz="900">
                          <a:solidFill>
                            <a:srgbClr val="404040"/>
                          </a:solidFill>
                        </a:rPr>
                        <a:t>h_control</a:t>
                      </a:r>
                    </a:p>
                  </a:txBody>
                  <a:tcPr>
                    <a:solidFill>
                      <a:srgbClr val="FFFFFF"/>
                    </a:solidFill>
                  </a:tcPr>
                </a:tc>
                <a:tc>
                  <a:txBody>
                    <a:bodyPr wrap="square"/>
                    <a:lstStyle/>
                    <a:p>
                      <a:pPr algn="ctr"/>
                      <a:r>
                        <a:rPr b="0" sz="900">
                          <a:solidFill>
                            <a:srgbClr val="404040"/>
                          </a:solidFill>
                        </a:rPr>
                        <a:t>70</a:t>
                      </a:r>
                    </a:p>
                  </a:txBody>
                  <a:tcPr>
                    <a:solidFill>
                      <a:srgbClr val="FFFFFF"/>
                    </a:solidFill>
                  </a:tcPr>
                </a:tc>
                <a:tc>
                  <a:txBody>
                    <a:bodyPr wrap="square"/>
                    <a:lstStyle/>
                    <a:p>
                      <a:pPr algn="ctr"/>
                      <a:r>
                        <a:rPr b="0" sz="900">
                          <a:solidFill>
                            <a:srgbClr val="404040"/>
                          </a:solidFill>
                        </a:rPr>
                        <a:t>51</a:t>
                      </a:r>
                    </a:p>
                  </a:txBody>
                  <a:tcPr>
                    <a:solidFill>
                      <a:srgbClr val="FFFFFF"/>
                    </a:solidFill>
                  </a:tcPr>
                </a:tc>
                <a:tc>
                  <a:txBody>
                    <a:bodyPr wrap="square"/>
                    <a:lstStyle/>
                    <a:p>
                      <a:pPr algn="ctr"/>
                      <a:r>
                        <a:rPr b="0" sz="900">
                          <a:solidFill>
                            <a:srgbClr val="404040"/>
                          </a:solidFill>
                        </a:rPr>
                        <a:t>51</a:t>
                      </a:r>
                    </a:p>
                  </a:txBody>
                  <a:tcPr>
                    <a:solidFill>
                      <a:srgbClr val="FFFFFF"/>
                    </a:solidFill>
                  </a:tcPr>
                </a:tc>
                <a:tc>
                  <a:txBody>
                    <a:bodyPr wrap="square"/>
                    <a:lstStyle/>
                    <a:p>
                      <a:pPr algn="ctr"/>
                      <a:r>
                        <a:rPr b="0" sz="900">
                          <a:solidFill>
                            <a:srgbClr val="404040"/>
                          </a:solidFill>
                        </a:rPr>
                        <a:t>51</a:t>
                      </a:r>
                    </a:p>
                  </a:txBody>
                  <a:tcPr>
                    <a:solidFill>
                      <a:srgbClr val="FFFFFF"/>
                    </a:solidFill>
                  </a:tcPr>
                </a:tc>
                <a:tc>
                  <a:txBody>
                    <a:bodyPr wrap="square"/>
                    <a:lstStyle/>
                    <a:p>
                      <a:pPr algn="ctr"/>
                      <a:r>
                        <a:rPr b="0" sz="900">
                          <a:solidFill>
                            <a:srgbClr val="404040"/>
                          </a:solidFill>
                        </a:rPr>
                        <a:t>51</a:t>
                      </a:r>
                    </a:p>
                  </a:txBody>
                  <a:tcPr>
                    <a:solidFill>
                      <a:srgbClr val="FFFFFF"/>
                    </a:solidFill>
                  </a:tcPr>
                </a:tc>
              </a:tr>
              <a:tr h="404446">
                <a:tc>
                  <a:txBody>
                    <a:bodyPr wrap="square"/>
                    <a:lstStyle/>
                    <a:p>
                      <a:pPr algn="l"/>
                      <a:r>
                        <a:rPr b="0" sz="900">
                          <a:solidFill>
                            <a:srgbClr val="404040"/>
                          </a:solidFill>
                        </a:rPr>
                        <a:t>h_esp_1ra</a:t>
                      </a:r>
                    </a:p>
                  </a:txBody>
                  <a:tcPr>
                    <a:solidFill>
                      <a:srgbClr val="BDD7EE"/>
                    </a:solidFill>
                  </a:tcPr>
                </a:tc>
                <a:tc>
                  <a:txBody>
                    <a:bodyPr wrap="square"/>
                    <a:lstStyle/>
                    <a:p>
                      <a:pPr algn="ctr"/>
                      <a:r>
                        <a:rPr b="0" sz="900">
                          <a:solidFill>
                            <a:srgbClr val="404040"/>
                          </a:solidFill>
                        </a:rPr>
                        <a:t>16</a:t>
                      </a:r>
                    </a:p>
                  </a:txBody>
                  <a:tcPr>
                    <a:solidFill>
                      <a:srgbClr val="BDD7EE"/>
                    </a:solidFill>
                  </a:tcPr>
                </a:tc>
                <a:tc>
                  <a:txBody>
                    <a:bodyPr wrap="square"/>
                    <a:lstStyle/>
                    <a:p>
                      <a:pPr algn="ctr"/>
                      <a:r>
                        <a:rPr b="0" sz="900">
                          <a:solidFill>
                            <a:srgbClr val="404040"/>
                          </a:solidFill>
                        </a:rPr>
                        <a:t>16</a:t>
                      </a:r>
                    </a:p>
                  </a:txBody>
                  <a:tcPr>
                    <a:solidFill>
                      <a:srgbClr val="BDD7EE"/>
                    </a:solidFill>
                  </a:tcPr>
                </a:tc>
                <a:tc>
                  <a:txBody>
                    <a:bodyPr wrap="square"/>
                    <a:lstStyle/>
                    <a:p>
                      <a:pPr algn="ctr"/>
                      <a:r>
                        <a:rPr b="0" sz="900">
                          <a:solidFill>
                            <a:srgbClr val="404040"/>
                          </a:solidFill>
                        </a:rPr>
                        <a:t>16</a:t>
                      </a:r>
                    </a:p>
                  </a:txBody>
                  <a:tcPr>
                    <a:solidFill>
                      <a:srgbClr val="BDD7EE"/>
                    </a:solidFill>
                  </a:tcPr>
                </a:tc>
                <a:tc>
                  <a:txBody>
                    <a:bodyPr wrap="square"/>
                    <a:lstStyle/>
                    <a:p>
                      <a:pPr algn="ctr"/>
                      <a:r>
                        <a:rPr b="0" sz="900">
                          <a:solidFill>
                            <a:srgbClr val="404040"/>
                          </a:solidFill>
                        </a:rPr>
                        <a:t>16</a:t>
                      </a:r>
                    </a:p>
                  </a:txBody>
                  <a:tcPr>
                    <a:solidFill>
                      <a:srgbClr val="BDD7EE"/>
                    </a:solidFill>
                  </a:tcPr>
                </a:tc>
                <a:tc>
                  <a:txBody>
                    <a:bodyPr wrap="square"/>
                    <a:lstStyle/>
                    <a:p>
                      <a:pPr algn="ctr"/>
                      <a:r>
                        <a:rPr b="0" sz="900">
                          <a:solidFill>
                            <a:srgbClr val="404040"/>
                          </a:solidFill>
                        </a:rPr>
                        <a:t>16</a:t>
                      </a:r>
                    </a:p>
                  </a:txBody>
                  <a:tcPr>
                    <a:solidFill>
                      <a:srgbClr val="BDD7EE"/>
                    </a:solidFill>
                  </a:tcPr>
                </a:tc>
              </a:tr>
              <a:tr h="404446">
                <a:tc>
                  <a:txBody>
                    <a:bodyPr wrap="square"/>
                    <a:lstStyle/>
                    <a:p>
                      <a:pPr algn="l"/>
                      <a:r>
                        <a:rPr b="0" sz="900">
                          <a:solidFill>
                            <a:srgbClr val="404040"/>
                          </a:solidFill>
                        </a:rPr>
                        <a:t>agentes</a:t>
                      </a:r>
                    </a:p>
                  </a:txBody>
                  <a:tcPr>
                    <a:solidFill>
                      <a:srgbClr val="FFFFFF"/>
                    </a:solidFill>
                  </a:tcPr>
                </a:tc>
                <a:tc>
                  <a:txBody>
                    <a:bodyPr wrap="square"/>
                    <a:lstStyle/>
                    <a:p>
                      <a:pPr algn="ctr"/>
                      <a:r>
                        <a:rPr b="0" sz="900">
                          <a:solidFill>
                            <a:srgbClr val="404040"/>
                          </a:solidFill>
                        </a:rPr>
                        <a:t>1</a:t>
                      </a:r>
                    </a:p>
                  </a:txBody>
                  <a:tcPr>
                    <a:solidFill>
                      <a:srgbClr val="FFFFFF"/>
                    </a:solidFill>
                  </a:tcPr>
                </a:tc>
                <a:tc>
                  <a:txBody>
                    <a:bodyPr wrap="square"/>
                    <a:lstStyle/>
                    <a:p>
                      <a:pPr algn="ctr"/>
                      <a:r>
                        <a:rPr b="0" sz="900">
                          <a:solidFill>
                            <a:srgbClr val="404040"/>
                          </a:solidFill>
                        </a:rPr>
                        <a:t>1</a:t>
                      </a:r>
                    </a:p>
                  </a:txBody>
                  <a:tcPr>
                    <a:solidFill>
                      <a:srgbClr val="FFFFFF"/>
                    </a:solidFill>
                  </a:tcPr>
                </a:tc>
                <a:tc>
                  <a:txBody>
                    <a:bodyPr wrap="square"/>
                    <a:lstStyle/>
                    <a:p>
                      <a:pPr algn="ctr"/>
                      <a:r>
                        <a:rPr b="0" sz="900">
                          <a:solidFill>
                            <a:srgbClr val="404040"/>
                          </a:solidFill>
                        </a:rPr>
                        <a:t>1</a:t>
                      </a:r>
                    </a:p>
                  </a:txBody>
                  <a:tcPr>
                    <a:solidFill>
                      <a:srgbClr val="FFFFFF"/>
                    </a:solidFill>
                  </a:tcPr>
                </a:tc>
                <a:tc>
                  <a:txBody>
                    <a:bodyPr wrap="square"/>
                    <a:lstStyle/>
                    <a:p>
                      <a:pPr algn="ctr"/>
                      <a:r>
                        <a:rPr b="0" sz="900">
                          <a:solidFill>
                            <a:srgbClr val="404040"/>
                          </a:solidFill>
                        </a:rPr>
                        <a:t>1</a:t>
                      </a:r>
                    </a:p>
                  </a:txBody>
                  <a:tcPr>
                    <a:solidFill>
                      <a:srgbClr val="FFFFFF"/>
                    </a:solidFill>
                  </a:tcPr>
                </a:tc>
                <a:tc>
                  <a:txBody>
                    <a:bodyPr wrap="square"/>
                    <a:lstStyle/>
                    <a:p>
                      <a:pPr algn="ctr"/>
                      <a:r>
                        <a:rPr b="0" sz="900">
                          <a:solidFill>
                            <a:srgbClr val="404040"/>
                          </a:solidFill>
                        </a:rPr>
                        <a:t>1</a:t>
                      </a:r>
                    </a:p>
                  </a:txBody>
                  <a:tcPr>
                    <a:solidFill>
                      <a:srgbClr val="FFFFFF"/>
                    </a:solidFill>
                  </a:tcPr>
                </a:tc>
              </a:tr>
              <a:tr h="404446">
                <a:tc>
                  <a:txBody>
                    <a:bodyPr wrap="square"/>
                    <a:lstStyle/>
                    <a:p>
                      <a:pPr algn="l"/>
                      <a:r>
                        <a:rPr b="0" sz="900">
                          <a:solidFill>
                            <a:srgbClr val="404040"/>
                          </a:solidFill>
                        </a:rPr>
                        <a:t>matronas</a:t>
                      </a:r>
                    </a:p>
                  </a:txBody>
                  <a:tcPr>
                    <a:solidFill>
                      <a:srgbClr val="BDD7EE"/>
                    </a:solidFill>
                  </a:tcPr>
                </a:tc>
                <a:tc>
                  <a:txBody>
                    <a:bodyPr wrap="square"/>
                    <a:lstStyle/>
                    <a:p>
                      <a:pPr algn="ctr"/>
                      <a:r>
                        <a:rPr b="0" sz="900">
                          <a:solidFill>
                            <a:srgbClr val="404040"/>
                          </a:solidFill>
                        </a:rPr>
                        <a:t>2</a:t>
                      </a:r>
                    </a:p>
                  </a:txBody>
                  <a:tcPr>
                    <a:solidFill>
                      <a:srgbClr val="BDD7EE"/>
                    </a:solidFill>
                  </a:tcPr>
                </a:tc>
                <a:tc>
                  <a:txBody>
                    <a:bodyPr wrap="square"/>
                    <a:lstStyle/>
                    <a:p>
                      <a:pPr algn="ctr"/>
                      <a:r>
                        <a:rPr b="0" sz="900">
                          <a:solidFill>
                            <a:srgbClr val="404040"/>
                          </a:solidFill>
                        </a:rPr>
                        <a:t>2</a:t>
                      </a:r>
                    </a:p>
                  </a:txBody>
                  <a:tcPr>
                    <a:solidFill>
                      <a:srgbClr val="BDD7EE"/>
                    </a:solidFill>
                  </a:tcPr>
                </a:tc>
                <a:tc>
                  <a:txBody>
                    <a:bodyPr wrap="square"/>
                    <a:lstStyle/>
                    <a:p>
                      <a:pPr algn="ctr"/>
                      <a:r>
                        <a:rPr b="0" sz="900">
                          <a:solidFill>
                            <a:srgbClr val="404040"/>
                          </a:solidFill>
                        </a:rPr>
                        <a:t>2</a:t>
                      </a:r>
                    </a:p>
                  </a:txBody>
                  <a:tcPr>
                    <a:solidFill>
                      <a:srgbClr val="BDD7EE"/>
                    </a:solidFill>
                  </a:tcPr>
                </a:tc>
                <a:tc>
                  <a:txBody>
                    <a:bodyPr wrap="square"/>
                    <a:lstStyle/>
                    <a:p>
                      <a:pPr algn="ctr"/>
                      <a:r>
                        <a:rPr b="0" sz="900">
                          <a:solidFill>
                            <a:srgbClr val="404040"/>
                          </a:solidFill>
                        </a:rPr>
                        <a:t>2</a:t>
                      </a:r>
                    </a:p>
                  </a:txBody>
                  <a:tcPr>
                    <a:solidFill>
                      <a:srgbClr val="BDD7EE"/>
                    </a:solidFill>
                  </a:tcPr>
                </a:tc>
                <a:tc>
                  <a:txBody>
                    <a:bodyPr wrap="square"/>
                    <a:lstStyle/>
                    <a:p>
                      <a:pPr algn="ctr"/>
                      <a:r>
                        <a:rPr b="0" sz="900">
                          <a:solidFill>
                            <a:srgbClr val="404040"/>
                          </a:solidFill>
                        </a:rPr>
                        <a:t>2</a:t>
                      </a:r>
                    </a:p>
                  </a:txBody>
                  <a:tcPr>
                    <a:solidFill>
                      <a:srgbClr val="BDD7EE"/>
                    </a:solidFill>
                  </a:tcPr>
                </a:tc>
              </a:tr>
              <a:tr h="404446">
                <a:tc>
                  <a:txBody>
                    <a:bodyPr wrap="square"/>
                    <a:lstStyle/>
                    <a:p>
                      <a:pPr algn="l"/>
                      <a:r>
                        <a:rPr b="0" sz="900">
                          <a:solidFill>
                            <a:srgbClr val="404040"/>
                          </a:solidFill>
                        </a:rPr>
                        <a:t>pct_bloqueo_1ra</a:t>
                      </a:r>
                    </a:p>
                  </a:txBody>
                  <a:tcPr>
                    <a:solidFill>
                      <a:srgbClr val="FFFFFF"/>
                    </a:solidFill>
                  </a:tcPr>
                </a:tc>
                <a:tc>
                  <a:txBody>
                    <a:bodyPr wrap="square"/>
                    <a:lstStyle/>
                    <a:p>
                      <a:pPr algn="ctr"/>
                      <a:r>
                        <a:rPr b="0" sz="900">
                          <a:solidFill>
                            <a:srgbClr val="378648"/>
                          </a:solidFill>
                        </a:rPr>
                        <a:t>0.050</a:t>
                      </a:r>
                    </a:p>
                  </a:txBody>
                  <a:tcPr>
                    <a:solidFill>
                      <a:srgbClr val="FFFFFF"/>
                    </a:solidFill>
                  </a:tcPr>
                </a:tc>
                <a:tc>
                  <a:txBody>
                    <a:bodyPr wrap="square"/>
                    <a:lstStyle/>
                    <a:p>
                      <a:pPr algn="ctr"/>
                      <a:r>
                        <a:rPr b="0" sz="900">
                          <a:solidFill>
                            <a:srgbClr val="404040"/>
                          </a:solidFill>
                        </a:rPr>
                        <a:t>0.143</a:t>
                      </a:r>
                    </a:p>
                  </a:txBody>
                  <a:tcPr>
                    <a:solidFill>
                      <a:srgbClr val="FFFFFF"/>
                    </a:solidFill>
                  </a:tcPr>
                </a:tc>
                <a:tc>
                  <a:txBody>
                    <a:bodyPr wrap="square"/>
                    <a:lstStyle/>
                    <a:p>
                      <a:pPr algn="ctr"/>
                      <a:r>
                        <a:rPr b="0" sz="900">
                          <a:solidFill>
                            <a:srgbClr val="404040"/>
                          </a:solidFill>
                        </a:rPr>
                        <a:t>0.150</a:t>
                      </a:r>
                    </a:p>
                  </a:txBody>
                  <a:tcPr>
                    <a:solidFill>
                      <a:srgbClr val="FFFFFF"/>
                    </a:solidFill>
                  </a:tcPr>
                </a:tc>
                <a:tc>
                  <a:txBody>
                    <a:bodyPr wrap="square"/>
                    <a:lstStyle/>
                    <a:p>
                      <a:pPr algn="ctr"/>
                      <a:r>
                        <a:rPr b="0" sz="900">
                          <a:solidFill>
                            <a:srgbClr val="404040"/>
                          </a:solidFill>
                        </a:rPr>
                        <a:t>0.151</a:t>
                      </a:r>
                    </a:p>
                  </a:txBody>
                  <a:tcPr>
                    <a:solidFill>
                      <a:srgbClr val="FFFFFF"/>
                    </a:solidFill>
                  </a:tcPr>
                </a:tc>
                <a:tc>
                  <a:txBody>
                    <a:bodyPr wrap="square"/>
                    <a:lstStyle/>
                    <a:p>
                      <a:pPr algn="ctr"/>
                      <a:r>
                        <a:rPr b="0" sz="900">
                          <a:solidFill>
                            <a:srgbClr val="404040"/>
                          </a:solidFill>
                        </a:rPr>
                        <a:t>0.150</a:t>
                      </a:r>
                    </a:p>
                  </a:txBody>
                  <a:tcPr>
                    <a:solidFill>
                      <a:srgbClr val="FFFFFF"/>
                    </a:solidFill>
                  </a:tcPr>
                </a:tc>
              </a:tr>
              <a:tr h="404446">
                <a:tc>
                  <a:txBody>
                    <a:bodyPr wrap="square"/>
                    <a:lstStyle/>
                    <a:p>
                      <a:pPr algn="l"/>
                      <a:r>
                        <a:rPr b="0" sz="900">
                          <a:solidFill>
                            <a:srgbClr val="404040"/>
                          </a:solidFill>
                        </a:rPr>
                        <a:t>pct_bloqueo_post</a:t>
                      </a:r>
                    </a:p>
                  </a:txBody>
                  <a:tcPr>
                    <a:solidFill>
                      <a:srgbClr val="BDD7EE"/>
                    </a:solidFill>
                  </a:tcPr>
                </a:tc>
                <a:tc>
                  <a:txBody>
                    <a:bodyPr wrap="square"/>
                    <a:lstStyle/>
                    <a:p>
                      <a:pPr algn="ctr"/>
                      <a:r>
                        <a:rPr b="0" sz="900">
                          <a:solidFill>
                            <a:srgbClr val="378648"/>
                          </a:solidFill>
                        </a:rPr>
                        <a:t>0.077</a:t>
                      </a:r>
                    </a:p>
                  </a:txBody>
                  <a:tcPr>
                    <a:solidFill>
                      <a:srgbClr val="BDD7EE"/>
                    </a:solidFill>
                  </a:tcPr>
                </a:tc>
                <a:tc>
                  <a:txBody>
                    <a:bodyPr wrap="square"/>
                    <a:lstStyle/>
                    <a:p>
                      <a:pPr algn="ctr"/>
                      <a:r>
                        <a:rPr b="0" sz="900">
                          <a:solidFill>
                            <a:srgbClr val="404040"/>
                          </a:solidFill>
                        </a:rPr>
                        <a:t>0.103</a:t>
                      </a:r>
                    </a:p>
                  </a:txBody>
                  <a:tcPr>
                    <a:solidFill>
                      <a:srgbClr val="BDD7EE"/>
                    </a:solidFill>
                  </a:tcPr>
                </a:tc>
                <a:tc>
                  <a:txBody>
                    <a:bodyPr wrap="square"/>
                    <a:lstStyle/>
                    <a:p>
                      <a:pPr algn="ctr"/>
                      <a:r>
                        <a:rPr b="0" sz="900">
                          <a:solidFill>
                            <a:srgbClr val="404040"/>
                          </a:solidFill>
                        </a:rPr>
                        <a:t>0.105</a:t>
                      </a:r>
                    </a:p>
                  </a:txBody>
                  <a:tcPr>
                    <a:solidFill>
                      <a:srgbClr val="BDD7EE"/>
                    </a:solidFill>
                  </a:tcPr>
                </a:tc>
                <a:tc>
                  <a:txBody>
                    <a:bodyPr wrap="square"/>
                    <a:lstStyle/>
                    <a:p>
                      <a:pPr algn="ctr"/>
                      <a:r>
                        <a:rPr b="0" sz="900">
                          <a:solidFill>
                            <a:srgbClr val="404040"/>
                          </a:solidFill>
                        </a:rPr>
                        <a:t>0.099</a:t>
                      </a:r>
                    </a:p>
                  </a:txBody>
                  <a:tcPr>
                    <a:solidFill>
                      <a:srgbClr val="BDD7EE"/>
                    </a:solidFill>
                  </a:tcPr>
                </a:tc>
                <a:tc>
                  <a:txBody>
                    <a:bodyPr wrap="square"/>
                    <a:lstStyle/>
                    <a:p>
                      <a:pPr algn="ctr"/>
                      <a:r>
                        <a:rPr b="0" sz="900">
                          <a:solidFill>
                            <a:srgbClr val="404040"/>
                          </a:solidFill>
                        </a:rPr>
                        <a:t>0.105</a:t>
                      </a:r>
                    </a:p>
                  </a:txBody>
                  <a:tcPr>
                    <a:solidFill>
                      <a:srgbClr val="BDD7EE"/>
                    </a:solidFill>
                  </a:tcPr>
                </a:tc>
              </a:tr>
              <a:tr h="404446">
                <a:tc>
                  <a:txBody>
                    <a:bodyPr wrap="square"/>
                    <a:lstStyle/>
                    <a:p>
                      <a:pPr algn="l"/>
                      <a:r>
                        <a:rPr b="0" sz="900">
                          <a:solidFill>
                            <a:srgbClr val="404040"/>
                          </a:solidFill>
                        </a:rPr>
                        <a:t>pct_vacias</a:t>
                      </a:r>
                    </a:p>
                  </a:txBody>
                  <a:tcPr>
                    <a:solidFill>
                      <a:srgbClr val="FFFFFF"/>
                    </a:solidFill>
                  </a:tcPr>
                </a:tc>
                <a:tc>
                  <a:txBody>
                    <a:bodyPr wrap="square"/>
                    <a:lstStyle/>
                    <a:p>
                      <a:pPr algn="ctr"/>
                      <a:r>
                        <a:rPr b="0" sz="900">
                          <a:solidFill>
                            <a:srgbClr val="378648"/>
                          </a:solidFill>
                        </a:rPr>
                        <a:t>0.050</a:t>
                      </a:r>
                    </a:p>
                  </a:txBody>
                  <a:tcPr>
                    <a:solidFill>
                      <a:srgbClr val="FFFFFF"/>
                    </a:solidFill>
                  </a:tcPr>
                </a:tc>
                <a:tc>
                  <a:txBody>
                    <a:bodyPr wrap="square"/>
                    <a:lstStyle/>
                    <a:p>
                      <a:pPr algn="ctr"/>
                      <a:r>
                        <a:rPr b="0" sz="900">
                          <a:solidFill>
                            <a:srgbClr val="404040"/>
                          </a:solidFill>
                        </a:rPr>
                        <a:t>0.159</a:t>
                      </a:r>
                    </a:p>
                  </a:txBody>
                  <a:tcPr>
                    <a:solidFill>
                      <a:srgbClr val="FFFFFF"/>
                    </a:solidFill>
                  </a:tcPr>
                </a:tc>
                <a:tc>
                  <a:txBody>
                    <a:bodyPr wrap="square"/>
                    <a:lstStyle/>
                    <a:p>
                      <a:pPr algn="ctr"/>
                      <a:r>
                        <a:rPr b="0" sz="900">
                          <a:solidFill>
                            <a:srgbClr val="404040"/>
                          </a:solidFill>
                        </a:rPr>
                        <a:t>0.149</a:t>
                      </a:r>
                    </a:p>
                  </a:txBody>
                  <a:tcPr>
                    <a:solidFill>
                      <a:srgbClr val="FFFFFF"/>
                    </a:solidFill>
                  </a:tcPr>
                </a:tc>
                <a:tc>
                  <a:txBody>
                    <a:bodyPr wrap="square"/>
                    <a:lstStyle/>
                    <a:p>
                      <a:pPr algn="ctr"/>
                      <a:r>
                        <a:rPr b="0" sz="900">
                          <a:solidFill>
                            <a:srgbClr val="404040"/>
                          </a:solidFill>
                        </a:rPr>
                        <a:t>0.149</a:t>
                      </a:r>
                    </a:p>
                  </a:txBody>
                  <a:tcPr>
                    <a:solidFill>
                      <a:srgbClr val="FFFFFF"/>
                    </a:solidFill>
                  </a:tcPr>
                </a:tc>
                <a:tc>
                  <a:txBody>
                    <a:bodyPr wrap="square"/>
                    <a:lstStyle/>
                    <a:p>
                      <a:pPr algn="ctr"/>
                      <a:r>
                        <a:rPr b="0" sz="900">
                          <a:solidFill>
                            <a:srgbClr val="404040"/>
                          </a:solidFill>
                        </a:rPr>
                        <a:t>0.149</a:t>
                      </a:r>
                    </a:p>
                  </a:txBody>
                  <a:tcPr>
                    <a:solidFill>
                      <a:srgbClr val="FFFFFF"/>
                    </a:solidFill>
                  </a:tcPr>
                </a:tc>
              </a:tr>
              <a:tr h="404448">
                <a:tc>
                  <a:txBody>
                    <a:bodyPr wrap="square"/>
                    <a:lstStyle/>
                    <a:p>
                      <a:pPr algn="l"/>
                      <a:r>
                        <a:rPr b="0" sz="900">
                          <a:solidFill>
                            <a:srgbClr val="404040"/>
                          </a:solidFill>
                        </a:rPr>
                        <a:t>pct_no_cont</a:t>
                      </a:r>
                    </a:p>
                  </a:txBody>
                  <a:tcPr>
                    <a:solidFill>
                      <a:srgbClr val="BDD7EE"/>
                    </a:solidFill>
                  </a:tcPr>
                </a:tc>
                <a:tc>
                  <a:txBody>
                    <a:bodyPr wrap="square"/>
                    <a:lstStyle/>
                    <a:p>
                      <a:pPr algn="ctr"/>
                      <a:r>
                        <a:rPr b="0" sz="900">
                          <a:solidFill>
                            <a:srgbClr val="378648"/>
                          </a:solidFill>
                        </a:rPr>
                        <a:t>0.050</a:t>
                      </a:r>
                    </a:p>
                  </a:txBody>
                  <a:tcPr>
                    <a:solidFill>
                      <a:srgbClr val="BDD7EE"/>
                    </a:solidFill>
                  </a:tcPr>
                </a:tc>
                <a:tc>
                  <a:txBody>
                    <a:bodyPr wrap="square"/>
                    <a:lstStyle/>
                    <a:p>
                      <a:pPr algn="ctr"/>
                      <a:r>
                        <a:rPr b="0" sz="900">
                          <a:solidFill>
                            <a:srgbClr val="404040"/>
                          </a:solidFill>
                        </a:rPr>
                        <a:t>0.059</a:t>
                      </a:r>
                    </a:p>
                  </a:txBody>
                  <a:tcPr>
                    <a:solidFill>
                      <a:srgbClr val="BDD7EE"/>
                    </a:solidFill>
                  </a:tcPr>
                </a:tc>
                <a:tc>
                  <a:txBody>
                    <a:bodyPr wrap="square"/>
                    <a:lstStyle/>
                    <a:p>
                      <a:pPr algn="ctr"/>
                      <a:r>
                        <a:rPr b="0" sz="900">
                          <a:solidFill>
                            <a:srgbClr val="404040"/>
                          </a:solidFill>
                        </a:rPr>
                        <a:t>0.054</a:t>
                      </a:r>
                    </a:p>
                  </a:txBody>
                  <a:tcPr>
                    <a:solidFill>
                      <a:srgbClr val="BDD7EE"/>
                    </a:solidFill>
                  </a:tcPr>
                </a:tc>
                <a:tc>
                  <a:txBody>
                    <a:bodyPr wrap="square"/>
                    <a:lstStyle/>
                    <a:p>
                      <a:pPr algn="ctr"/>
                      <a:r>
                        <a:rPr b="0" sz="900">
                          <a:solidFill>
                            <a:srgbClr val="404040"/>
                          </a:solidFill>
                        </a:rPr>
                        <a:t>0.060</a:t>
                      </a:r>
                    </a:p>
                  </a:txBody>
                  <a:tcPr>
                    <a:solidFill>
                      <a:srgbClr val="BDD7EE"/>
                    </a:solidFill>
                  </a:tcPr>
                </a:tc>
                <a:tc>
                  <a:txBody>
                    <a:bodyPr wrap="square"/>
                    <a:lstStyle/>
                    <a:p>
                      <a:pPr algn="ctr"/>
                      <a:r>
                        <a:rPr b="0" sz="900">
                          <a:solidFill>
                            <a:srgbClr val="404040"/>
                          </a:solidFill>
                        </a:rPr>
                        <a:t>0.054</a:t>
                      </a:r>
                    </a:p>
                  </a:txBody>
                  <a:tcPr>
                    <a:solidFill>
                      <a:srgbClr val="BDD7EE"/>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Parámetros Óptimos (Incumbentes) — Gradiente Estocástico M13/M14</a:t>
            </a:r>
          </a:p>
          <a:p>
            <a:pPr algn="l"/>
            <a:r>
              <a:rPr b="0" sz="1300">
                <a:solidFill>
                  <a:srgbClr val="BDD7EE"/>
                </a:solidFill>
              </a:rPr>
              <a:t>Resultados de PC Raúl — max_iter=30</a:t>
            </a:r>
          </a:p>
        </p:txBody>
      </p:sp>
      <p:graphicFrame>
        <p:nvGraphicFramePr>
          <p:cNvPr id="3" name="Table 2"/>
          <p:cNvGraphicFramePr>
            <a:graphicFrameLocks noGrp="1"/>
          </p:cNvGraphicFramePr>
          <p:nvPr/>
        </p:nvGraphicFramePr>
        <p:xfrm>
          <a:off x="1280160" y="1371600"/>
          <a:ext cx="9235440" cy="5212080"/>
        </p:xfrm>
        <a:graphic>
          <a:graphicData uri="http://schemas.openxmlformats.org/drawingml/2006/table">
            <a:tbl>
              <a:tblPr firstRow="1" bandRow="1">
                <a:tableStyleId>{5C22544A-7EE6-4342-B048-85BDC9FD1C3A}</a:tableStyleId>
              </a:tblPr>
              <a:tblGrid>
                <a:gridCol w="3017520"/>
                <a:gridCol w="3108960"/>
                <a:gridCol w="3108960"/>
              </a:tblGrid>
              <a:tr h="400929">
                <a:tc>
                  <a:txBody>
                    <a:bodyPr wrap="square"/>
                    <a:lstStyle/>
                    <a:p>
                      <a:pPr algn="l"/>
                      <a:r>
                        <a:rPr b="1" sz="1100">
                          <a:solidFill>
                            <a:srgbClr val="FFFFFF"/>
                          </a:solidFill>
                        </a:rPr>
                        <a:t>Parámetro</a:t>
                      </a:r>
                    </a:p>
                  </a:txBody>
                  <a:tcPr>
                    <a:solidFill>
                      <a:srgbClr val="1F497D"/>
                    </a:solidFill>
                  </a:tcPr>
                </a:tc>
                <a:tc>
                  <a:txBody>
                    <a:bodyPr wrap="square"/>
                    <a:lstStyle/>
                    <a:p>
                      <a:pPr algn="ctr"/>
                      <a:r>
                        <a:rPr b="1" sz="1100">
                          <a:solidFill>
                            <a:srgbClr val="FFFFFF"/>
                          </a:solidFill>
                        </a:rPr>
                        <a:t>M13 SPSA
(219.38 días, Raúl PC)</a:t>
                      </a:r>
                    </a:p>
                  </a:txBody>
                  <a:tcPr>
                    <a:solidFill>
                      <a:srgbClr val="1F497D"/>
                    </a:solidFill>
                  </a:tcPr>
                </a:tc>
                <a:tc>
                  <a:txBody>
                    <a:bodyPr wrap="square"/>
                    <a:lstStyle/>
                    <a:p>
                      <a:pPr algn="ctr"/>
                      <a:r>
                        <a:rPr b="1" sz="1100">
                          <a:solidFill>
                            <a:srgbClr val="FFFFFF"/>
                          </a:solidFill>
                        </a:rPr>
                        <a:t>M14 ALOE
(270.73 días — sin mejora)</a:t>
                      </a:r>
                    </a:p>
                  </a:txBody>
                  <a:tcPr>
                    <a:solidFill>
                      <a:srgbClr val="1F497D"/>
                    </a:solidFill>
                  </a:tcPr>
                </a:tc>
              </a:tr>
              <a:tr h="400929">
                <a:tc>
                  <a:txBody>
                    <a:bodyPr wrap="square"/>
                    <a:lstStyle/>
                    <a:p>
                      <a:pPr algn="l"/>
                      <a:r>
                        <a:rPr b="0" sz="1000">
                          <a:solidFill>
                            <a:srgbClr val="404040"/>
                          </a:solidFill>
                        </a:rPr>
                        <a:t>cupos_eco_mat</a:t>
                      </a:r>
                    </a:p>
                  </a:txBody>
                  <a:tcPr>
                    <a:solidFill>
                      <a:srgbClr val="FFFFFF"/>
                    </a:solidFill>
                  </a:tcPr>
                </a:tc>
                <a:tc>
                  <a:txBody>
                    <a:bodyPr wrap="square"/>
                    <a:lstStyle/>
                    <a:p>
                      <a:pPr algn="ctr"/>
                      <a:r>
                        <a:rPr b="0" sz="1000">
                          <a:solidFill>
                            <a:srgbClr val="404040"/>
                          </a:solidFill>
                        </a:rPr>
                        <a:t>50</a:t>
                      </a:r>
                    </a:p>
                  </a:txBody>
                  <a:tcPr>
                    <a:solidFill>
                      <a:srgbClr val="FFFFFF"/>
                    </a:solidFill>
                  </a:tcPr>
                </a:tc>
                <a:tc>
                  <a:txBody>
                    <a:bodyPr wrap="square"/>
                    <a:lstStyle/>
                    <a:p>
                      <a:pPr algn="ctr"/>
                      <a:r>
                        <a:rPr b="0" sz="1000">
                          <a:solidFill>
                            <a:srgbClr val="404040"/>
                          </a:solidFill>
                        </a:rPr>
                        <a:t>30</a:t>
                      </a:r>
                    </a:p>
                  </a:txBody>
                  <a:tcPr>
                    <a:solidFill>
                      <a:srgbClr val="FFFFFF"/>
                    </a:solidFill>
                  </a:tcPr>
                </a:tc>
              </a:tr>
              <a:tr h="400929">
                <a:tc>
                  <a:txBody>
                    <a:bodyPr wrap="square"/>
                    <a:lstStyle/>
                    <a:p>
                      <a:pPr algn="l"/>
                      <a:r>
                        <a:rPr b="0" sz="1000">
                          <a:solidFill>
                            <a:srgbClr val="404040"/>
                          </a:solidFill>
                        </a:rPr>
                        <a:t>cupos_eco_ugd</a:t>
                      </a:r>
                    </a:p>
                  </a:txBody>
                  <a:tcPr>
                    <a:solidFill>
                      <a:srgbClr val="BDD7EE"/>
                    </a:solidFill>
                  </a:tcPr>
                </a:tc>
                <a:tc>
                  <a:txBody>
                    <a:bodyPr wrap="square"/>
                    <a:lstStyle/>
                    <a:p>
                      <a:pPr algn="ctr"/>
                      <a:r>
                        <a:rPr b="0" sz="1000">
                          <a:solidFill>
                            <a:srgbClr val="404040"/>
                          </a:solidFill>
                        </a:rPr>
                        <a:t>10</a:t>
                      </a:r>
                    </a:p>
                  </a:txBody>
                  <a:tcPr>
                    <a:solidFill>
                      <a:srgbClr val="BDD7EE"/>
                    </a:solidFill>
                  </a:tcPr>
                </a:tc>
                <a:tc>
                  <a:txBody>
                    <a:bodyPr wrap="square"/>
                    <a:lstStyle/>
                    <a:p>
                      <a:pPr algn="ctr"/>
                      <a:r>
                        <a:rPr b="0" sz="1000">
                          <a:solidFill>
                            <a:srgbClr val="404040"/>
                          </a:solidFill>
                        </a:rPr>
                        <a:t>30</a:t>
                      </a:r>
                    </a:p>
                  </a:txBody>
                  <a:tcPr>
                    <a:solidFill>
                      <a:srgbClr val="BDD7EE"/>
                    </a:solidFill>
                  </a:tcPr>
                </a:tc>
              </a:tr>
              <a:tr h="400929">
                <a:tc>
                  <a:txBody>
                    <a:bodyPr wrap="square"/>
                    <a:lstStyle/>
                    <a:p>
                      <a:pPr algn="l"/>
                      <a:r>
                        <a:rPr b="0" sz="1000">
                          <a:solidFill>
                            <a:srgbClr val="404040"/>
                          </a:solidFill>
                        </a:rPr>
                        <a:t>cupos_lab</a:t>
                      </a:r>
                    </a:p>
                  </a:txBody>
                  <a:tcPr>
                    <a:solidFill>
                      <a:srgbClr val="FFFFFF"/>
                    </a:solidFill>
                  </a:tcPr>
                </a:tc>
                <a:tc>
                  <a:txBody>
                    <a:bodyPr wrap="square"/>
                    <a:lstStyle/>
                    <a:p>
                      <a:pPr algn="ctr"/>
                      <a:r>
                        <a:rPr b="0" sz="1000">
                          <a:solidFill>
                            <a:srgbClr val="404040"/>
                          </a:solidFill>
                        </a:rPr>
                        <a:t>100</a:t>
                      </a:r>
                    </a:p>
                  </a:txBody>
                  <a:tcPr>
                    <a:solidFill>
                      <a:srgbClr val="FFFFFF"/>
                    </a:solidFill>
                  </a:tcPr>
                </a:tc>
                <a:tc>
                  <a:txBody>
                    <a:bodyPr wrap="square"/>
                    <a:lstStyle/>
                    <a:p>
                      <a:pPr algn="ctr"/>
                      <a:r>
                        <a:rPr b="0" sz="1000">
                          <a:solidFill>
                            <a:srgbClr val="404040"/>
                          </a:solidFill>
                        </a:rPr>
                        <a:t>60</a:t>
                      </a:r>
                    </a:p>
                  </a:txBody>
                  <a:tcPr>
                    <a:solidFill>
                      <a:srgbClr val="FFFFFF"/>
                    </a:solidFill>
                  </a:tcPr>
                </a:tc>
              </a:tr>
              <a:tr h="400929">
                <a:tc>
                  <a:txBody>
                    <a:bodyPr wrap="square"/>
                    <a:lstStyle/>
                    <a:p>
                      <a:pPr algn="l"/>
                      <a:r>
                        <a:rPr b="0" sz="1000">
                          <a:solidFill>
                            <a:srgbClr val="404040"/>
                          </a:solidFill>
                        </a:rPr>
                        <a:t>dias_pub</a:t>
                      </a:r>
                    </a:p>
                  </a:txBody>
                  <a:tcPr>
                    <a:solidFill>
                      <a:srgbClr val="BDD7EE"/>
                    </a:solidFill>
                  </a:tcPr>
                </a:tc>
                <a:tc>
                  <a:txBody>
                    <a:bodyPr wrap="square"/>
                    <a:lstStyle/>
                    <a:p>
                      <a:pPr algn="ctr"/>
                      <a:r>
                        <a:rPr b="0" sz="1000">
                          <a:solidFill>
                            <a:srgbClr val="404040"/>
                          </a:solidFill>
                        </a:rPr>
                        <a:t>1</a:t>
                      </a:r>
                    </a:p>
                  </a:txBody>
                  <a:tcPr>
                    <a:solidFill>
                      <a:srgbClr val="BDD7EE"/>
                    </a:solidFill>
                  </a:tcPr>
                </a:tc>
                <a:tc>
                  <a:txBody>
                    <a:bodyPr wrap="square"/>
                    <a:lstStyle/>
                    <a:p>
                      <a:pPr algn="ctr"/>
                      <a:r>
                        <a:rPr b="0" sz="1000">
                          <a:solidFill>
                            <a:srgbClr val="404040"/>
                          </a:solidFill>
                        </a:rPr>
                        <a:t>6</a:t>
                      </a:r>
                    </a:p>
                  </a:txBody>
                  <a:tcPr>
                    <a:solidFill>
                      <a:srgbClr val="BDD7EE"/>
                    </a:solidFill>
                  </a:tcPr>
                </a:tc>
              </a:tr>
              <a:tr h="400929">
                <a:tc>
                  <a:txBody>
                    <a:bodyPr wrap="square"/>
                    <a:lstStyle/>
                    <a:p>
                      <a:pPr algn="l"/>
                      <a:r>
                        <a:rPr b="0" sz="1000">
                          <a:solidFill>
                            <a:srgbClr val="404040"/>
                          </a:solidFill>
                        </a:rPr>
                        <a:t>h_control</a:t>
                      </a:r>
                    </a:p>
                  </a:txBody>
                  <a:tcPr>
                    <a:solidFill>
                      <a:srgbClr val="FFFFFF"/>
                    </a:solidFill>
                  </a:tcPr>
                </a:tc>
                <a:tc>
                  <a:txBody>
                    <a:bodyPr wrap="square"/>
                    <a:lstStyle/>
                    <a:p>
                      <a:pPr algn="ctr"/>
                      <a:r>
                        <a:rPr b="0" sz="1000">
                          <a:solidFill>
                            <a:srgbClr val="404040"/>
                          </a:solidFill>
                        </a:rPr>
                        <a:t>20</a:t>
                      </a:r>
                    </a:p>
                  </a:txBody>
                  <a:tcPr>
                    <a:solidFill>
                      <a:srgbClr val="FFFFFF"/>
                    </a:solidFill>
                  </a:tcPr>
                </a:tc>
                <a:tc>
                  <a:txBody>
                    <a:bodyPr wrap="square"/>
                    <a:lstStyle/>
                    <a:p>
                      <a:pPr algn="ctr"/>
                      <a:r>
                        <a:rPr b="0" sz="1000">
                          <a:solidFill>
                            <a:srgbClr val="404040"/>
                          </a:solidFill>
                        </a:rPr>
                        <a:t>45</a:t>
                      </a:r>
                    </a:p>
                  </a:txBody>
                  <a:tcPr>
                    <a:solidFill>
                      <a:srgbClr val="FFFFFF"/>
                    </a:solidFill>
                  </a:tcPr>
                </a:tc>
              </a:tr>
              <a:tr h="400929">
                <a:tc>
                  <a:txBody>
                    <a:bodyPr wrap="square"/>
                    <a:lstStyle/>
                    <a:p>
                      <a:pPr algn="l"/>
                      <a:r>
                        <a:rPr b="0" sz="1000">
                          <a:solidFill>
                            <a:srgbClr val="404040"/>
                          </a:solidFill>
                        </a:rPr>
                        <a:t>h_esp_1ra</a:t>
                      </a:r>
                    </a:p>
                  </a:txBody>
                  <a:tcPr>
                    <a:solidFill>
                      <a:srgbClr val="BDD7EE"/>
                    </a:solidFill>
                  </a:tcPr>
                </a:tc>
                <a:tc>
                  <a:txBody>
                    <a:bodyPr wrap="square"/>
                    <a:lstStyle/>
                    <a:p>
                      <a:pPr algn="ctr"/>
                      <a:r>
                        <a:rPr b="0" sz="1000">
                          <a:solidFill>
                            <a:srgbClr val="404040"/>
                          </a:solidFill>
                        </a:rPr>
                        <a:t>30</a:t>
                      </a:r>
                    </a:p>
                  </a:txBody>
                  <a:tcPr>
                    <a:solidFill>
                      <a:srgbClr val="BDD7EE"/>
                    </a:solidFill>
                  </a:tcPr>
                </a:tc>
                <a:tc>
                  <a:txBody>
                    <a:bodyPr wrap="square"/>
                    <a:lstStyle/>
                    <a:p>
                      <a:pPr algn="ctr"/>
                      <a:r>
                        <a:rPr b="0" sz="1000">
                          <a:solidFill>
                            <a:srgbClr val="404040"/>
                          </a:solidFill>
                        </a:rPr>
                        <a:t>19</a:t>
                      </a:r>
                    </a:p>
                  </a:txBody>
                  <a:tcPr>
                    <a:solidFill>
                      <a:srgbClr val="BDD7EE"/>
                    </a:solidFill>
                  </a:tcPr>
                </a:tc>
              </a:tr>
              <a:tr h="400929">
                <a:tc>
                  <a:txBody>
                    <a:bodyPr wrap="square"/>
                    <a:lstStyle/>
                    <a:p>
                      <a:pPr algn="l"/>
                      <a:r>
                        <a:rPr b="0" sz="1000">
                          <a:solidFill>
                            <a:srgbClr val="404040"/>
                          </a:solidFill>
                        </a:rPr>
                        <a:t>agentes</a:t>
                      </a:r>
                    </a:p>
                  </a:txBody>
                  <a:tcPr>
                    <a:solidFill>
                      <a:srgbClr val="FFFFFF"/>
                    </a:solidFill>
                  </a:tcPr>
                </a:tc>
                <a:tc>
                  <a:txBody>
                    <a:bodyPr wrap="square"/>
                    <a:lstStyle/>
                    <a:p>
                      <a:pPr algn="ctr"/>
                      <a:r>
                        <a:rPr b="0" sz="1000">
                          <a:solidFill>
                            <a:srgbClr val="404040"/>
                          </a:solidFill>
                        </a:rPr>
                        <a:t>1</a:t>
                      </a:r>
                    </a:p>
                  </a:txBody>
                  <a:tcPr>
                    <a:solidFill>
                      <a:srgbClr val="FFFFFF"/>
                    </a:solidFill>
                  </a:tcPr>
                </a:tc>
                <a:tc>
                  <a:txBody>
                    <a:bodyPr wrap="square"/>
                    <a:lstStyle/>
                    <a:p>
                      <a:pPr algn="ctr"/>
                      <a:r>
                        <a:rPr b="0" sz="1000">
                          <a:solidFill>
                            <a:srgbClr val="404040"/>
                          </a:solidFill>
                        </a:rPr>
                        <a:t>2</a:t>
                      </a:r>
                    </a:p>
                  </a:txBody>
                  <a:tcPr>
                    <a:solidFill>
                      <a:srgbClr val="FFFFFF"/>
                    </a:solidFill>
                  </a:tcPr>
                </a:tc>
              </a:tr>
              <a:tr h="400929">
                <a:tc>
                  <a:txBody>
                    <a:bodyPr wrap="square"/>
                    <a:lstStyle/>
                    <a:p>
                      <a:pPr algn="l"/>
                      <a:r>
                        <a:rPr b="0" sz="1000">
                          <a:solidFill>
                            <a:srgbClr val="404040"/>
                          </a:solidFill>
                        </a:rPr>
                        <a:t>matronas</a:t>
                      </a:r>
                    </a:p>
                  </a:txBody>
                  <a:tcPr>
                    <a:solidFill>
                      <a:srgbClr val="BDD7EE"/>
                    </a:solidFill>
                  </a:tcPr>
                </a:tc>
                <a:tc>
                  <a:txBody>
                    <a:bodyPr wrap="square"/>
                    <a:lstStyle/>
                    <a:p>
                      <a:pPr algn="ctr"/>
                      <a:r>
                        <a:rPr b="0" sz="1000">
                          <a:solidFill>
                            <a:srgbClr val="404040"/>
                          </a:solidFill>
                        </a:rPr>
                        <a:t>1</a:t>
                      </a:r>
                    </a:p>
                  </a:txBody>
                  <a:tcPr>
                    <a:solidFill>
                      <a:srgbClr val="BDD7EE"/>
                    </a:solidFill>
                  </a:tcPr>
                </a:tc>
                <a:tc>
                  <a:txBody>
                    <a:bodyPr wrap="square"/>
                    <a:lstStyle/>
                    <a:p>
                      <a:pPr algn="ctr"/>
                      <a:r>
                        <a:rPr b="0" sz="1000">
                          <a:solidFill>
                            <a:srgbClr val="404040"/>
                          </a:solidFill>
                        </a:rPr>
                        <a:t>2</a:t>
                      </a:r>
                    </a:p>
                  </a:txBody>
                  <a:tcPr>
                    <a:solidFill>
                      <a:srgbClr val="BDD7EE"/>
                    </a:solidFill>
                  </a:tcPr>
                </a:tc>
              </a:tr>
              <a:tr h="400929">
                <a:tc>
                  <a:txBody>
                    <a:bodyPr wrap="square"/>
                    <a:lstStyle/>
                    <a:p>
                      <a:pPr algn="l"/>
                      <a:r>
                        <a:rPr b="0" sz="1000">
                          <a:solidFill>
                            <a:srgbClr val="404040"/>
                          </a:solidFill>
                        </a:rPr>
                        <a:t>pct_bloqueo_1ra</a:t>
                      </a:r>
                    </a:p>
                  </a:txBody>
                  <a:tcPr>
                    <a:solidFill>
                      <a:srgbClr val="FFFFFF"/>
                    </a:solidFill>
                  </a:tcPr>
                </a:tc>
                <a:tc>
                  <a:txBody>
                    <a:bodyPr wrap="square"/>
                    <a:lstStyle/>
                    <a:p>
                      <a:pPr algn="ctr"/>
                      <a:r>
                        <a:rPr b="0" sz="1000">
                          <a:solidFill>
                            <a:srgbClr val="404040"/>
                          </a:solidFill>
                        </a:rPr>
                        <a:t>0.050</a:t>
                      </a:r>
                    </a:p>
                  </a:txBody>
                  <a:tcPr>
                    <a:solidFill>
                      <a:srgbClr val="FFFFFF"/>
                    </a:solidFill>
                  </a:tcPr>
                </a:tc>
                <a:tc>
                  <a:txBody>
                    <a:bodyPr wrap="square"/>
                    <a:lstStyle/>
                    <a:p>
                      <a:pPr algn="ctr"/>
                      <a:r>
                        <a:rPr b="0" sz="1000">
                          <a:solidFill>
                            <a:srgbClr val="C55A11"/>
                          </a:solidFill>
                        </a:rPr>
                        <a:t>0.275</a:t>
                      </a:r>
                    </a:p>
                  </a:txBody>
                  <a:tcPr>
                    <a:solidFill>
                      <a:srgbClr val="FFFFFF"/>
                    </a:solidFill>
                  </a:tcPr>
                </a:tc>
              </a:tr>
              <a:tr h="400929">
                <a:tc>
                  <a:txBody>
                    <a:bodyPr wrap="square"/>
                    <a:lstStyle/>
                    <a:p>
                      <a:pPr algn="l"/>
                      <a:r>
                        <a:rPr b="0" sz="1000">
                          <a:solidFill>
                            <a:srgbClr val="404040"/>
                          </a:solidFill>
                        </a:rPr>
                        <a:t>pct_bloqueo_post</a:t>
                      </a:r>
                    </a:p>
                  </a:txBody>
                  <a:tcPr>
                    <a:solidFill>
                      <a:srgbClr val="BDD7EE"/>
                    </a:solidFill>
                  </a:tcPr>
                </a:tc>
                <a:tc>
                  <a:txBody>
                    <a:bodyPr wrap="square"/>
                    <a:lstStyle/>
                    <a:p>
                      <a:pPr algn="ctr"/>
                      <a:r>
                        <a:rPr b="0" sz="1000">
                          <a:solidFill>
                            <a:srgbClr val="404040"/>
                          </a:solidFill>
                        </a:rPr>
                        <a:t>0.050</a:t>
                      </a:r>
                    </a:p>
                  </a:txBody>
                  <a:tcPr>
                    <a:solidFill>
                      <a:srgbClr val="BDD7EE"/>
                    </a:solidFill>
                  </a:tcPr>
                </a:tc>
                <a:tc>
                  <a:txBody>
                    <a:bodyPr wrap="square"/>
                    <a:lstStyle/>
                    <a:p>
                      <a:pPr algn="ctr"/>
                      <a:r>
                        <a:rPr b="0" sz="1000">
                          <a:solidFill>
                            <a:srgbClr val="C55A11"/>
                          </a:solidFill>
                        </a:rPr>
                        <a:t>0.275</a:t>
                      </a:r>
                    </a:p>
                  </a:txBody>
                  <a:tcPr>
                    <a:solidFill>
                      <a:srgbClr val="BDD7EE"/>
                    </a:solidFill>
                  </a:tcPr>
                </a:tc>
              </a:tr>
              <a:tr h="400929">
                <a:tc>
                  <a:txBody>
                    <a:bodyPr wrap="square"/>
                    <a:lstStyle/>
                    <a:p>
                      <a:pPr algn="l"/>
                      <a:r>
                        <a:rPr b="0" sz="1000">
                          <a:solidFill>
                            <a:srgbClr val="404040"/>
                          </a:solidFill>
                        </a:rPr>
                        <a:t>pct_vacias</a:t>
                      </a:r>
                    </a:p>
                  </a:txBody>
                  <a:tcPr>
                    <a:solidFill>
                      <a:srgbClr val="FFFFFF"/>
                    </a:solidFill>
                  </a:tcPr>
                </a:tc>
                <a:tc>
                  <a:txBody>
                    <a:bodyPr wrap="square"/>
                    <a:lstStyle/>
                    <a:p>
                      <a:pPr algn="ctr"/>
                      <a:r>
                        <a:rPr b="0" sz="1000">
                          <a:solidFill>
                            <a:srgbClr val="404040"/>
                          </a:solidFill>
                        </a:rPr>
                        <a:t>0.500</a:t>
                      </a:r>
                    </a:p>
                  </a:txBody>
                  <a:tcPr>
                    <a:solidFill>
                      <a:srgbClr val="FFFFFF"/>
                    </a:solidFill>
                  </a:tcPr>
                </a:tc>
                <a:tc>
                  <a:txBody>
                    <a:bodyPr wrap="square"/>
                    <a:lstStyle/>
                    <a:p>
                      <a:pPr algn="ctr"/>
                      <a:r>
                        <a:rPr b="0" sz="1000">
                          <a:solidFill>
                            <a:srgbClr val="C55A11"/>
                          </a:solidFill>
                        </a:rPr>
                        <a:t>0.275</a:t>
                      </a:r>
                    </a:p>
                  </a:txBody>
                  <a:tcPr>
                    <a:solidFill>
                      <a:srgbClr val="FFFFFF"/>
                    </a:solidFill>
                  </a:tcPr>
                </a:tc>
              </a:tr>
              <a:tr h="400932">
                <a:tc>
                  <a:txBody>
                    <a:bodyPr wrap="square"/>
                    <a:lstStyle/>
                    <a:p>
                      <a:pPr algn="l"/>
                      <a:r>
                        <a:rPr b="0" sz="1000">
                          <a:solidFill>
                            <a:srgbClr val="404040"/>
                          </a:solidFill>
                        </a:rPr>
                        <a:t>pct_no_cont</a:t>
                      </a:r>
                    </a:p>
                  </a:txBody>
                  <a:tcPr>
                    <a:solidFill>
                      <a:srgbClr val="BDD7EE"/>
                    </a:solidFill>
                  </a:tcPr>
                </a:tc>
                <a:tc>
                  <a:txBody>
                    <a:bodyPr wrap="square"/>
                    <a:lstStyle/>
                    <a:p>
                      <a:pPr algn="ctr"/>
                      <a:r>
                        <a:rPr b="0" sz="1000">
                          <a:solidFill>
                            <a:srgbClr val="404040"/>
                          </a:solidFill>
                        </a:rPr>
                        <a:t>0.050</a:t>
                      </a:r>
                    </a:p>
                  </a:txBody>
                  <a:tcPr>
                    <a:solidFill>
                      <a:srgbClr val="BDD7EE"/>
                    </a:solidFill>
                  </a:tcPr>
                </a:tc>
                <a:tc>
                  <a:txBody>
                    <a:bodyPr wrap="square"/>
                    <a:lstStyle/>
                    <a:p>
                      <a:pPr algn="ctr"/>
                      <a:r>
                        <a:rPr b="0" sz="1000">
                          <a:solidFill>
                            <a:srgbClr val="C55A11"/>
                          </a:solidFill>
                        </a:rPr>
                        <a:t>0.275</a:t>
                      </a:r>
                    </a:p>
                  </a:txBody>
                  <a:tcPr>
                    <a:solidFill>
                      <a:srgbClr val="BDD7EE"/>
                    </a:solidFill>
                  </a:tcPr>
                </a:tc>
              </a:tr>
            </a:tbl>
          </a:graphicData>
        </a:graphic>
      </p:graphicFrame>
      <p:sp>
        <p:nvSpPr>
          <p:cNvPr id="4" name="TextBox 3"/>
          <p:cNvSpPr txBox="1"/>
          <p:nvPr/>
        </p:nvSpPr>
        <p:spPr>
          <a:xfrm>
            <a:off x="182880" y="6537960"/>
            <a:ext cx="11823192" cy="256032"/>
          </a:xfrm>
          <a:prstGeom prst="rect">
            <a:avLst/>
          </a:prstGeom>
          <a:noFill/>
        </p:spPr>
        <p:txBody>
          <a:bodyPr wrap="none">
            <a:spAutoFit/>
          </a:bodyPr>
          <a:lstStyle/>
          <a:p>
            <a:pPr algn="l"/>
            <a:r>
              <a:rPr b="0" sz="900">
                <a:solidFill>
                  <a:srgbClr val="C55A11"/>
                </a:solidFill>
              </a:rPr>
              <a:t>M14 ALOE: pct_bloqueo=27.5% — convergió a valores altos de bloqueo, no redujo ineficiencia. Algoritmo sensible a ruido elevado y alta dimensión.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Análisis de Incumbentes — Patrones Comunes</a:t>
            </a:r>
          </a:p>
          <a:p>
            <a:pPr algn="l"/>
            <a:r>
              <a:rPr b="0" sz="1300">
                <a:solidFill>
                  <a:srgbClr val="BDD7EE"/>
                </a:solidFill>
              </a:rPr>
              <a:t>¿Qué variables mueven todos los algoritmos?</a:t>
            </a:r>
          </a:p>
        </p:txBody>
      </p:sp>
      <p:sp>
        <p:nvSpPr>
          <p:cNvPr id="3" name="Rectangle 2"/>
          <p:cNvSpPr/>
          <p:nvPr/>
        </p:nvSpPr>
        <p:spPr>
          <a:xfrm>
            <a:off x="320040" y="1389888"/>
            <a:ext cx="64008" cy="5029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98448"/>
            <a:ext cx="11365992" cy="822960"/>
          </a:xfrm>
          <a:prstGeom prst="rect">
            <a:avLst/>
          </a:prstGeom>
          <a:noFill/>
        </p:spPr>
        <p:txBody>
          <a:bodyPr wrap="square">
            <a:spAutoFit/>
          </a:bodyPr>
          <a:lstStyle/>
          <a:p>
            <a:pPr algn="l"/>
            <a:r>
              <a:rPr b="1" sz="1100">
                <a:solidFill>
                  <a:srgbClr val="1F497D"/>
                </a:solidFill>
              </a:rPr>
              <a:t>horas_especialista_1ra = 16 h (máximo)</a:t>
            </a:r>
          </a:p>
          <a:p>
            <a:pPr algn="l"/>
            <a:r>
              <a:rPr b="0" sz="1000">
                <a:solidFill>
                  <a:srgbClr val="404040"/>
                </a:solidFill>
              </a:rPr>
              <a:t>TODOS los módulos con buenos resultados fijan el especialista al máximo.
No es el cuello de botella — la eficiencia de esas horas sí lo es.</a:t>
            </a:r>
          </a:p>
        </p:txBody>
      </p:sp>
      <p:sp>
        <p:nvSpPr>
          <p:cNvPr id="5" name="Rectangle 4"/>
          <p:cNvSpPr/>
          <p:nvPr/>
        </p:nvSpPr>
        <p:spPr>
          <a:xfrm>
            <a:off x="320040" y="2276856"/>
            <a:ext cx="64008" cy="5029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85415"/>
            <a:ext cx="11365992" cy="822960"/>
          </a:xfrm>
          <a:prstGeom prst="rect">
            <a:avLst/>
          </a:prstGeom>
          <a:noFill/>
        </p:spPr>
        <p:txBody>
          <a:bodyPr wrap="square">
            <a:spAutoFit/>
          </a:bodyPr>
          <a:lstStyle/>
          <a:p>
            <a:pPr algn="l"/>
            <a:r>
              <a:rPr b="1" sz="1100">
                <a:solidFill>
                  <a:srgbClr val="1F497D"/>
                </a:solidFill>
              </a:rPr>
              <a:t>pct_bloqueo_1ra → mínimo (~5%)</a:t>
            </a:r>
          </a:p>
          <a:p>
            <a:pPr algn="l"/>
            <a:r>
              <a:rPr b="0" sz="1000">
                <a:solidFill>
                  <a:srgbClr val="404040"/>
                </a:solidFill>
              </a:rPr>
              <a:t>M4–M10 (Bayesianos) y M13 (SPSA) reducen bloqueo de primera consulta al mínimo.
Efecto: capacidad efectiva = 16×(1−0.05)×(1−0.05) = 14.4 h vs baseline 7.7 h.</a:t>
            </a:r>
          </a:p>
        </p:txBody>
      </p:sp>
      <p:sp>
        <p:nvSpPr>
          <p:cNvPr id="7" name="Rectangle 6"/>
          <p:cNvSpPr/>
          <p:nvPr/>
        </p:nvSpPr>
        <p:spPr>
          <a:xfrm>
            <a:off x="320040" y="3163823"/>
            <a:ext cx="64008" cy="5029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3072383"/>
            <a:ext cx="11365992" cy="822960"/>
          </a:xfrm>
          <a:prstGeom prst="rect">
            <a:avLst/>
          </a:prstGeom>
          <a:noFill/>
        </p:spPr>
        <p:txBody>
          <a:bodyPr wrap="square">
            <a:spAutoFit/>
          </a:bodyPr>
          <a:lstStyle/>
          <a:p>
            <a:pPr algn="l"/>
            <a:r>
              <a:rPr b="1" sz="1100">
                <a:solidFill>
                  <a:srgbClr val="1F497D"/>
                </a:solidFill>
              </a:rPr>
              <a:t>pct_consultas_vacias → mínimo (~5%)</a:t>
            </a:r>
          </a:p>
          <a:p>
            <a:pPr algn="l"/>
            <a:r>
              <a:rPr b="0" sz="1000">
                <a:solidFill>
                  <a:srgbClr val="404040"/>
                </a:solidFill>
              </a:rPr>
              <a:t>Misma lógica: eliminar slots vacíos multiplica la capacidad real disponible.</a:t>
            </a:r>
          </a:p>
        </p:txBody>
      </p:sp>
      <p:sp>
        <p:nvSpPr>
          <p:cNvPr id="9" name="Rectangle 8"/>
          <p:cNvSpPr/>
          <p:nvPr/>
        </p:nvSpPr>
        <p:spPr>
          <a:xfrm>
            <a:off x="320040" y="4050791"/>
            <a:ext cx="64008" cy="5029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959351"/>
            <a:ext cx="11365992" cy="822960"/>
          </a:xfrm>
          <a:prstGeom prst="rect">
            <a:avLst/>
          </a:prstGeom>
          <a:noFill/>
        </p:spPr>
        <p:txBody>
          <a:bodyPr wrap="square">
            <a:spAutoFit/>
          </a:bodyPr>
          <a:lstStyle/>
          <a:p>
            <a:pPr algn="l"/>
            <a:r>
              <a:rPr b="1" sz="1100">
                <a:solidFill>
                  <a:srgbClr val="1F497D"/>
                </a:solidFill>
              </a:rPr>
              <a:t>cupos_lab_ugd = 70–100 (alto)</a:t>
            </a:r>
          </a:p>
          <a:p>
            <a:pPr algn="l"/>
            <a:r>
              <a:rPr b="0" sz="1000">
                <a:solidFill>
                  <a:srgbClr val="404040"/>
                </a:solidFill>
              </a:rPr>
              <a:t>Laboratorio no es cuello de botella pero requiere holgura para no bloquear flujo.</a:t>
            </a:r>
          </a:p>
        </p:txBody>
      </p:sp>
      <p:sp>
        <p:nvSpPr>
          <p:cNvPr id="11" name="Rectangle 10"/>
          <p:cNvSpPr/>
          <p:nvPr/>
        </p:nvSpPr>
        <p:spPr>
          <a:xfrm>
            <a:off x="320040" y="4937759"/>
            <a:ext cx="64008" cy="5029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846319"/>
            <a:ext cx="11365992" cy="822960"/>
          </a:xfrm>
          <a:prstGeom prst="rect">
            <a:avLst/>
          </a:prstGeom>
          <a:noFill/>
        </p:spPr>
        <p:txBody>
          <a:bodyPr wrap="square">
            <a:spAutoFit/>
          </a:bodyPr>
          <a:lstStyle/>
          <a:p>
            <a:pPr algn="l"/>
            <a:r>
              <a:rPr b="1" sz="1100">
                <a:solidFill>
                  <a:srgbClr val="1F497D"/>
                </a:solidFill>
              </a:rPr>
              <a:t>M14 ALOE: patrón anómalo</a:t>
            </a:r>
          </a:p>
          <a:p>
            <a:pPr algn="l"/>
            <a:r>
              <a:rPr b="0" sz="1000">
                <a:solidFill>
                  <a:srgbClr val="404040"/>
                </a:solidFill>
              </a:rPr>
              <a:t>pct_bloqueo = 27.5% en todas las variables — convergencia prematura a un punto
de simetría artificial. Algoritmo inadecuado para este espacio de alta dimensión y ruido.</a:t>
            </a:r>
          </a:p>
        </p:txBody>
      </p:sp>
      <p:sp>
        <p:nvSpPr>
          <p:cNvPr id="13" name="Rectangle 12"/>
          <p:cNvSpPr/>
          <p:nvPr/>
        </p:nvSpPr>
        <p:spPr>
          <a:xfrm>
            <a:off x="320040" y="5824727"/>
            <a:ext cx="64008" cy="5029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5733287"/>
            <a:ext cx="11365992" cy="822960"/>
          </a:xfrm>
          <a:prstGeom prst="rect">
            <a:avLst/>
          </a:prstGeom>
          <a:noFill/>
        </p:spPr>
        <p:txBody>
          <a:bodyPr wrap="square">
            <a:spAutoFit/>
          </a:bodyPr>
          <a:lstStyle/>
          <a:p>
            <a:pPr algn="l"/>
            <a:r>
              <a:rPr b="1" sz="1100">
                <a:solidFill>
                  <a:srgbClr val="1F497D"/>
                </a:solidFill>
              </a:rPr>
              <a:t>M11/M12 Trust-Region: sin datos</a:t>
            </a:r>
          </a:p>
          <a:p>
            <a:pPr algn="l"/>
            <a:r>
              <a:rPr b="0" sz="1000">
                <a:solidFill>
                  <a:srgbClr val="404040"/>
                </a:solidFill>
              </a:rPr>
              <a:t>No completaron ninguna iteración tras 4 horas en nube. Requieren ~2h por iteración
(n réplicas adaptativas ~30 por punto). Pendientes de ejecución en entorno más potente.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Gráficas de Convergencia — Módulos Bayesianos Nube (M4, M8, M9, M10)</a:t>
            </a:r>
          </a:p>
        </p:txBody>
      </p:sp>
      <p:pic>
        <p:nvPicPr>
          <p:cNvPr id="3" name="Picture 2" descr="resultado_comparativa_m4.png"/>
          <p:cNvPicPr>
            <a:picLocks noChangeAspect="1"/>
          </p:cNvPicPr>
          <p:nvPr/>
        </p:nvPicPr>
        <p:blipFill>
          <a:blip r:embed="rId2"/>
          <a:stretch>
            <a:fillRect/>
          </a:stretch>
        </p:blipFill>
        <p:spPr>
          <a:xfrm>
            <a:off x="228600" y="1325880"/>
            <a:ext cx="5760720" cy="2697480"/>
          </a:xfrm>
          <a:prstGeom prst="rect">
            <a:avLst/>
          </a:prstGeom>
        </p:spPr>
      </p:pic>
      <p:pic>
        <p:nvPicPr>
          <p:cNvPr id="4" name="Picture 3" descr="resultado_comparativa_m8.png"/>
          <p:cNvPicPr>
            <a:picLocks noChangeAspect="1"/>
          </p:cNvPicPr>
          <p:nvPr/>
        </p:nvPicPr>
        <p:blipFill>
          <a:blip r:embed="rId3"/>
          <a:stretch>
            <a:fillRect/>
          </a:stretch>
        </p:blipFill>
        <p:spPr>
          <a:xfrm>
            <a:off x="6172200" y="1325880"/>
            <a:ext cx="5760720" cy="2697480"/>
          </a:xfrm>
          <a:prstGeom prst="rect">
            <a:avLst/>
          </a:prstGeom>
        </p:spPr>
      </p:pic>
      <p:pic>
        <p:nvPicPr>
          <p:cNvPr id="5" name="Picture 4" descr="resultado_comparativa_m9.png"/>
          <p:cNvPicPr>
            <a:picLocks noChangeAspect="1"/>
          </p:cNvPicPr>
          <p:nvPr/>
        </p:nvPicPr>
        <p:blipFill>
          <a:blip r:embed="rId4"/>
          <a:stretch>
            <a:fillRect/>
          </a:stretch>
        </p:blipFill>
        <p:spPr>
          <a:xfrm>
            <a:off x="228600" y="4069080"/>
            <a:ext cx="5760720" cy="2697480"/>
          </a:xfrm>
          <a:prstGeom prst="rect">
            <a:avLst/>
          </a:prstGeom>
        </p:spPr>
      </p:pic>
      <p:pic>
        <p:nvPicPr>
          <p:cNvPr id="6" name="Picture 5" descr="resultado_comparativa_m10.png"/>
          <p:cNvPicPr>
            <a:picLocks noChangeAspect="1"/>
          </p:cNvPicPr>
          <p:nvPr/>
        </p:nvPicPr>
        <p:blipFill>
          <a:blip r:embed="rId5"/>
          <a:stretch>
            <a:fillRect/>
          </a:stretch>
        </p:blipFill>
        <p:spPr>
          <a:xfrm>
            <a:off x="6172200" y="4069080"/>
            <a:ext cx="5760720" cy="26974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Gráficas de Convergencia — M13 SPSA y M14 ALOE (PC Raúl, max_iter=30)</a:t>
            </a:r>
          </a:p>
        </p:txBody>
      </p:sp>
      <p:pic>
        <p:nvPicPr>
          <p:cNvPr id="3" name="Picture 2" descr="resultado_comparativa_m13.png"/>
          <p:cNvPicPr>
            <a:picLocks noChangeAspect="1"/>
          </p:cNvPicPr>
          <p:nvPr/>
        </p:nvPicPr>
        <p:blipFill>
          <a:blip r:embed="rId2"/>
          <a:stretch>
            <a:fillRect/>
          </a:stretch>
        </p:blipFill>
        <p:spPr>
          <a:xfrm>
            <a:off x="365760" y="1325880"/>
            <a:ext cx="5577840" cy="5212080"/>
          </a:xfrm>
          <a:prstGeom prst="rect">
            <a:avLst/>
          </a:prstGeom>
        </p:spPr>
      </p:pic>
      <p:pic>
        <p:nvPicPr>
          <p:cNvPr id="4" name="Picture 3" descr="resultado_comparativa_m14.png"/>
          <p:cNvPicPr>
            <a:picLocks noChangeAspect="1"/>
          </p:cNvPicPr>
          <p:nvPr/>
        </p:nvPicPr>
        <p:blipFill>
          <a:blip r:embed="rId3"/>
          <a:stretch>
            <a:fillRect/>
          </a:stretch>
        </p:blipFill>
        <p:spPr>
          <a:xfrm>
            <a:off x="6245352" y="1325880"/>
            <a:ext cx="5577840" cy="52120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Comparativa de Convergencia — PC Raúl (M4 vs M13 vs M14)</a:t>
            </a:r>
          </a:p>
        </p:txBody>
      </p:sp>
      <p:pic>
        <p:nvPicPr>
          <p:cNvPr id="3" name="Picture 2" descr="comparativa_convergencia.png"/>
          <p:cNvPicPr>
            <a:picLocks noChangeAspect="1"/>
          </p:cNvPicPr>
          <p:nvPr/>
        </p:nvPicPr>
        <p:blipFill>
          <a:blip r:embed="rId2"/>
          <a:stretch>
            <a:fillRect/>
          </a:stretch>
        </p:blipFill>
        <p:spPr>
          <a:xfrm>
            <a:off x="457200" y="1353312"/>
            <a:ext cx="11274552" cy="52578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Comparativa de Configuraciones Óptimas — PC Raúl (M4 vs M13 vs M14)</a:t>
            </a:r>
          </a:p>
        </p:txBody>
      </p:sp>
      <p:pic>
        <p:nvPicPr>
          <p:cNvPr id="3" name="Picture 2" descr="comparativa_configuraciones.png"/>
          <p:cNvPicPr>
            <a:picLocks noChangeAspect="1"/>
          </p:cNvPicPr>
          <p:nvPr/>
        </p:nvPicPr>
        <p:blipFill>
          <a:blip r:embed="rId2"/>
          <a:stretch>
            <a:fillRect/>
          </a:stretch>
        </p:blipFill>
        <p:spPr>
          <a:xfrm>
            <a:off x="457200" y="1353312"/>
            <a:ext cx="11274552" cy="52578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Tabla Resumen — PC Raúl (M4, M13, M14)</a:t>
            </a:r>
          </a:p>
        </p:txBody>
      </p:sp>
      <p:pic>
        <p:nvPicPr>
          <p:cNvPr id="3" name="Picture 2" descr="comparativa_tabla_resumen.png"/>
          <p:cNvPicPr>
            <a:picLocks noChangeAspect="1"/>
          </p:cNvPicPr>
          <p:nvPr/>
        </p:nvPicPr>
        <p:blipFill>
          <a:blip r:embed="rId2"/>
          <a:stretch>
            <a:fillRect/>
          </a:stretch>
        </p:blipFill>
        <p:spPr>
          <a:xfrm>
            <a:off x="457200" y="1353312"/>
            <a:ext cx="11274552" cy="52578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Resultado Adicional — M10 HPO KGCP (PC Raúl)</a:t>
            </a:r>
          </a:p>
          <a:p>
            <a:pPr algn="l"/>
            <a:r>
              <a:rPr b="0" sz="1300">
                <a:solidFill>
                  <a:srgbClr val="BDD7EE"/>
                </a:solidFill>
              </a:rPr>
              <a:t>Modo HPO con 100 evaluaciones: segundo mejor resultado global</a:t>
            </a:r>
          </a:p>
        </p:txBody>
      </p:sp>
      <p:sp>
        <p:nvSpPr>
          <p:cNvPr id="3" name="Rectangle 2"/>
          <p:cNvSpPr/>
          <p:nvPr/>
        </p:nvSpPr>
        <p:spPr>
          <a:xfrm>
            <a:off x="320040" y="1389888"/>
            <a:ext cx="64008" cy="5486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316736"/>
            <a:ext cx="11365992" cy="841248"/>
          </a:xfrm>
          <a:prstGeom prst="rect">
            <a:avLst/>
          </a:prstGeom>
          <a:noFill/>
        </p:spPr>
        <p:txBody>
          <a:bodyPr wrap="square">
            <a:spAutoFit/>
          </a:bodyPr>
          <a:lstStyle/>
          <a:p>
            <a:pPr algn="l"/>
            <a:r>
              <a:rPr b="1" sz="1100">
                <a:solidFill>
                  <a:srgbClr val="1F497D"/>
                </a:solidFill>
              </a:rPr>
              <a:t>Algoritmo</a:t>
            </a:r>
          </a:p>
          <a:p>
            <a:pPr algn="l"/>
            <a:r>
              <a:rPr b="0" sz="1050">
                <a:solidFill>
                  <a:srgbClr val="404040"/>
                </a:solidFill>
              </a:rPr>
              <a:t>SK-KGCP en modo HPO (Knowledge Gradient + Correlated Prior)</a:t>
            </a:r>
          </a:p>
        </p:txBody>
      </p:sp>
      <p:sp>
        <p:nvSpPr>
          <p:cNvPr id="5" name="Rectangle 4"/>
          <p:cNvSpPr/>
          <p:nvPr/>
        </p:nvSpPr>
        <p:spPr>
          <a:xfrm>
            <a:off x="320040" y="2276856"/>
            <a:ext cx="64008" cy="5486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03704"/>
            <a:ext cx="11365992" cy="841248"/>
          </a:xfrm>
          <a:prstGeom prst="rect">
            <a:avLst/>
          </a:prstGeom>
          <a:noFill/>
        </p:spPr>
        <p:txBody>
          <a:bodyPr wrap="square">
            <a:spAutoFit/>
          </a:bodyPr>
          <a:lstStyle/>
          <a:p>
            <a:pPr algn="l"/>
            <a:r>
              <a:rPr b="1" sz="1100">
                <a:solidFill>
                  <a:srgbClr val="1F497D"/>
                </a:solidFill>
              </a:rPr>
              <a:t>Costo incumbente</a:t>
            </a:r>
          </a:p>
          <a:p>
            <a:pPr algn="l"/>
            <a:r>
              <a:rPr b="0" sz="1050">
                <a:solidFill>
                  <a:srgbClr val="378648"/>
                </a:solidFill>
              </a:rPr>
              <a:t>212.03 días  ★  (segundo mejor resultado, solo superado por M4=205.17)</a:t>
            </a:r>
          </a:p>
        </p:txBody>
      </p:sp>
      <p:sp>
        <p:nvSpPr>
          <p:cNvPr id="7" name="Rectangle 6"/>
          <p:cNvSpPr/>
          <p:nvPr/>
        </p:nvSpPr>
        <p:spPr>
          <a:xfrm>
            <a:off x="320040" y="3163824"/>
            <a:ext cx="64008" cy="5486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3090672"/>
            <a:ext cx="11365992" cy="841248"/>
          </a:xfrm>
          <a:prstGeom prst="rect">
            <a:avLst/>
          </a:prstGeom>
          <a:noFill/>
        </p:spPr>
        <p:txBody>
          <a:bodyPr wrap="square">
            <a:spAutoFit/>
          </a:bodyPr>
          <a:lstStyle/>
          <a:p>
            <a:pPr algn="l"/>
            <a:r>
              <a:rPr b="1" sz="1100">
                <a:solidFill>
                  <a:srgbClr val="1F497D"/>
                </a:solidFill>
              </a:rPr>
              <a:t>Tiempo total</a:t>
            </a:r>
          </a:p>
          <a:p>
            <a:pPr algn="l"/>
            <a:r>
              <a:rPr b="0" sz="1050">
                <a:solidFill>
                  <a:srgbClr val="404040"/>
                </a:solidFill>
              </a:rPr>
              <a:t>12.27 horas</a:t>
            </a:r>
          </a:p>
        </p:txBody>
      </p:sp>
      <p:sp>
        <p:nvSpPr>
          <p:cNvPr id="9" name="Rectangle 8"/>
          <p:cNvSpPr/>
          <p:nvPr/>
        </p:nvSpPr>
        <p:spPr>
          <a:xfrm>
            <a:off x="320040" y="4050791"/>
            <a:ext cx="64008" cy="5486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977639"/>
            <a:ext cx="11365992" cy="841248"/>
          </a:xfrm>
          <a:prstGeom prst="rect">
            <a:avLst/>
          </a:prstGeom>
          <a:noFill/>
        </p:spPr>
        <p:txBody>
          <a:bodyPr wrap="square">
            <a:spAutoFit/>
          </a:bodyPr>
          <a:lstStyle/>
          <a:p>
            <a:pPr algn="l"/>
            <a:r>
              <a:rPr b="1" sz="1100">
                <a:solidFill>
                  <a:srgbClr val="1F497D"/>
                </a:solidFill>
              </a:rPr>
              <a:t>Evaluaciones</a:t>
            </a:r>
          </a:p>
          <a:p>
            <a:pPr algn="l"/>
            <a:r>
              <a:rPr b="0" sz="1050">
                <a:solidFill>
                  <a:srgbClr val="404040"/>
                </a:solidFill>
              </a:rPr>
              <a:t>100 trials (vs 20 del modo estándar)</a:t>
            </a:r>
          </a:p>
        </p:txBody>
      </p:sp>
      <p:sp>
        <p:nvSpPr>
          <p:cNvPr id="11" name="Rectangle 10"/>
          <p:cNvSpPr/>
          <p:nvPr/>
        </p:nvSpPr>
        <p:spPr>
          <a:xfrm>
            <a:off x="320040" y="4937759"/>
            <a:ext cx="64008" cy="5486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864607"/>
            <a:ext cx="11365992" cy="841248"/>
          </a:xfrm>
          <a:prstGeom prst="rect">
            <a:avLst/>
          </a:prstGeom>
          <a:noFill/>
        </p:spPr>
        <p:txBody>
          <a:bodyPr wrap="square">
            <a:spAutoFit/>
          </a:bodyPr>
          <a:lstStyle/>
          <a:p>
            <a:pPr algn="l"/>
            <a:r>
              <a:rPr b="1" sz="1100">
                <a:solidFill>
                  <a:srgbClr val="1F497D"/>
                </a:solidFill>
              </a:rPr>
              <a:t>Diferencia vs M10 estándar (nube)</a:t>
            </a:r>
          </a:p>
          <a:p>
            <a:pPr algn="l"/>
            <a:r>
              <a:rPr b="0" sz="1050">
                <a:solidFill>
                  <a:srgbClr val="404040"/>
                </a:solidFill>
              </a:rPr>
              <a:t>M10 std: 219.96 días (20 eval, 1.46h)  →  HPO: 212.03 días (100 eval, 12.27h)
Más evaluaciones permiten al surrogado SK-KGCP mostrar su ventaja real.</a:t>
            </a:r>
          </a:p>
        </p:txBody>
      </p:sp>
      <p:sp>
        <p:nvSpPr>
          <p:cNvPr id="13" name="Rectangle 12"/>
          <p:cNvSpPr/>
          <p:nvPr/>
        </p:nvSpPr>
        <p:spPr>
          <a:xfrm>
            <a:off x="320040" y="5824727"/>
            <a:ext cx="64008" cy="5486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5751575"/>
            <a:ext cx="11365992" cy="841248"/>
          </a:xfrm>
          <a:prstGeom prst="rect">
            <a:avLst/>
          </a:prstGeom>
          <a:noFill/>
        </p:spPr>
        <p:txBody>
          <a:bodyPr wrap="square">
            <a:spAutoFit/>
          </a:bodyPr>
          <a:lstStyle/>
          <a:p>
            <a:pPr algn="l"/>
            <a:r>
              <a:rPr b="1" sz="1100">
                <a:solidFill>
                  <a:srgbClr val="1F497D"/>
                </a:solidFill>
              </a:rPr>
              <a:t>Incumbente</a:t>
            </a:r>
          </a:p>
          <a:p>
            <a:pPr algn="l"/>
            <a:r>
              <a:rPr b="0" sz="1050">
                <a:solidFill>
                  <a:srgbClr val="404040"/>
                </a:solidFill>
              </a:rPr>
              <a:t>cupos_eco_mat=19, cupos_eco_ugd=21, cupos_lab=81, dias_pub=8
horas_control=50, h_esp_1ra=22, agentes=2, matronas=2
pct_bloqueo_1ra=0.151, pct_bloqueo_post=0.212, pct_vacias=0.215, pct_no_cont=0.446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Convergencia Detallada — M13 SPSA (PC Raúl, max_iter=30)</a:t>
            </a:r>
          </a:p>
          <a:p>
            <a:pPr algn="l"/>
            <a:r>
              <a:rPr b="0" sz="1300">
                <a:solidFill>
                  <a:srgbClr val="BDD7EE"/>
                </a:solidFill>
              </a:rPr>
              <a:t>Historial completo: 31 evaluaciones incumbentes</a:t>
            </a:r>
          </a:p>
        </p:txBody>
      </p:sp>
      <p:graphicFrame>
        <p:nvGraphicFramePr>
          <p:cNvPr id="3" name="Table 2"/>
          <p:cNvGraphicFramePr>
            <a:graphicFrameLocks noGrp="1"/>
          </p:cNvGraphicFramePr>
          <p:nvPr/>
        </p:nvGraphicFramePr>
        <p:xfrm>
          <a:off x="274320" y="1353312"/>
          <a:ext cx="10972800" cy="3200400"/>
        </p:xfrm>
        <a:graphic>
          <a:graphicData uri="http://schemas.openxmlformats.org/drawingml/2006/table">
            <a:tbl>
              <a:tblPr firstRow="1" bandRow="1">
                <a:tableStyleId>{5C22544A-7EE6-4342-B048-85BDC9FD1C3A}</a:tableStyleId>
              </a:tblPr>
              <a:tblGrid>
                <a:gridCol w="548640"/>
                <a:gridCol w="1097280"/>
                <a:gridCol w="1188720"/>
                <a:gridCol w="822960"/>
                <a:gridCol w="7315200"/>
              </a:tblGrid>
              <a:tr h="457200">
                <a:tc>
                  <a:txBody>
                    <a:bodyPr wrap="square"/>
                    <a:lstStyle/>
                    <a:p>
                      <a:pPr algn="ctr"/>
                      <a:r>
                        <a:rPr b="1" sz="1100">
                          <a:solidFill>
                            <a:srgbClr val="FFFFFF"/>
                          </a:solidFill>
                        </a:rPr>
                        <a:t>Iter</a:t>
                      </a:r>
                    </a:p>
                  </a:txBody>
                  <a:tcPr>
                    <a:solidFill>
                      <a:srgbClr val="1F497D"/>
                    </a:solidFill>
                  </a:tcPr>
                </a:tc>
                <a:tc>
                  <a:txBody>
                    <a:bodyPr wrap="square"/>
                    <a:lstStyle/>
                    <a:p>
                      <a:pPr algn="ctr"/>
                      <a:r>
                        <a:rPr b="1" sz="1100">
                          <a:solidFill>
                            <a:srgbClr val="FFFFFF"/>
                          </a:solidFill>
                        </a:rPr>
                        <a:t>Costo eval</a:t>
                      </a:r>
                    </a:p>
                  </a:txBody>
                  <a:tcPr>
                    <a:solidFill>
                      <a:srgbClr val="1F497D"/>
                    </a:solidFill>
                  </a:tcPr>
                </a:tc>
                <a:tc>
                  <a:txBody>
                    <a:bodyPr wrap="square"/>
                    <a:lstStyle/>
                    <a:p>
                      <a:pPr algn="ctr"/>
                      <a:r>
                        <a:rPr b="1" sz="1100">
                          <a:solidFill>
                            <a:srgbClr val="FFFFFF"/>
                          </a:solidFill>
                        </a:rPr>
                        <a:t>Incumbente</a:t>
                      </a:r>
                    </a:p>
                  </a:txBody>
                  <a:tcPr>
                    <a:solidFill>
                      <a:srgbClr val="1F497D"/>
                    </a:solidFill>
                  </a:tcPr>
                </a:tc>
                <a:tc>
                  <a:txBody>
                    <a:bodyPr wrap="square"/>
                    <a:lstStyle/>
                    <a:p>
                      <a:pPr algn="ctr"/>
                      <a:r>
                        <a:rPr b="1" sz="1100">
                          <a:solidFill>
                            <a:srgbClr val="FFFFFF"/>
                          </a:solidFill>
                        </a:rPr>
                        <a:t>Tiempo</a:t>
                      </a:r>
                    </a:p>
                  </a:txBody>
                  <a:tcPr>
                    <a:solidFill>
                      <a:srgbClr val="1F497D"/>
                    </a:solidFill>
                  </a:tcPr>
                </a:tc>
                <a:tc>
                  <a:txBody>
                    <a:bodyPr wrap="square"/>
                    <a:lstStyle/>
                    <a:p>
                      <a:pPr algn="ctr"/>
                      <a:r>
                        <a:rPr b="1" sz="1100">
                          <a:solidFill>
                            <a:srgbClr val="FFFFFF"/>
                          </a:solidFill>
                        </a:rPr>
                        <a:t>Observación</a:t>
                      </a:r>
                    </a:p>
                  </a:txBody>
                  <a:tcPr>
                    <a:solidFill>
                      <a:srgbClr val="1F497D"/>
                    </a:solidFill>
                  </a:tcPr>
                </a:tc>
              </a:tr>
              <a:tr h="457200">
                <a:tc>
                  <a:txBody>
                    <a:bodyPr wrap="square"/>
                    <a:lstStyle/>
                    <a:p>
                      <a:pPr algn="ctr"/>
                      <a:r>
                        <a:rPr b="0" sz="1100">
                          <a:solidFill>
                            <a:srgbClr val="404040"/>
                          </a:solidFill>
                        </a:rPr>
                        <a:t>0</a:t>
                      </a:r>
                    </a:p>
                  </a:txBody>
                  <a:tcPr>
                    <a:solidFill>
                      <a:srgbClr val="BDD7EE"/>
                    </a:solidFill>
                  </a:tcPr>
                </a:tc>
                <a:tc>
                  <a:txBody>
                    <a:bodyPr wrap="square"/>
                    <a:lstStyle/>
                    <a:p>
                      <a:pPr algn="ctr"/>
                      <a:r>
                        <a:rPr b="0" sz="1100">
                          <a:solidFill>
                            <a:srgbClr val="404040"/>
                          </a:solidFill>
                        </a:rPr>
                        <a:t>270.73</a:t>
                      </a:r>
                    </a:p>
                  </a:txBody>
                  <a:tcPr>
                    <a:solidFill>
                      <a:srgbClr val="BDD7EE"/>
                    </a:solidFill>
                  </a:tcPr>
                </a:tc>
                <a:tc>
                  <a:txBody>
                    <a:bodyPr wrap="square"/>
                    <a:lstStyle/>
                    <a:p>
                      <a:pPr algn="ctr"/>
                      <a:r>
                        <a:rPr b="0" sz="1100">
                          <a:solidFill>
                            <a:srgbClr val="404040"/>
                          </a:solidFill>
                        </a:rPr>
                        <a:t>270.73</a:t>
                      </a:r>
                    </a:p>
                  </a:txBody>
                  <a:tcPr>
                    <a:solidFill>
                      <a:srgbClr val="BDD7EE"/>
                    </a:solidFill>
                  </a:tcPr>
                </a:tc>
                <a:tc>
                  <a:txBody>
                    <a:bodyPr wrap="square"/>
                    <a:lstStyle/>
                    <a:p>
                      <a:pPr algn="ctr"/>
                      <a:r>
                        <a:rPr b="0" sz="1100">
                          <a:solidFill>
                            <a:srgbClr val="404040"/>
                          </a:solidFill>
                        </a:rPr>
                        <a:t>—</a:t>
                      </a:r>
                    </a:p>
                  </a:txBody>
                  <a:tcPr>
                    <a:solidFill>
                      <a:srgbClr val="BDD7EE"/>
                    </a:solidFill>
                  </a:tcPr>
                </a:tc>
                <a:tc>
                  <a:txBody>
                    <a:bodyPr wrap="square"/>
                    <a:lstStyle/>
                    <a:p>
                      <a:pPr algn="l"/>
                      <a:r>
                        <a:rPr b="0" sz="1100">
                          <a:solidFill>
                            <a:srgbClr val="404040"/>
                          </a:solidFill>
                        </a:rPr>
                        <a:t>Punto inicial (centro espacio)</a:t>
                      </a:r>
                    </a:p>
                  </a:txBody>
                  <a:tcPr>
                    <a:solidFill>
                      <a:srgbClr val="BDD7EE"/>
                    </a:solidFill>
                  </a:tcPr>
                </a:tc>
              </a:tr>
              <a:tr h="457200">
                <a:tc>
                  <a:txBody>
                    <a:bodyPr wrap="square"/>
                    <a:lstStyle/>
                    <a:p>
                      <a:pPr algn="ctr"/>
                      <a:r>
                        <a:rPr b="0" sz="1100">
                          <a:solidFill>
                            <a:srgbClr val="404040"/>
                          </a:solidFill>
                        </a:rPr>
                        <a:t>1</a:t>
                      </a:r>
                    </a:p>
                  </a:txBody>
                  <a:tcPr>
                    <a:solidFill>
                      <a:srgbClr val="FFFFFF"/>
                    </a:solidFill>
                  </a:tcPr>
                </a:tc>
                <a:tc>
                  <a:txBody>
                    <a:bodyPr wrap="square"/>
                    <a:lstStyle/>
                    <a:p>
                      <a:pPr algn="ctr"/>
                      <a:r>
                        <a:rPr b="0" sz="1100">
                          <a:solidFill>
                            <a:srgbClr val="378648"/>
                          </a:solidFill>
                        </a:rPr>
                        <a:t>235.39</a:t>
                      </a:r>
                    </a:p>
                  </a:txBody>
                  <a:tcPr>
                    <a:solidFill>
                      <a:srgbClr val="FFFFFF"/>
                    </a:solidFill>
                  </a:tcPr>
                </a:tc>
                <a:tc>
                  <a:txBody>
                    <a:bodyPr wrap="square"/>
                    <a:lstStyle/>
                    <a:p>
                      <a:pPr algn="ctr"/>
                      <a:r>
                        <a:rPr b="0" sz="1100">
                          <a:solidFill>
                            <a:srgbClr val="404040"/>
                          </a:solidFill>
                        </a:rPr>
                        <a:t>235.39</a:t>
                      </a:r>
                    </a:p>
                  </a:txBody>
                  <a:tcPr>
                    <a:solidFill>
                      <a:srgbClr val="FFFFFF"/>
                    </a:solidFill>
                  </a:tcPr>
                </a:tc>
                <a:tc>
                  <a:txBody>
                    <a:bodyPr wrap="square"/>
                    <a:lstStyle/>
                    <a:p>
                      <a:pPr algn="ctr"/>
                      <a:r>
                        <a:rPr b="0" sz="1100">
                          <a:solidFill>
                            <a:srgbClr val="404040"/>
                          </a:solidFill>
                        </a:rPr>
                        <a:t>0.39h</a:t>
                      </a:r>
                    </a:p>
                  </a:txBody>
                  <a:tcPr>
                    <a:solidFill>
                      <a:srgbClr val="FFFFFF"/>
                    </a:solidFill>
                  </a:tcPr>
                </a:tc>
                <a:tc>
                  <a:txBody>
                    <a:bodyPr wrap="square"/>
                    <a:lstStyle/>
                    <a:p>
                      <a:pPr algn="l"/>
                      <a:r>
                        <a:rPr b="0" sz="1100">
                          <a:solidFill>
                            <a:srgbClr val="404040"/>
                          </a:solidFill>
                        </a:rPr>
                        <a:t>Primera mejora: −13% de golpe</a:t>
                      </a:r>
                    </a:p>
                  </a:txBody>
                  <a:tcPr>
                    <a:solidFill>
                      <a:srgbClr val="FFFFFF"/>
                    </a:solidFill>
                  </a:tcPr>
                </a:tc>
              </a:tr>
              <a:tr h="457200">
                <a:tc>
                  <a:txBody>
                    <a:bodyPr wrap="square"/>
                    <a:lstStyle/>
                    <a:p>
                      <a:pPr algn="ctr"/>
                      <a:r>
                        <a:rPr b="0" sz="1100">
                          <a:solidFill>
                            <a:srgbClr val="404040"/>
                          </a:solidFill>
                        </a:rPr>
                        <a:t>10</a:t>
                      </a:r>
                    </a:p>
                  </a:txBody>
                  <a:tcPr>
                    <a:solidFill>
                      <a:srgbClr val="BDD7EE"/>
                    </a:solidFill>
                  </a:tcPr>
                </a:tc>
                <a:tc>
                  <a:txBody>
                    <a:bodyPr wrap="square"/>
                    <a:lstStyle/>
                    <a:p>
                      <a:pPr algn="ctr"/>
                      <a:r>
                        <a:rPr b="0" sz="1100">
                          <a:solidFill>
                            <a:srgbClr val="378648"/>
                          </a:solidFill>
                        </a:rPr>
                        <a:t>222.03</a:t>
                      </a:r>
                    </a:p>
                  </a:txBody>
                  <a:tcPr>
                    <a:solidFill>
                      <a:srgbClr val="BDD7EE"/>
                    </a:solidFill>
                  </a:tcPr>
                </a:tc>
                <a:tc>
                  <a:txBody>
                    <a:bodyPr wrap="square"/>
                    <a:lstStyle/>
                    <a:p>
                      <a:pPr algn="ctr"/>
                      <a:r>
                        <a:rPr b="0" sz="1100">
                          <a:solidFill>
                            <a:srgbClr val="404040"/>
                          </a:solidFill>
                        </a:rPr>
                        <a:t>222.03</a:t>
                      </a:r>
                    </a:p>
                  </a:txBody>
                  <a:tcPr>
                    <a:solidFill>
                      <a:srgbClr val="BDD7EE"/>
                    </a:solidFill>
                  </a:tcPr>
                </a:tc>
                <a:tc>
                  <a:txBody>
                    <a:bodyPr wrap="square"/>
                    <a:lstStyle/>
                    <a:p>
                      <a:pPr algn="ctr"/>
                      <a:r>
                        <a:rPr b="0" sz="1100">
                          <a:solidFill>
                            <a:srgbClr val="404040"/>
                          </a:solidFill>
                        </a:rPr>
                        <a:t>2.75h</a:t>
                      </a:r>
                    </a:p>
                  </a:txBody>
                  <a:tcPr>
                    <a:solidFill>
                      <a:srgbClr val="BDD7EE"/>
                    </a:solidFill>
                  </a:tcPr>
                </a:tc>
                <a:tc>
                  <a:txBody>
                    <a:bodyPr wrap="square"/>
                    <a:lstStyle/>
                    <a:p>
                      <a:pPr algn="l"/>
                      <a:r>
                        <a:rPr b="0" sz="1100">
                          <a:solidFill>
                            <a:srgbClr val="404040"/>
                          </a:solidFill>
                        </a:rPr>
                        <a:t>Segunda mejora significativa</a:t>
                      </a:r>
                    </a:p>
                  </a:txBody>
                  <a:tcPr>
                    <a:solidFill>
                      <a:srgbClr val="BDD7EE"/>
                    </a:solidFill>
                  </a:tcPr>
                </a:tc>
              </a:tr>
              <a:tr h="457200">
                <a:tc>
                  <a:txBody>
                    <a:bodyPr wrap="square"/>
                    <a:lstStyle/>
                    <a:p>
                      <a:pPr algn="ctr"/>
                      <a:r>
                        <a:rPr b="0" sz="1100">
                          <a:solidFill>
                            <a:srgbClr val="404040"/>
                          </a:solidFill>
                        </a:rPr>
                        <a:t>13</a:t>
                      </a:r>
                    </a:p>
                  </a:txBody>
                  <a:tcPr>
                    <a:solidFill>
                      <a:srgbClr val="FFFFFF"/>
                    </a:solidFill>
                  </a:tcPr>
                </a:tc>
                <a:tc>
                  <a:txBody>
                    <a:bodyPr wrap="square"/>
                    <a:lstStyle/>
                    <a:p>
                      <a:pPr algn="ctr"/>
                      <a:r>
                        <a:rPr b="0" sz="1100">
                          <a:solidFill>
                            <a:srgbClr val="404040"/>
                          </a:solidFill>
                        </a:rPr>
                        <a:t>224.67</a:t>
                      </a:r>
                    </a:p>
                  </a:txBody>
                  <a:tcPr>
                    <a:solidFill>
                      <a:srgbClr val="FFFFFF"/>
                    </a:solidFill>
                  </a:tcPr>
                </a:tc>
                <a:tc>
                  <a:txBody>
                    <a:bodyPr wrap="square"/>
                    <a:lstStyle/>
                    <a:p>
                      <a:pPr algn="ctr"/>
                      <a:r>
                        <a:rPr b="0" sz="1100">
                          <a:solidFill>
                            <a:srgbClr val="404040"/>
                          </a:solidFill>
                        </a:rPr>
                        <a:t>222.03</a:t>
                      </a:r>
                    </a:p>
                  </a:txBody>
                  <a:tcPr>
                    <a:solidFill>
                      <a:srgbClr val="FFFFFF"/>
                    </a:solidFill>
                  </a:tcPr>
                </a:tc>
                <a:tc>
                  <a:txBody>
                    <a:bodyPr wrap="square"/>
                    <a:lstStyle/>
                    <a:p>
                      <a:pPr algn="ctr"/>
                      <a:r>
                        <a:rPr b="0" sz="1100">
                          <a:solidFill>
                            <a:srgbClr val="404040"/>
                          </a:solidFill>
                        </a:rPr>
                        <a:t>3.60h</a:t>
                      </a:r>
                    </a:p>
                  </a:txBody>
                  <a:tcPr>
                    <a:solidFill>
                      <a:srgbClr val="FFFFFF"/>
                    </a:solidFill>
                  </a:tcPr>
                </a:tc>
                <a:tc>
                  <a:txBody>
                    <a:bodyPr wrap="square"/>
                    <a:lstStyle/>
                    <a:p>
                      <a:pPr algn="l"/>
                      <a:r>
                        <a:rPr b="0" sz="1100">
                          <a:solidFill>
                            <a:srgbClr val="404040"/>
                          </a:solidFill>
                        </a:rPr>
                        <a:t>Evaluación ruidosa, incumbente mantiene</a:t>
                      </a:r>
                    </a:p>
                  </a:txBody>
                  <a:tcPr>
                    <a:solidFill>
                      <a:srgbClr val="FFFFFF"/>
                    </a:solidFill>
                  </a:tcPr>
                </a:tc>
              </a:tr>
              <a:tr h="457200">
                <a:tc>
                  <a:txBody>
                    <a:bodyPr wrap="square"/>
                    <a:lstStyle/>
                    <a:p>
                      <a:pPr algn="ctr"/>
                      <a:r>
                        <a:rPr b="0" sz="1100">
                          <a:solidFill>
                            <a:srgbClr val="404040"/>
                          </a:solidFill>
                        </a:rPr>
                        <a:t>21</a:t>
                      </a:r>
                    </a:p>
                  </a:txBody>
                  <a:tcPr>
                    <a:solidFill>
                      <a:srgbClr val="BDD7EE"/>
                    </a:solidFill>
                  </a:tcPr>
                </a:tc>
                <a:tc>
                  <a:txBody>
                    <a:bodyPr wrap="square"/>
                    <a:lstStyle/>
                    <a:p>
                      <a:pPr algn="ctr"/>
                      <a:r>
                        <a:rPr b="0" sz="1100">
                          <a:solidFill>
                            <a:srgbClr val="378648"/>
                          </a:solidFill>
                        </a:rPr>
                        <a:t>219.38</a:t>
                      </a:r>
                    </a:p>
                  </a:txBody>
                  <a:tcPr>
                    <a:solidFill>
                      <a:srgbClr val="BDD7EE"/>
                    </a:solidFill>
                  </a:tcPr>
                </a:tc>
                <a:tc>
                  <a:txBody>
                    <a:bodyPr wrap="square"/>
                    <a:lstStyle/>
                    <a:p>
                      <a:pPr algn="ctr"/>
                      <a:r>
                        <a:rPr b="0" sz="1100">
                          <a:solidFill>
                            <a:srgbClr val="378648"/>
                          </a:solidFill>
                        </a:rPr>
                        <a:t>219.38</a:t>
                      </a:r>
                    </a:p>
                  </a:txBody>
                  <a:tcPr>
                    <a:solidFill>
                      <a:srgbClr val="BDD7EE"/>
                    </a:solidFill>
                  </a:tcPr>
                </a:tc>
                <a:tc>
                  <a:txBody>
                    <a:bodyPr wrap="square"/>
                    <a:lstStyle/>
                    <a:p>
                      <a:pPr algn="ctr"/>
                      <a:r>
                        <a:rPr b="0" sz="1100">
                          <a:solidFill>
                            <a:srgbClr val="404040"/>
                          </a:solidFill>
                        </a:rPr>
                        <a:t>6.28h</a:t>
                      </a:r>
                    </a:p>
                  </a:txBody>
                  <a:tcPr>
                    <a:solidFill>
                      <a:srgbClr val="BDD7EE"/>
                    </a:solidFill>
                  </a:tcPr>
                </a:tc>
                <a:tc>
                  <a:txBody>
                    <a:bodyPr wrap="square"/>
                    <a:lstStyle/>
                    <a:p>
                      <a:pPr algn="l"/>
                      <a:r>
                        <a:rPr b="0" sz="1100">
                          <a:solidFill>
                            <a:srgbClr val="404040"/>
                          </a:solidFill>
                        </a:rPr>
                        <a:t>MEJOR ENCONTRADO: 219.38 días</a:t>
                      </a:r>
                    </a:p>
                  </a:txBody>
                  <a:tcPr>
                    <a:solidFill>
                      <a:srgbClr val="BDD7EE"/>
                    </a:solidFill>
                  </a:tcPr>
                </a:tc>
              </a:tr>
              <a:tr h="457200">
                <a:tc>
                  <a:txBody>
                    <a:bodyPr wrap="square"/>
                    <a:lstStyle/>
                    <a:p>
                      <a:pPr algn="ctr"/>
                      <a:r>
                        <a:rPr b="0" sz="1100">
                          <a:solidFill>
                            <a:srgbClr val="404040"/>
                          </a:solidFill>
                        </a:rPr>
                        <a:t>30</a:t>
                      </a:r>
                    </a:p>
                  </a:txBody>
                  <a:tcPr>
                    <a:solidFill>
                      <a:srgbClr val="FFFFFF"/>
                    </a:solidFill>
                  </a:tcPr>
                </a:tc>
                <a:tc>
                  <a:txBody>
                    <a:bodyPr wrap="square"/>
                    <a:lstStyle/>
                    <a:p>
                      <a:pPr algn="ctr"/>
                      <a:r>
                        <a:rPr b="0" sz="1100">
                          <a:solidFill>
                            <a:srgbClr val="404040"/>
                          </a:solidFill>
                        </a:rPr>
                        <a:t>242.74</a:t>
                      </a:r>
                    </a:p>
                  </a:txBody>
                  <a:tcPr>
                    <a:solidFill>
                      <a:srgbClr val="FFFFFF"/>
                    </a:solidFill>
                  </a:tcPr>
                </a:tc>
                <a:tc>
                  <a:txBody>
                    <a:bodyPr wrap="square"/>
                    <a:lstStyle/>
                    <a:p>
                      <a:pPr algn="ctr"/>
                      <a:r>
                        <a:rPr b="0" sz="1100">
                          <a:solidFill>
                            <a:srgbClr val="378648"/>
                          </a:solidFill>
                        </a:rPr>
                        <a:t>219.38</a:t>
                      </a:r>
                    </a:p>
                  </a:txBody>
                  <a:tcPr>
                    <a:solidFill>
                      <a:srgbClr val="FFFFFF"/>
                    </a:solidFill>
                  </a:tcPr>
                </a:tc>
                <a:tc>
                  <a:txBody>
                    <a:bodyPr wrap="square"/>
                    <a:lstStyle/>
                    <a:p>
                      <a:pPr algn="ctr"/>
                      <a:r>
                        <a:rPr b="0" sz="1100">
                          <a:solidFill>
                            <a:srgbClr val="404040"/>
                          </a:solidFill>
                        </a:rPr>
                        <a:t>8.65h</a:t>
                      </a:r>
                    </a:p>
                  </a:txBody>
                  <a:tcPr>
                    <a:solidFill>
                      <a:srgbClr val="FFFFFF"/>
                    </a:solidFill>
                  </a:tcPr>
                </a:tc>
                <a:tc>
                  <a:txBody>
                    <a:bodyPr wrap="square"/>
                    <a:lstStyle/>
                    <a:p>
                      <a:pPr algn="l"/>
                      <a:r>
                        <a:rPr b="0" sz="1100">
                          <a:solidFill>
                            <a:srgbClr val="404040"/>
                          </a:solidFill>
                        </a:rPr>
                        <a:t>Fin: evaluación ruidosa, incumbente 219.38</a:t>
                      </a:r>
                    </a:p>
                  </a:txBody>
                  <a:tcPr>
                    <a:solidFill>
                      <a:srgbClr val="FFFFFF"/>
                    </a:solidFill>
                  </a:tcPr>
                </a:tc>
              </a:tr>
            </a:tbl>
          </a:graphicData>
        </a:graphic>
      </p:graphicFrame>
      <p:sp>
        <p:nvSpPr>
          <p:cNvPr id="4" name="TextBox 3"/>
          <p:cNvSpPr txBox="1"/>
          <p:nvPr/>
        </p:nvSpPr>
        <p:spPr>
          <a:xfrm>
            <a:off x="274320" y="4663440"/>
            <a:ext cx="11640312" cy="1920240"/>
          </a:xfrm>
          <a:prstGeom prst="rect">
            <a:avLst/>
          </a:prstGeom>
          <a:noFill/>
        </p:spPr>
        <p:txBody>
          <a:bodyPr wrap="square">
            <a:spAutoFit/>
          </a:bodyPr>
          <a:lstStyle/>
          <a:p>
            <a:pPr algn="l"/>
            <a:r>
              <a:rPr b="1" sz="1200">
                <a:solidFill>
                  <a:srgbClr val="1F497D"/>
                </a:solidFill>
              </a:rPr>
              <a:t>Análisis de convergencia SPSA:</a:t>
            </a:r>
          </a:p>
          <a:p>
            <a:pPr algn="l"/>
            <a:r>
              <a:rPr b="0" sz="1100">
                <a:solidFill>
                  <a:srgbClr val="404040"/>
                </a:solidFill>
              </a:rPr>
              <a:t>• Alta varianza entre evaluaciones (rango: 219–320 días) — ruido del simulador domina la señal del gradiente</a:t>
            </a:r>
          </a:p>
          <a:p>
            <a:pPr algn="l"/>
            <a:r>
              <a:rPr b="0" sz="1100">
                <a:solidFill>
                  <a:srgbClr val="404040"/>
                </a:solidFill>
              </a:rPr>
              <a:t>• El incumbente se actualiza solo en iteraciones 1, 10, 21 (3 de 30) — exploración ineficiente</a:t>
            </a:r>
          </a:p>
          <a:p>
            <a:pPr algn="l"/>
            <a:r>
              <a:rPr b="0" sz="1100">
                <a:solidFill>
                  <a:srgbClr val="404040"/>
                </a:solidFill>
              </a:rPr>
              <a:t>• Tendencia decreciente del paso αk (0.142 → 0.065): el algoritmo reduce exploración con el tiempo</a:t>
            </a:r>
          </a:p>
          <a:p>
            <a:pPr algn="l"/>
            <a:r>
              <a:rPr b="0" sz="1100">
                <a:solidFill>
                  <a:srgbClr val="378648"/>
                </a:solidFill>
              </a:rPr>
              <a:t>• Resultado final: 219.38 días — mejora del 19% sobre línea base, en 8.65 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Diagnóstico — M14 ALOE: Por qué no mejoró (PC Raúl, max_iter=30)</a:t>
            </a:r>
          </a:p>
          <a:p>
            <a:pPr algn="l"/>
            <a:r>
              <a:rPr b="0" sz="1300">
                <a:solidFill>
                  <a:srgbClr val="BDD7EE"/>
                </a:solidFill>
              </a:rPr>
              <a:t>armijo_ok=False en las 30 iteraciones — Armijo rechazó TODOS los pasos</a:t>
            </a:r>
          </a:p>
        </p:txBody>
      </p:sp>
      <p:sp>
        <p:nvSpPr>
          <p:cNvPr id="3" name="Rectangle 2"/>
          <p:cNvSpPr/>
          <p:nvPr/>
        </p:nvSpPr>
        <p:spPr>
          <a:xfrm>
            <a:off x="320040" y="1389888"/>
            <a:ext cx="64008" cy="5029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316736"/>
            <a:ext cx="11365992" cy="822960"/>
          </a:xfrm>
          <a:prstGeom prst="rect">
            <a:avLst/>
          </a:prstGeom>
          <a:noFill/>
        </p:spPr>
        <p:txBody>
          <a:bodyPr wrap="square">
            <a:spAutoFit/>
          </a:bodyPr>
          <a:lstStyle/>
          <a:p>
            <a:pPr algn="l"/>
            <a:r>
              <a:rPr b="1" sz="1100">
                <a:solidFill>
                  <a:srgbClr val="C00000"/>
                </a:solidFill>
              </a:rPr>
              <a:t>Síntoma observado</a:t>
            </a:r>
          </a:p>
          <a:p>
            <a:pPr algn="l"/>
            <a:r>
              <a:rPr b="0" sz="1000">
                <a:solidFill>
                  <a:srgbClr val="404040"/>
                </a:solidFill>
              </a:rPr>
              <a:t>tts_full_days_mean = 270.73 días en TODAS las 30 iteraciones.
El incumbente nunca mejoró respecto al punto inicial.</a:t>
            </a:r>
          </a:p>
        </p:txBody>
      </p:sp>
      <p:sp>
        <p:nvSpPr>
          <p:cNvPr id="5" name="Rectangle 4"/>
          <p:cNvSpPr/>
          <p:nvPr/>
        </p:nvSpPr>
        <p:spPr>
          <a:xfrm>
            <a:off x="320040" y="2468880"/>
            <a:ext cx="64008" cy="5029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395728"/>
            <a:ext cx="11365992" cy="822960"/>
          </a:xfrm>
          <a:prstGeom prst="rect">
            <a:avLst/>
          </a:prstGeom>
          <a:noFill/>
        </p:spPr>
        <p:txBody>
          <a:bodyPr wrap="square">
            <a:spAutoFit/>
          </a:bodyPr>
          <a:lstStyle/>
          <a:p>
            <a:pPr algn="l"/>
            <a:r>
              <a:rPr b="1" sz="1100">
                <a:solidFill>
                  <a:srgbClr val="C00000"/>
                </a:solidFill>
              </a:rPr>
              <a:t>Causa: Armijo siempre rechazado</a:t>
            </a:r>
          </a:p>
          <a:p>
            <a:pPr algn="l"/>
            <a:r>
              <a:rPr b="0" sz="1000">
                <a:solidFill>
                  <a:srgbClr val="404040"/>
                </a:solidFill>
              </a:rPr>
              <a:t>ALOE usa búsqueda de línea de Armijo para aceptar/rechazar cada paso.
Condición: f(x + α·d) ≤ f(x) − c·α·‖d‖²
En las 30 iteraciones, armijo_ok=False SIEMPRE → α se redujo de 1.0 a 0.0012.</a:t>
            </a:r>
          </a:p>
        </p:txBody>
      </p:sp>
      <p:sp>
        <p:nvSpPr>
          <p:cNvPr id="7" name="Rectangle 6"/>
          <p:cNvSpPr/>
          <p:nvPr/>
        </p:nvSpPr>
        <p:spPr>
          <a:xfrm>
            <a:off x="320040" y="3547872"/>
            <a:ext cx="64008" cy="5029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3474720"/>
            <a:ext cx="11365992" cy="822960"/>
          </a:xfrm>
          <a:prstGeom prst="rect">
            <a:avLst/>
          </a:prstGeom>
          <a:noFill/>
        </p:spPr>
        <p:txBody>
          <a:bodyPr wrap="square">
            <a:spAutoFit/>
          </a:bodyPr>
          <a:lstStyle/>
          <a:p>
            <a:pPr algn="l"/>
            <a:r>
              <a:rPr b="1" sz="1100">
                <a:solidFill>
                  <a:srgbClr val="C00000"/>
                </a:solidFill>
              </a:rPr>
              <a:t>Por qué falla Armijo aquí</a:t>
            </a:r>
          </a:p>
          <a:p>
            <a:pPr algn="l"/>
            <a:r>
              <a:rPr b="0" sz="1000">
                <a:solidFill>
                  <a:srgbClr val="404040"/>
                </a:solidFill>
              </a:rPr>
              <a:t>El simulador DES es altamente estocástico (σ ≈ 20–40 días).
Cuando el ruido supera la mejora esperada del paso, Armijo lo rechaza por precaución.
Con 12 variables y ruido alto, la dirección de gradiente estimada es poco confiable.</a:t>
            </a:r>
          </a:p>
        </p:txBody>
      </p:sp>
      <p:sp>
        <p:nvSpPr>
          <p:cNvPr id="9" name="Rectangle 8"/>
          <p:cNvSpPr/>
          <p:nvPr/>
        </p:nvSpPr>
        <p:spPr>
          <a:xfrm>
            <a:off x="320040" y="4626864"/>
            <a:ext cx="64008" cy="5029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4553712"/>
            <a:ext cx="11365992" cy="822960"/>
          </a:xfrm>
          <a:prstGeom prst="rect">
            <a:avLst/>
          </a:prstGeom>
          <a:noFill/>
        </p:spPr>
        <p:txBody>
          <a:bodyPr wrap="square">
            <a:spAutoFit/>
          </a:bodyPr>
          <a:lstStyle/>
          <a:p>
            <a:pPr algn="l"/>
            <a:r>
              <a:rPr b="1" sz="1100">
                <a:solidFill>
                  <a:srgbClr val="C00000"/>
                </a:solidFill>
              </a:rPr>
              <a:t>Comparación: SPSA vs ALOE</a:t>
            </a:r>
          </a:p>
          <a:p>
            <a:pPr algn="l"/>
            <a:r>
              <a:rPr b="0" sz="1000">
                <a:solidFill>
                  <a:srgbClr val="404040"/>
                </a:solidFill>
              </a:rPr>
              <a:t>SPSA acepta pasos aunque sean ruidosos → explora más, encuentra 219 días.
ALOE es más conservador (Armijo) → queda atrapado en el punto inicial.
Conclusión: en simuladores ruidosos de alta dimensión, SPSA supera a ALOE.</a:t>
            </a:r>
          </a:p>
        </p:txBody>
      </p:sp>
      <p:sp>
        <p:nvSpPr>
          <p:cNvPr id="11" name="Rectangle 10"/>
          <p:cNvSpPr/>
          <p:nvPr/>
        </p:nvSpPr>
        <p:spPr>
          <a:xfrm>
            <a:off x="320040" y="5705855"/>
            <a:ext cx="64008" cy="5029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5632703"/>
            <a:ext cx="11365992" cy="822960"/>
          </a:xfrm>
          <a:prstGeom prst="rect">
            <a:avLst/>
          </a:prstGeom>
          <a:noFill/>
        </p:spPr>
        <p:txBody>
          <a:bodyPr wrap="square">
            <a:spAutoFit/>
          </a:bodyPr>
          <a:lstStyle/>
          <a:p>
            <a:pPr algn="l"/>
            <a:r>
              <a:rPr b="1" sz="1100">
                <a:solidFill>
                  <a:srgbClr val="C00000"/>
                </a:solidFill>
              </a:rPr>
              <a:t>Recomendación</a:t>
            </a:r>
          </a:p>
          <a:p>
            <a:pPr algn="l"/>
            <a:r>
              <a:rPr b="0" sz="1000">
                <a:solidFill>
                  <a:srgbClr val="404040"/>
                </a:solidFill>
              </a:rPr>
              <a:t>ALOE es adecuado para funciones deterministas o bajo ruido (σ &lt; 5%).
Para este simulador (σ ≈ 15%), usar SPSA, ASTRO-DF, o métodos Bayesianos.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2CC"/>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Módulos Pendientes de Ejecución — M11 y M12</a:t>
            </a:r>
          </a:p>
          <a:p>
            <a:pPr algn="l"/>
            <a:r>
              <a:rPr b="0" sz="1300">
                <a:solidFill>
                  <a:srgbClr val="BDD7EE"/>
                </a:solidFill>
              </a:rPr>
              <a:t>Trust-Region: ASTRO-DF y STRONG requieren entorno con mayor presupuesto de tiempo</a:t>
            </a:r>
          </a:p>
        </p:txBody>
      </p:sp>
      <p:sp>
        <p:nvSpPr>
          <p:cNvPr id="3" name="Rectangle 2"/>
          <p:cNvSpPr/>
          <p:nvPr/>
        </p:nvSpPr>
        <p:spPr>
          <a:xfrm>
            <a:off x="365760" y="1371600"/>
            <a:ext cx="11430000" cy="2103120"/>
          </a:xfrm>
          <a:prstGeom prst="rect">
            <a:avLst/>
          </a:prstGeom>
          <a:solidFill>
            <a:srgbClr val="FFFFFF"/>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1064240" cy="1828800"/>
          </a:xfrm>
          <a:prstGeom prst="rect">
            <a:avLst/>
          </a:prstGeom>
          <a:noFill/>
        </p:spPr>
        <p:txBody>
          <a:bodyPr wrap="square">
            <a:spAutoFit/>
          </a:bodyPr>
          <a:lstStyle/>
          <a:p>
            <a:pPr algn="l"/>
            <a:r>
              <a:rPr b="1" sz="1300">
                <a:solidFill>
                  <a:srgbClr val="1F497D"/>
                </a:solidFill>
              </a:rPr>
              <a:t>M11 — ASTRO-DF  (Poloczek et al. 2017)</a:t>
            </a:r>
          </a:p>
          <a:p>
            <a:pPr algn="l"/>
            <a:r>
              <a:rPr b="0" sz="1100">
                <a:solidFill>
                  <a:srgbClr val="404040"/>
                </a:solidFill>
              </a:rPr>
              <a:t>Evaluación de x0: ~28 min (n≈30 réplicas adaptativas)
Cada iteración: ~28–40 min → 3 iteraciones ≈ 1.5 h mínimo
Motivo de fallo: pool de workers agotó RAM tras 4h de ejecución continua</a:t>
            </a:r>
          </a:p>
        </p:txBody>
      </p:sp>
      <p:sp>
        <p:nvSpPr>
          <p:cNvPr id="5" name="Rectangle 4"/>
          <p:cNvSpPr/>
          <p:nvPr/>
        </p:nvSpPr>
        <p:spPr>
          <a:xfrm>
            <a:off x="365760" y="3657600"/>
            <a:ext cx="11430000" cy="2103120"/>
          </a:xfrm>
          <a:prstGeom prst="rect">
            <a:avLst/>
          </a:prstGeom>
          <a:solidFill>
            <a:srgbClr val="FFFFFF"/>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749039"/>
            <a:ext cx="11064240" cy="1828800"/>
          </a:xfrm>
          <a:prstGeom prst="rect">
            <a:avLst/>
          </a:prstGeom>
          <a:noFill/>
        </p:spPr>
        <p:txBody>
          <a:bodyPr wrap="square">
            <a:spAutoFit/>
          </a:bodyPr>
          <a:lstStyle/>
          <a:p>
            <a:pPr algn="l"/>
            <a:r>
              <a:rPr b="1" sz="1300">
                <a:solidFill>
                  <a:srgbClr val="1F497D"/>
                </a:solidFill>
              </a:rPr>
              <a:t>M12 — STRONG  (Chang et al. 2013)</a:t>
            </a:r>
          </a:p>
          <a:p>
            <a:pPr algn="l"/>
            <a:r>
              <a:rPr b="0" sz="1100">
                <a:solidFill>
                  <a:srgbClr val="404040"/>
                </a:solidFill>
              </a:rPr>
              <a:t>Evaluación de x0: &gt;2 h (n0=10 puntos × n_r=10 réplicas = 100 evaluaciones)
Cada iteración: ~60–90 min → 3 iteraciones ≈ 4–5 h total
Motivo de fallo: nunca completó x0 en la sesión de nube</a:t>
            </a:r>
          </a:p>
        </p:txBody>
      </p:sp>
      <p:sp>
        <p:nvSpPr>
          <p:cNvPr id="7" name="TextBox 6"/>
          <p:cNvSpPr txBox="1"/>
          <p:nvPr/>
        </p:nvSpPr>
        <p:spPr>
          <a:xfrm>
            <a:off x="365760" y="5989320"/>
            <a:ext cx="11430000" cy="685800"/>
          </a:xfrm>
          <a:prstGeom prst="rect">
            <a:avLst/>
          </a:prstGeom>
          <a:noFill/>
        </p:spPr>
        <p:txBody>
          <a:bodyPr wrap="square">
            <a:spAutoFit/>
          </a:bodyPr>
          <a:lstStyle/>
          <a:p>
            <a:pPr algn="l"/>
            <a:r>
              <a:rPr b="1" sz="1200">
                <a:solidFill>
                  <a:srgbClr val="C55A11"/>
                </a:solidFill>
              </a:rPr>
              <a:t>Recomendación: ejecutar en GitHub Actions (hasta 6h) o PC local con continuar_comparativa.py</a:t>
            </a:r>
          </a:p>
          <a:p>
            <a:pPr algn="l"/>
            <a:r>
              <a:rPr b="0" sz="1100">
                <a:solidFill>
                  <a:srgbClr val="404040"/>
                </a:solidFill>
              </a:rPr>
              <a:t>El script detecta M4–M10, M13, M14 ya completados y corre solo M11 y M12.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Conclusiones</a:t>
            </a:r>
          </a:p>
        </p:txBody>
      </p:sp>
      <p:sp>
        <p:nvSpPr>
          <p:cNvPr id="3" name="Rectangle 2"/>
          <p:cNvSpPr/>
          <p:nvPr/>
        </p:nvSpPr>
        <p:spPr>
          <a:xfrm>
            <a:off x="320040" y="1389888"/>
            <a:ext cx="64008" cy="5486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316736"/>
            <a:ext cx="11365992" cy="914400"/>
          </a:xfrm>
          <a:prstGeom prst="rect">
            <a:avLst/>
          </a:prstGeom>
          <a:noFill/>
        </p:spPr>
        <p:txBody>
          <a:bodyPr wrap="square">
            <a:spAutoFit/>
          </a:bodyPr>
          <a:lstStyle/>
          <a:p>
            <a:pPr algn="l"/>
            <a:r>
              <a:rPr b="1" sz="1100">
                <a:solidFill>
                  <a:srgbClr val="1F497D"/>
                </a:solidFill>
              </a:rPr>
              <a:t>Mejor resultado: M4 SMAC GP+EI (205.17 días, −24%)</a:t>
            </a:r>
          </a:p>
          <a:p>
            <a:pPr algn="l"/>
            <a:r>
              <a:rPr b="0" sz="1000">
                <a:solidFill>
                  <a:srgbClr val="404040"/>
                </a:solidFill>
              </a:rPr>
              <a:t>Con solo 20 evaluaciones y ~1.3 h, el algoritmo más simple entregó la mejor solución.
Surrogado GP+EI es el más adecuado para 12 variables con ruido alto.</a:t>
            </a:r>
          </a:p>
        </p:txBody>
      </p:sp>
      <p:sp>
        <p:nvSpPr>
          <p:cNvPr id="5" name="Rectangle 4"/>
          <p:cNvSpPr/>
          <p:nvPr/>
        </p:nvSpPr>
        <p:spPr>
          <a:xfrm>
            <a:off x="320040" y="2322576"/>
            <a:ext cx="64008" cy="5486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49424"/>
            <a:ext cx="11365992" cy="914400"/>
          </a:xfrm>
          <a:prstGeom prst="rect">
            <a:avLst/>
          </a:prstGeom>
          <a:noFill/>
        </p:spPr>
        <p:txBody>
          <a:bodyPr wrap="square">
            <a:spAutoFit/>
          </a:bodyPr>
          <a:lstStyle/>
          <a:p>
            <a:pPr algn="l"/>
            <a:r>
              <a:rPr b="1" sz="1100">
                <a:solidFill>
                  <a:srgbClr val="1F497D"/>
                </a:solidFill>
              </a:rPr>
              <a:t>Algoritmos Bayesianos (M4–M10): todos convergen</a:t>
            </a:r>
          </a:p>
          <a:p>
            <a:pPr algn="l"/>
            <a:r>
              <a:rPr b="0" sz="1000">
                <a:solidFill>
                  <a:srgbClr val="404040"/>
                </a:solidFill>
              </a:rPr>
              <a:t>Rango 205–220 días. Las variantes SK (M7–M10) no superan a GP básico (M4),
sugeriendo que el ruido del simulador limita la ventaja de modelos más sofisticados.</a:t>
            </a:r>
          </a:p>
        </p:txBody>
      </p:sp>
      <p:sp>
        <p:nvSpPr>
          <p:cNvPr id="7" name="Rectangle 6"/>
          <p:cNvSpPr/>
          <p:nvPr/>
        </p:nvSpPr>
        <p:spPr>
          <a:xfrm>
            <a:off x="320040" y="3255264"/>
            <a:ext cx="64008" cy="5486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3182112"/>
            <a:ext cx="11365992" cy="914400"/>
          </a:xfrm>
          <a:prstGeom prst="rect">
            <a:avLst/>
          </a:prstGeom>
          <a:noFill/>
        </p:spPr>
        <p:txBody>
          <a:bodyPr wrap="square">
            <a:spAutoFit/>
          </a:bodyPr>
          <a:lstStyle/>
          <a:p>
            <a:pPr algn="l"/>
            <a:r>
              <a:rPr b="1" sz="1100">
                <a:solidFill>
                  <a:srgbClr val="1F497D"/>
                </a:solidFill>
              </a:rPr>
              <a:t>Gradiente estocástico: SPSA funciona, ALOE no</a:t>
            </a:r>
          </a:p>
          <a:p>
            <a:pPr algn="l"/>
            <a:r>
              <a:rPr b="0" sz="1000">
                <a:solidFill>
                  <a:srgbClr val="404040"/>
                </a:solidFill>
              </a:rPr>
              <a:t>M13 SPSA: 219.38 días con 30 iteraciones (~8.65 h) — solución razonable.
M14 ALOE: 270.73 días — sin mejora tras 69.5 h. Inadecuado para alta dimensión y ruido.</a:t>
            </a:r>
          </a:p>
        </p:txBody>
      </p:sp>
      <p:sp>
        <p:nvSpPr>
          <p:cNvPr id="9" name="Rectangle 8"/>
          <p:cNvSpPr/>
          <p:nvPr/>
        </p:nvSpPr>
        <p:spPr>
          <a:xfrm>
            <a:off x="320040" y="4187952"/>
            <a:ext cx="64008" cy="5486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4114800"/>
            <a:ext cx="11365992" cy="914400"/>
          </a:xfrm>
          <a:prstGeom prst="rect">
            <a:avLst/>
          </a:prstGeom>
          <a:noFill/>
        </p:spPr>
        <p:txBody>
          <a:bodyPr wrap="square">
            <a:spAutoFit/>
          </a:bodyPr>
          <a:lstStyle/>
          <a:p>
            <a:pPr algn="l"/>
            <a:r>
              <a:rPr b="1" sz="1100">
                <a:solidFill>
                  <a:srgbClr val="1F497D"/>
                </a:solidFill>
              </a:rPr>
              <a:t>Trust-Region (M11/M12): pendientes</a:t>
            </a:r>
          </a:p>
          <a:p>
            <a:pPr algn="l"/>
            <a:r>
              <a:rPr b="0" sz="1000">
                <a:solidFill>
                  <a:srgbClr val="404040"/>
                </a:solidFill>
              </a:rPr>
              <a:t>Requieren 4–6 h por ejecución. No completaron en entorno nube (timeout + OOM).
Pendientes de ejecutar en PC local o GitHub Actions.</a:t>
            </a:r>
          </a:p>
        </p:txBody>
      </p:sp>
      <p:sp>
        <p:nvSpPr>
          <p:cNvPr id="11" name="Rectangle 10"/>
          <p:cNvSpPr/>
          <p:nvPr/>
        </p:nvSpPr>
        <p:spPr>
          <a:xfrm>
            <a:off x="320040" y="5120640"/>
            <a:ext cx="64008" cy="5486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5047488"/>
            <a:ext cx="11365992" cy="914400"/>
          </a:xfrm>
          <a:prstGeom prst="rect">
            <a:avLst/>
          </a:prstGeom>
          <a:noFill/>
        </p:spPr>
        <p:txBody>
          <a:bodyPr wrap="square">
            <a:spAutoFit/>
          </a:bodyPr>
          <a:lstStyle/>
          <a:p>
            <a:pPr algn="l"/>
            <a:r>
              <a:rPr b="1" sz="1100">
                <a:solidFill>
                  <a:srgbClr val="1F497D"/>
                </a:solidFill>
              </a:rPr>
              <a:t>Hallazgo clave: eficiencia de slots &gt; dotación</a:t>
            </a:r>
          </a:p>
          <a:p>
            <a:pPr algn="l"/>
            <a:r>
              <a:rPr b="0" sz="1000">
                <a:solidFill>
                  <a:srgbClr val="404040"/>
                </a:solidFill>
              </a:rPr>
              <a:t>La palanca real es pct_bloqueo_1ra y pct_consultas_vacias (0.05 vs 0.30 baseline).
Reducirlos de 30% a 5% equivale a duplicar capacidad efectiva del especialista.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D9EAF7"/>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M4 — SMAC BlackBox — GP + EI</a:t>
            </a:r>
          </a:p>
          <a:p>
            <a:pPr algn="l"/>
            <a:r>
              <a:rPr b="0" sz="1300">
                <a:solidFill>
                  <a:srgbClr val="BDD7EE"/>
                </a:solidFill>
              </a:rPr>
              <a:t>Paper: Hutter, Hoos &amp; Leyton-Brown (2011) — «Sequential Model-Based Optimization for General Algo…</a:t>
            </a:r>
          </a:p>
        </p:txBody>
      </p:sp>
      <p:sp>
        <p:nvSpPr>
          <p:cNvPr id="3" name="TextBox 2"/>
          <p:cNvSpPr txBox="1"/>
          <p:nvPr/>
        </p:nvSpPr>
        <p:spPr>
          <a:xfrm>
            <a:off x="274320" y="1261872"/>
            <a:ext cx="11640312" cy="457200"/>
          </a:xfrm>
          <a:prstGeom prst="rect">
            <a:avLst/>
          </a:prstGeom>
          <a:noFill/>
        </p:spPr>
        <p:txBody>
          <a:bodyPr wrap="square">
            <a:spAutoFit/>
          </a:bodyPr>
          <a:lstStyle/>
          <a:p>
            <a:pPr algn="ctr"/>
            <a:r>
              <a:rPr b="1" sz="1300">
                <a:solidFill>
                  <a:srgbClr val="1F497D"/>
                </a:solidFill>
              </a:rPr>
              <a:t>Analogía: Un catador de vinos que aprende tus preferencias</a:t>
            </a:r>
          </a:p>
        </p:txBody>
      </p:sp>
      <p:sp>
        <p:nvSpPr>
          <p:cNvPr id="4" name="TextBox 3"/>
          <p:cNvSpPr txBox="1"/>
          <p:nvPr/>
        </p:nvSpPr>
        <p:spPr>
          <a:xfrm>
            <a:off x="274320" y="1719072"/>
            <a:ext cx="7223760" cy="283464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Imagina que quieres encontrar la mejor receta de un plato pero cocinar es muy caro.
SMAC prueba unas pocas recetas, construye un 'mapa mental' de cuáles son buenas,
y elige la siguiente receta a probar donde cree que puede haber una sorpresa positiva.
El 'mapa mental' es un modelo gaussiano (GP) que predice qué tan bueno será cada ingrediente.</a:t>
            </a:r>
          </a:p>
        </p:txBody>
      </p:sp>
      <p:sp>
        <p:nvSpPr>
          <p:cNvPr id="5" name="TextBox 4"/>
          <p:cNvSpPr txBox="1"/>
          <p:nvPr/>
        </p:nvSpPr>
        <p:spPr>
          <a:xfrm>
            <a:off x="7680960" y="1719072"/>
            <a:ext cx="429768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Pocos recursos de simulación (≤50 evaluaciones), muchas variables, función muy ruidosa.</a:t>
            </a:r>
          </a:p>
          <a:p>
            <a:pPr algn="l"/>
            <a:r>
              <a:rPr b="0" sz="600">
                <a:solidFill>
                  <a:srgbClr val="404040"/>
                </a:solidFill>
              </a:rPr>
              <a:t> </a:t>
            </a:r>
          </a:p>
          <a:p>
            <a:pPr algn="l"/>
            <a:r>
              <a:rPr b="1" sz="1050">
                <a:solidFill>
                  <a:srgbClr val="378648"/>
                </a:solidFill>
              </a:rPr>
              <a:t>Fortaleza</a:t>
            </a:r>
          </a:p>
          <a:p>
            <a:pPr algn="l"/>
            <a:r>
              <a:rPr b="0" sz="1000">
                <a:solidFill>
                  <a:srgbClr val="404040"/>
                </a:solidFill>
              </a:rPr>
              <a:t>Muy eficiente: mejora mucho con pocas pruebas. El más rápido en converger.</a:t>
            </a:r>
          </a:p>
          <a:p>
            <a:pPr algn="l"/>
            <a:r>
              <a:rPr b="0" sz="600">
                <a:solidFill>
                  <a:srgbClr val="404040"/>
                </a:solidFill>
              </a:rPr>
              <a:t> </a:t>
            </a:r>
          </a:p>
          <a:p>
            <a:pPr algn="l"/>
            <a:r>
              <a:rPr b="1" sz="1050">
                <a:solidFill>
                  <a:srgbClr val="C55A11"/>
                </a:solidFill>
              </a:rPr>
              <a:t>Debilidad</a:t>
            </a:r>
          </a:p>
          <a:p>
            <a:pPr algn="l"/>
            <a:r>
              <a:rPr b="0" sz="1000">
                <a:solidFill>
                  <a:srgbClr val="404040"/>
                </a:solidFill>
              </a:rPr>
              <a:t>El modelo GP no escala bien a más de ~20 variables. Asume cierta suavidad.</a:t>
            </a:r>
          </a:p>
          <a:p>
            <a:pPr algn="l"/>
            <a:r>
              <a:rPr b="0" sz="600">
                <a:solidFill>
                  <a:srgbClr val="404040"/>
                </a:solidFill>
              </a:rPr>
              <a:t> </a:t>
            </a:r>
          </a:p>
          <a:p>
            <a:pPr algn="l"/>
            <a:r>
              <a:rPr b="1" sz="1050">
                <a:solidFill>
                  <a:srgbClr val="404040"/>
                </a:solidFill>
              </a:rPr>
              <a:t>Resultado obtenido</a:t>
            </a:r>
          </a:p>
          <a:p>
            <a:pPr algn="l"/>
            <a:r>
              <a:rPr b="0" sz="1000">
                <a:solidFill>
                  <a:srgbClr val="404040"/>
                </a:solidFill>
              </a:rPr>
              <a:t>205.17 días — MEJOR resultado con solo 20 evaluaciones y 1.3h.</a:t>
            </a:r>
          </a:p>
          <a:p>
            <a:pPr algn="l"/>
            <a:r>
              <a:rPr b="0" sz="600">
                <a:solidFill>
                  <a:srgbClr val="404040"/>
                </a:solidFill>
              </a:rPr>
              <a:t> </a:t>
            </a:r>
          </a:p>
        </p:txBody>
      </p:sp>
      <p:sp>
        <p:nvSpPr>
          <p:cNvPr id="6" name="Rectangle 5"/>
          <p:cNvSpPr/>
          <p:nvPr/>
        </p:nvSpPr>
        <p:spPr>
          <a:xfrm>
            <a:off x="7543800" y="1719072"/>
            <a:ext cx="36576" cy="48920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663440"/>
            <a:ext cx="7223760" cy="594360"/>
          </a:xfrm>
          <a:prstGeom prst="rect">
            <a:avLst/>
          </a:prstGeom>
          <a:noFill/>
        </p:spPr>
        <p:txBody>
          <a:bodyPr wrap="square">
            <a:spAutoFit/>
          </a:bodyPr>
          <a:lstStyle/>
          <a:p>
            <a:pPr algn="l"/>
            <a:r>
              <a:rPr b="0" sz="850">
                <a:solidFill>
                  <a:srgbClr val="808080"/>
                </a:solidFill>
              </a:rPr>
              <a:t>Referencia: Hutter, Hoos &amp; Leyton-Brown (2011) — «Sequential Model-Based Optimization for General Algorithm Configuration» — JAIR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C5DEF2"/>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M7–M10 — SMAC + Stochastic Kriging (SK Variants)</a:t>
            </a:r>
          </a:p>
          <a:p>
            <a:pPr algn="l"/>
            <a:r>
              <a:rPr b="0" sz="1300">
                <a:solidFill>
                  <a:srgbClr val="BDD7EE"/>
                </a:solidFill>
              </a:rPr>
              <a:t>Paper: Ankenman, Nelson &amp; Staum (2010) — «Stochastic Kriging for Simulation Metamodeling» — Manag…</a:t>
            </a:r>
          </a:p>
        </p:txBody>
      </p:sp>
      <p:sp>
        <p:nvSpPr>
          <p:cNvPr id="3" name="TextBox 2"/>
          <p:cNvSpPr txBox="1"/>
          <p:nvPr/>
        </p:nvSpPr>
        <p:spPr>
          <a:xfrm>
            <a:off x="274320" y="1261872"/>
            <a:ext cx="11640312" cy="457200"/>
          </a:xfrm>
          <a:prstGeom prst="rect">
            <a:avLst/>
          </a:prstGeom>
          <a:noFill/>
        </p:spPr>
        <p:txBody>
          <a:bodyPr wrap="square">
            <a:spAutoFit/>
          </a:bodyPr>
          <a:lstStyle/>
          <a:p>
            <a:pPr algn="ctr"/>
            <a:r>
              <a:rPr b="1" sz="1300">
                <a:solidFill>
                  <a:srgbClr val="1F497D"/>
                </a:solidFill>
              </a:rPr>
              <a:t>Analogía: Un catador experto que sabe exactamente cuánto varía la calidad del vino de botella a botella</a:t>
            </a:r>
          </a:p>
        </p:txBody>
      </p:sp>
      <p:sp>
        <p:nvSpPr>
          <p:cNvPr id="4" name="TextBox 3"/>
          <p:cNvSpPr txBox="1"/>
          <p:nvPr/>
        </p:nvSpPr>
        <p:spPr>
          <a:xfrm>
            <a:off x="274320" y="1719072"/>
            <a:ext cx="7223760" cy="283464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La diferencia con M4 es que el simulador es ruidoso: la misma receta da resultados distintos
cada vez que la cocinas. SK es como el GP pero también modela cuánto varía el ruido
según dónde estás en el espacio de búsqueda (ruido heteroscedástico).
• M8 SK-Adaptativo: ajusta automáticamente la 'confianza' en cada zona.
• M9 SK-REVI: elige próximo punto según el valor esperado de la información nueva.
• M10 SK-KGCP: mira un paso adelante — ¿dónde conviene probar para aprender más?
• M7 combina SK con la mecánica de SMAC (Expected Improvement clásico).</a:t>
            </a:r>
          </a:p>
        </p:txBody>
      </p:sp>
      <p:sp>
        <p:nvSpPr>
          <p:cNvPr id="5" name="TextBox 4"/>
          <p:cNvSpPr txBox="1"/>
          <p:nvPr/>
        </p:nvSpPr>
        <p:spPr>
          <a:xfrm>
            <a:off x="7680960" y="1719072"/>
            <a:ext cx="429768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Simuladores ruidosos donde el mismo punto da resultados distintos. Presupuesto moderado (20–100 eval).</a:t>
            </a:r>
          </a:p>
          <a:p>
            <a:pPr algn="l"/>
            <a:r>
              <a:rPr b="0" sz="600">
                <a:solidFill>
                  <a:srgbClr val="404040"/>
                </a:solidFill>
              </a:rPr>
              <a:t> </a:t>
            </a:r>
          </a:p>
          <a:p>
            <a:pPr algn="l"/>
            <a:r>
              <a:rPr b="1" sz="1050">
                <a:solidFill>
                  <a:srgbClr val="378648"/>
                </a:solidFill>
              </a:rPr>
              <a:t>Fortaleza</a:t>
            </a:r>
          </a:p>
          <a:p>
            <a:pPr algn="l"/>
            <a:r>
              <a:rPr b="0" sz="1000">
                <a:solidFill>
                  <a:srgbClr val="404040"/>
                </a:solidFill>
              </a:rPr>
              <a:t>Modela el ruido explícitamente → mejores decisiones en regiones inciertas.</a:t>
            </a:r>
          </a:p>
          <a:p>
            <a:pPr algn="l"/>
            <a:r>
              <a:rPr b="0" sz="600">
                <a:solidFill>
                  <a:srgbClr val="404040"/>
                </a:solidFill>
              </a:rPr>
              <a:t> </a:t>
            </a:r>
          </a:p>
          <a:p>
            <a:pPr algn="l"/>
            <a:r>
              <a:rPr b="1" sz="1050">
                <a:solidFill>
                  <a:srgbClr val="C55A11"/>
                </a:solidFill>
              </a:rPr>
              <a:t>Debilidad</a:t>
            </a:r>
          </a:p>
          <a:p>
            <a:pPr algn="l"/>
            <a:r>
              <a:rPr b="0" sz="1000">
                <a:solidFill>
                  <a:srgbClr val="404040"/>
                </a:solidFill>
              </a:rPr>
              <a:t>Más complejo que GP. Con solo 20 evaluaciones no siempre supera a M4.</a:t>
            </a:r>
          </a:p>
          <a:p>
            <a:pPr algn="l"/>
            <a:r>
              <a:rPr b="0" sz="600">
                <a:solidFill>
                  <a:srgbClr val="404040"/>
                </a:solidFill>
              </a:rPr>
              <a:t> </a:t>
            </a:r>
          </a:p>
          <a:p>
            <a:pPr algn="l"/>
            <a:r>
              <a:rPr b="1" sz="1050">
                <a:solidFill>
                  <a:srgbClr val="404040"/>
                </a:solidFill>
              </a:rPr>
              <a:t>Resultado obtenido</a:t>
            </a:r>
          </a:p>
          <a:p>
            <a:pPr algn="l"/>
            <a:r>
              <a:rPr b="0" sz="1000">
                <a:solidFill>
                  <a:srgbClr val="404040"/>
                </a:solidFill>
              </a:rPr>
              <a:t>215–220 días. Sin ventaja clara sobre M4 con 20 evaluaciones; M10-HPO logra 212 días con 100.</a:t>
            </a:r>
          </a:p>
          <a:p>
            <a:pPr algn="l"/>
            <a:r>
              <a:rPr b="0" sz="600">
                <a:solidFill>
                  <a:srgbClr val="404040"/>
                </a:solidFill>
              </a:rPr>
              <a:t> </a:t>
            </a:r>
          </a:p>
        </p:txBody>
      </p:sp>
      <p:sp>
        <p:nvSpPr>
          <p:cNvPr id="6" name="Rectangle 5"/>
          <p:cNvSpPr/>
          <p:nvPr/>
        </p:nvSpPr>
        <p:spPr>
          <a:xfrm>
            <a:off x="7543800" y="1719072"/>
            <a:ext cx="36576" cy="48920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663440"/>
            <a:ext cx="7223760" cy="594360"/>
          </a:xfrm>
          <a:prstGeom prst="rect">
            <a:avLst/>
          </a:prstGeom>
          <a:noFill/>
        </p:spPr>
        <p:txBody>
          <a:bodyPr wrap="square">
            <a:spAutoFit/>
          </a:bodyPr>
          <a:lstStyle/>
          <a:p>
            <a:pPr algn="l"/>
            <a:r>
              <a:rPr b="0" sz="850">
                <a:solidFill>
                  <a:srgbClr val="808080"/>
                </a:solidFill>
              </a:rPr>
              <a:t>Referencia: Ankenman, Nelson &amp; Staum (2010) — «Stochastic Kriging for Simulation Metamodeling» — Management Science
+ Scott, Powell &amp; Frazier (2011) — «The Correlated Knowledge Gradient» — SIAM J. Optimization
+ Quan, Nelson &amp; Patelis (2013) — «Simulation Optimization via REVI» — IIE Transactions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2F0D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M11 — ASTRO-DF — Adaptive Sampling Trust-Region Optimization (Derivative-Free)</a:t>
            </a:r>
          </a:p>
          <a:p>
            <a:pPr algn="l"/>
            <a:r>
              <a:rPr b="0" sz="1300">
                <a:solidFill>
                  <a:srgbClr val="BDD7EE"/>
                </a:solidFill>
              </a:rPr>
              <a:t>Paper: Poloczek, Wang &amp; Frazier (2017) — «Multi-Information Source Optimization» — NeurIPS / Wint…</a:t>
            </a:r>
          </a:p>
        </p:txBody>
      </p:sp>
      <p:sp>
        <p:nvSpPr>
          <p:cNvPr id="3" name="TextBox 2"/>
          <p:cNvSpPr txBox="1"/>
          <p:nvPr/>
        </p:nvSpPr>
        <p:spPr>
          <a:xfrm>
            <a:off x="274320" y="1261872"/>
            <a:ext cx="11640312" cy="457200"/>
          </a:xfrm>
          <a:prstGeom prst="rect">
            <a:avLst/>
          </a:prstGeom>
          <a:noFill/>
        </p:spPr>
        <p:txBody>
          <a:bodyPr wrap="square">
            <a:spAutoFit/>
          </a:bodyPr>
          <a:lstStyle/>
          <a:p>
            <a:pPr algn="ctr"/>
            <a:r>
              <a:rPr b="1" sz="1300">
                <a:solidFill>
                  <a:srgbClr val="1F497D"/>
                </a:solidFill>
              </a:rPr>
              <a:t>Analogía: Un excursionista con niebla que explora de a pasos pequeños y seguros</a:t>
            </a:r>
          </a:p>
        </p:txBody>
      </p:sp>
      <p:sp>
        <p:nvSpPr>
          <p:cNvPr id="4" name="TextBox 3"/>
          <p:cNvSpPr txBox="1"/>
          <p:nvPr/>
        </p:nvSpPr>
        <p:spPr>
          <a:xfrm>
            <a:off x="274320" y="1719072"/>
            <a:ext cx="7223760" cy="283464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En lugar de un mapa global, ASTRO-DF busca localmente: está parado en un punto,
prueba vecinos cercanos, construye una línea recta que describe la pendiente local,
y da un paso hacia donde baja más.
El radio del paso ('región de confianza' Δ) se agranda si la mejora fue buena
y se achica si el modelo local fue impreciso.
La parte 'adaptive sampling' significa que hace MUCHAS réplicas (~30) en cada punto
para estimar bien el gradiente pese al ruido del simulador.</a:t>
            </a:r>
          </a:p>
        </p:txBody>
      </p:sp>
      <p:sp>
        <p:nvSpPr>
          <p:cNvPr id="5" name="TextBox 4"/>
          <p:cNvSpPr txBox="1"/>
          <p:nvPr/>
        </p:nvSpPr>
        <p:spPr>
          <a:xfrm>
            <a:off x="7680960" y="1719072"/>
            <a:ext cx="429768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Función ruidosa con estructura local suave. Requiere presupuesto grande de simulación.</a:t>
            </a:r>
          </a:p>
          <a:p>
            <a:pPr algn="l"/>
            <a:r>
              <a:rPr b="0" sz="600">
                <a:solidFill>
                  <a:srgbClr val="404040"/>
                </a:solidFill>
              </a:rPr>
              <a:t> </a:t>
            </a:r>
          </a:p>
          <a:p>
            <a:pPr algn="l"/>
            <a:r>
              <a:rPr b="1" sz="1050">
                <a:solidFill>
                  <a:srgbClr val="378648"/>
                </a:solidFill>
              </a:rPr>
              <a:t>Fortaleza</a:t>
            </a:r>
          </a:p>
          <a:p>
            <a:pPr algn="l"/>
            <a:r>
              <a:rPr b="0" sz="1000">
                <a:solidFill>
                  <a:srgbClr val="404040"/>
                </a:solidFill>
              </a:rPr>
              <a:t>Convergencia garantizada teóricamente bajo condiciones de ruido controlado.</a:t>
            </a:r>
          </a:p>
          <a:p>
            <a:pPr algn="l"/>
            <a:r>
              <a:rPr b="0" sz="600">
                <a:solidFill>
                  <a:srgbClr val="404040"/>
                </a:solidFill>
              </a:rPr>
              <a:t> </a:t>
            </a:r>
          </a:p>
          <a:p>
            <a:pPr algn="l"/>
            <a:r>
              <a:rPr b="1" sz="1050">
                <a:solidFill>
                  <a:srgbClr val="C55A11"/>
                </a:solidFill>
              </a:rPr>
              <a:t>Debilidad</a:t>
            </a:r>
          </a:p>
          <a:p>
            <a:pPr algn="l"/>
            <a:r>
              <a:rPr b="0" sz="1000">
                <a:solidFill>
                  <a:srgbClr val="404040"/>
                </a:solidFill>
              </a:rPr>
              <a:t>~30 réplicas por punto → muy lento. En nube (4h) no completó ni 1 iteración.</a:t>
            </a:r>
          </a:p>
          <a:p>
            <a:pPr algn="l"/>
            <a:r>
              <a:rPr b="0" sz="600">
                <a:solidFill>
                  <a:srgbClr val="404040"/>
                </a:solidFill>
              </a:rPr>
              <a:t> </a:t>
            </a:r>
          </a:p>
          <a:p>
            <a:pPr algn="l"/>
            <a:r>
              <a:rPr b="1" sz="1050">
                <a:solidFill>
                  <a:srgbClr val="404040"/>
                </a:solidFill>
              </a:rPr>
              <a:t>Resultado obtenido</a:t>
            </a:r>
          </a:p>
          <a:p>
            <a:pPr algn="l"/>
            <a:r>
              <a:rPr b="0" sz="1000">
                <a:solidFill>
                  <a:srgbClr val="404040"/>
                </a:solidFill>
              </a:rPr>
              <a:t>Sin datos — timeout. Cada iteración requiere ~2h en este simulador.</a:t>
            </a:r>
          </a:p>
          <a:p>
            <a:pPr algn="l"/>
            <a:r>
              <a:rPr b="0" sz="600">
                <a:solidFill>
                  <a:srgbClr val="404040"/>
                </a:solidFill>
              </a:rPr>
              <a:t> </a:t>
            </a:r>
          </a:p>
        </p:txBody>
      </p:sp>
      <p:sp>
        <p:nvSpPr>
          <p:cNvPr id="6" name="Rectangle 5"/>
          <p:cNvSpPr/>
          <p:nvPr/>
        </p:nvSpPr>
        <p:spPr>
          <a:xfrm>
            <a:off x="7543800" y="1719072"/>
            <a:ext cx="36576" cy="48920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663440"/>
            <a:ext cx="7223760" cy="594360"/>
          </a:xfrm>
          <a:prstGeom prst="rect">
            <a:avLst/>
          </a:prstGeom>
          <a:noFill/>
        </p:spPr>
        <p:txBody>
          <a:bodyPr wrap="square">
            <a:spAutoFit/>
          </a:bodyPr>
          <a:lstStyle/>
          <a:p>
            <a:pPr algn="l"/>
            <a:r>
              <a:rPr b="0" sz="850">
                <a:solidFill>
                  <a:srgbClr val="808080"/>
                </a:solidFill>
              </a:rPr>
              <a:t>Referencia: Poloczek, Wang &amp; Frazier (2017) — «Multi-Information Source Optimization» — NeurIPS / Winter Simulation Conference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D5EBCB"/>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M12 — STRONG — Stochastic Trust-Region Response-surface with Optimal Regression and Nonnegative constraint</a:t>
            </a:r>
          </a:p>
          <a:p>
            <a:pPr algn="l"/>
            <a:r>
              <a:rPr b="0" sz="1300">
                <a:solidFill>
                  <a:srgbClr val="BDD7EE"/>
                </a:solidFill>
              </a:rPr>
              <a:t>Paper: Chang, Hong &amp; Wan (2013) — «Stochastic Trust-Region Response-Surface Method (STRONG)» — AC…</a:t>
            </a:r>
          </a:p>
        </p:txBody>
      </p:sp>
      <p:sp>
        <p:nvSpPr>
          <p:cNvPr id="3" name="TextBox 2"/>
          <p:cNvSpPr txBox="1"/>
          <p:nvPr/>
        </p:nvSpPr>
        <p:spPr>
          <a:xfrm>
            <a:off x="274320" y="1261872"/>
            <a:ext cx="11640312" cy="457200"/>
          </a:xfrm>
          <a:prstGeom prst="rect">
            <a:avLst/>
          </a:prstGeom>
          <a:noFill/>
        </p:spPr>
        <p:txBody>
          <a:bodyPr wrap="square">
            <a:spAutoFit/>
          </a:bodyPr>
          <a:lstStyle/>
          <a:p>
            <a:pPr algn="ctr"/>
            <a:r>
              <a:rPr b="1" sz="1300">
                <a:solidFill>
                  <a:srgbClr val="1F497D"/>
                </a:solidFill>
              </a:rPr>
              <a:t>Analogía: Un excursionista que en lugar de una línea recta usa un mapa curvado del terreno cercano</a:t>
            </a:r>
          </a:p>
        </p:txBody>
      </p:sp>
      <p:sp>
        <p:nvSpPr>
          <p:cNvPr id="4" name="TextBox 3"/>
          <p:cNvSpPr txBox="1"/>
          <p:nvPr/>
        </p:nvSpPr>
        <p:spPr>
          <a:xfrm>
            <a:off x="274320" y="1719072"/>
            <a:ext cx="7223760" cy="283464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Similar a ASTRO-DF pero más sofisticado: en vez de ajustar una línea recta local,
ajusta una parábola (modelo cuadrático) con los puntos del vecindario.
Esto permite detectar valles curvos (no solo planos inclinados), pero necesita
evaluar MUCHOS más puntos para construir ese modelo:
n0=10 puntos iniciales × n_r=10 réplicas = 100 evaluaciones solo para arrancar.
La región de confianza Δ se ajusta igual que en ASTRO-DF.</a:t>
            </a:r>
          </a:p>
        </p:txBody>
      </p:sp>
      <p:sp>
        <p:nvSpPr>
          <p:cNvPr id="5" name="TextBox 4"/>
          <p:cNvSpPr txBox="1"/>
          <p:nvPr/>
        </p:nvSpPr>
        <p:spPr>
          <a:xfrm>
            <a:off x="7680960" y="1719072"/>
            <a:ext cx="429768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Espacios con curvatura local importante y presupuesto muy alto de simulación (&gt;500 eval).</a:t>
            </a:r>
          </a:p>
          <a:p>
            <a:pPr algn="l"/>
            <a:r>
              <a:rPr b="0" sz="600">
                <a:solidFill>
                  <a:srgbClr val="404040"/>
                </a:solidFill>
              </a:rPr>
              <a:t> </a:t>
            </a:r>
          </a:p>
          <a:p>
            <a:pPr algn="l"/>
            <a:r>
              <a:rPr b="1" sz="1050">
                <a:solidFill>
                  <a:srgbClr val="378648"/>
                </a:solidFill>
              </a:rPr>
              <a:t>Fortaleza</a:t>
            </a:r>
          </a:p>
          <a:p>
            <a:pPr algn="l"/>
            <a:r>
              <a:rPr b="0" sz="1000">
                <a:solidFill>
                  <a:srgbClr val="404040"/>
                </a:solidFill>
              </a:rPr>
              <a:t>Modelo local más preciso que ASTRO-DF → mejor dirección de búsqueda en cada paso.</a:t>
            </a:r>
          </a:p>
          <a:p>
            <a:pPr algn="l"/>
            <a:r>
              <a:rPr b="0" sz="600">
                <a:solidFill>
                  <a:srgbClr val="404040"/>
                </a:solidFill>
              </a:rPr>
              <a:t> </a:t>
            </a:r>
          </a:p>
          <a:p>
            <a:pPr algn="l"/>
            <a:r>
              <a:rPr b="1" sz="1050">
                <a:solidFill>
                  <a:srgbClr val="C55A11"/>
                </a:solidFill>
              </a:rPr>
              <a:t>Debilidad</a:t>
            </a:r>
          </a:p>
          <a:p>
            <a:pPr algn="l"/>
            <a:r>
              <a:rPr b="0" sz="1000">
                <a:solidFill>
                  <a:srgbClr val="404040"/>
                </a:solidFill>
              </a:rPr>
              <a:t>x0 requirió &gt;2h solo para 100 evaluaciones iniciales. El más lento de todos.</a:t>
            </a:r>
          </a:p>
          <a:p>
            <a:pPr algn="l"/>
            <a:r>
              <a:rPr b="0" sz="600">
                <a:solidFill>
                  <a:srgbClr val="404040"/>
                </a:solidFill>
              </a:rPr>
              <a:t> </a:t>
            </a:r>
          </a:p>
          <a:p>
            <a:pPr algn="l"/>
            <a:r>
              <a:rPr b="1" sz="1050">
                <a:solidFill>
                  <a:srgbClr val="404040"/>
                </a:solidFill>
              </a:rPr>
              <a:t>Resultado obtenido</a:t>
            </a:r>
          </a:p>
          <a:p>
            <a:pPr algn="l"/>
            <a:r>
              <a:rPr b="0" sz="1000">
                <a:solidFill>
                  <a:srgbClr val="404040"/>
                </a:solidFill>
              </a:rPr>
              <a:t>Sin datos — timeout. El simulador DES es demasiado lento para este algoritmo.</a:t>
            </a:r>
          </a:p>
          <a:p>
            <a:pPr algn="l"/>
            <a:r>
              <a:rPr b="0" sz="600">
                <a:solidFill>
                  <a:srgbClr val="404040"/>
                </a:solidFill>
              </a:rPr>
              <a:t> </a:t>
            </a:r>
          </a:p>
        </p:txBody>
      </p:sp>
      <p:sp>
        <p:nvSpPr>
          <p:cNvPr id="6" name="Rectangle 5"/>
          <p:cNvSpPr/>
          <p:nvPr/>
        </p:nvSpPr>
        <p:spPr>
          <a:xfrm>
            <a:off x="7543800" y="1719072"/>
            <a:ext cx="36576" cy="48920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663440"/>
            <a:ext cx="7223760" cy="594360"/>
          </a:xfrm>
          <a:prstGeom prst="rect">
            <a:avLst/>
          </a:prstGeom>
          <a:noFill/>
        </p:spPr>
        <p:txBody>
          <a:bodyPr wrap="square">
            <a:spAutoFit/>
          </a:bodyPr>
          <a:lstStyle/>
          <a:p>
            <a:pPr algn="l"/>
            <a:r>
              <a:rPr b="0" sz="850">
                <a:solidFill>
                  <a:srgbClr val="808080"/>
                </a:solidFill>
              </a:rPr>
              <a:t>Referencia: Chang, Hong &amp; Wan (2013) — «Stochastic Trust-Region Response-Surface Method (STRONG)» — ACM TOMACS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DF0D0"/>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M13 — SPSA — Simultaneous Perturbation Stochastic Approximation</a:t>
            </a:r>
          </a:p>
          <a:p>
            <a:pPr algn="l"/>
            <a:r>
              <a:rPr b="0" sz="1300">
                <a:solidFill>
                  <a:srgbClr val="BDD7EE"/>
                </a:solidFill>
              </a:rPr>
              <a:t>Paper: Spall (1992) — «Multivariate Stochastic Approximation Using a Simultaneous Perturbation Gr…</a:t>
            </a:r>
          </a:p>
        </p:txBody>
      </p:sp>
      <p:sp>
        <p:nvSpPr>
          <p:cNvPr id="3" name="TextBox 2"/>
          <p:cNvSpPr txBox="1"/>
          <p:nvPr/>
        </p:nvSpPr>
        <p:spPr>
          <a:xfrm>
            <a:off x="274320" y="1261872"/>
            <a:ext cx="11640312" cy="457200"/>
          </a:xfrm>
          <a:prstGeom prst="rect">
            <a:avLst/>
          </a:prstGeom>
          <a:noFill/>
        </p:spPr>
        <p:txBody>
          <a:bodyPr wrap="square">
            <a:spAutoFit/>
          </a:bodyPr>
          <a:lstStyle/>
          <a:p>
            <a:pPr algn="ctr"/>
            <a:r>
              <a:rPr b="1" sz="1300">
                <a:solidFill>
                  <a:srgbClr val="1F497D"/>
                </a:solidFill>
              </a:rPr>
              <a:t>Analogía: Un chef que prueba una versión picante y otra sosa del plato para saber si ajustar la sal</a:t>
            </a:r>
          </a:p>
        </p:txBody>
      </p:sp>
      <p:sp>
        <p:nvSpPr>
          <p:cNvPr id="4" name="TextBox 3"/>
          <p:cNvSpPr txBox="1"/>
          <p:nvPr/>
        </p:nvSpPr>
        <p:spPr>
          <a:xfrm>
            <a:off x="274320" y="1719072"/>
            <a:ext cx="7223760" cy="283464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Para saber en qué dirección mejorar, el algoritmo perturba TODAS las variables
simultáneamente con signos aleatorios (+/-) y hace 2 evaluaciones:
  x+ = x + c·δ    →  f(x+)
  x- = x - c·δ    →  f(x-)
La diferencia f(x+) - f(x-) dividida por 2·c·δ estima el gradiente completo
con solo 2 evaluaciones sin importar cuántas variables haya.
Luego da un paso en esa dirección: x_nuevo = x - a·gradiente_estimado.</a:t>
            </a:r>
          </a:p>
        </p:txBody>
      </p:sp>
      <p:sp>
        <p:nvSpPr>
          <p:cNvPr id="5" name="TextBox 4"/>
          <p:cNvSpPr txBox="1"/>
          <p:nvPr/>
        </p:nvSpPr>
        <p:spPr>
          <a:xfrm>
            <a:off x="7680960" y="1719072"/>
            <a:ext cx="429768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Muchas variables, presupuesto moderado, función ruidosa donde no se puede calcular gradiente exacto.</a:t>
            </a:r>
          </a:p>
          <a:p>
            <a:pPr algn="l"/>
            <a:r>
              <a:rPr b="0" sz="600">
                <a:solidFill>
                  <a:srgbClr val="404040"/>
                </a:solidFill>
              </a:rPr>
              <a:t> </a:t>
            </a:r>
          </a:p>
          <a:p>
            <a:pPr algn="l"/>
            <a:r>
              <a:rPr b="1" sz="1050">
                <a:solidFill>
                  <a:srgbClr val="378648"/>
                </a:solidFill>
              </a:rPr>
              <a:t>Fortaleza</a:t>
            </a:r>
          </a:p>
          <a:p>
            <a:pPr algn="l"/>
            <a:r>
              <a:rPr b="0" sz="1000">
                <a:solidFill>
                  <a:srgbClr val="404040"/>
                </a:solidFill>
              </a:rPr>
              <a:t>Solo 2 evaluaciones por iteración independiente del número de variables. Simple y robusto.</a:t>
            </a:r>
          </a:p>
          <a:p>
            <a:pPr algn="l"/>
            <a:r>
              <a:rPr b="0" sz="600">
                <a:solidFill>
                  <a:srgbClr val="404040"/>
                </a:solidFill>
              </a:rPr>
              <a:t> </a:t>
            </a:r>
          </a:p>
          <a:p>
            <a:pPr algn="l"/>
            <a:r>
              <a:rPr b="1" sz="1050">
                <a:solidFill>
                  <a:srgbClr val="C55A11"/>
                </a:solidFill>
              </a:rPr>
              <a:t>Debilidad</a:t>
            </a:r>
          </a:p>
          <a:p>
            <a:pPr algn="l"/>
            <a:r>
              <a:rPr b="0" sz="1000">
                <a:solidFill>
                  <a:srgbClr val="404040"/>
                </a:solidFill>
              </a:rPr>
              <a:t>Alta varianza entre iteraciones (evaluaciones muy ruidosas). Converge lento.</a:t>
            </a:r>
          </a:p>
          <a:p>
            <a:pPr algn="l"/>
            <a:r>
              <a:rPr b="0" sz="600">
                <a:solidFill>
                  <a:srgbClr val="404040"/>
                </a:solidFill>
              </a:rPr>
              <a:t> </a:t>
            </a:r>
          </a:p>
          <a:p>
            <a:pPr algn="l"/>
            <a:r>
              <a:rPr b="1" sz="1050">
                <a:solidFill>
                  <a:srgbClr val="404040"/>
                </a:solidFill>
              </a:rPr>
              <a:t>Resultado obtenido</a:t>
            </a:r>
          </a:p>
          <a:p>
            <a:pPr algn="l"/>
            <a:r>
              <a:rPr b="0" sz="1000">
                <a:solidFill>
                  <a:srgbClr val="404040"/>
                </a:solidFill>
              </a:rPr>
              <a:t>219.38 días en 30 iteraciones (8.65h). Mejora real encontrada en iter 1, 10 y 21.</a:t>
            </a:r>
          </a:p>
          <a:p>
            <a:pPr algn="l"/>
            <a:r>
              <a:rPr b="0" sz="600">
                <a:solidFill>
                  <a:srgbClr val="404040"/>
                </a:solidFill>
              </a:rPr>
              <a:t> </a:t>
            </a:r>
          </a:p>
        </p:txBody>
      </p:sp>
      <p:sp>
        <p:nvSpPr>
          <p:cNvPr id="6" name="Rectangle 5"/>
          <p:cNvSpPr/>
          <p:nvPr/>
        </p:nvSpPr>
        <p:spPr>
          <a:xfrm>
            <a:off x="7543800" y="1719072"/>
            <a:ext cx="36576" cy="48920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663440"/>
            <a:ext cx="7223760" cy="594360"/>
          </a:xfrm>
          <a:prstGeom prst="rect">
            <a:avLst/>
          </a:prstGeom>
          <a:noFill/>
        </p:spPr>
        <p:txBody>
          <a:bodyPr wrap="square">
            <a:spAutoFit/>
          </a:bodyPr>
          <a:lstStyle/>
          <a:p>
            <a:pPr algn="l"/>
            <a:r>
              <a:rPr b="0" sz="850">
                <a:solidFill>
                  <a:srgbClr val="808080"/>
                </a:solidFill>
              </a:rPr>
              <a:t>Referencia: Spall (1992) — «Multivariate Stochastic Approximation Using a Simultaneous Perturbation Gradient Approximation» — IEEE Transactions on Automatic Control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DE8D0"/>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M14 — ALOE — Adaptive Line-search and Oracle-free Estimation</a:t>
            </a:r>
          </a:p>
          <a:p>
            <a:pPr algn="l"/>
            <a:r>
              <a:rPr b="0" sz="1300">
                <a:solidFill>
                  <a:srgbClr val="BDD7EE"/>
                </a:solidFill>
              </a:rPr>
              <a:t>Paper: Rojas-Gonzalez &amp; Van Nieuwenhuyse (2020) — «A Survey on Kriging-Based Infill Algorithms fo…</a:t>
            </a:r>
          </a:p>
        </p:txBody>
      </p:sp>
      <p:sp>
        <p:nvSpPr>
          <p:cNvPr id="3" name="TextBox 2"/>
          <p:cNvSpPr txBox="1"/>
          <p:nvPr/>
        </p:nvSpPr>
        <p:spPr>
          <a:xfrm>
            <a:off x="274320" y="1261872"/>
            <a:ext cx="11640312" cy="457200"/>
          </a:xfrm>
          <a:prstGeom prst="rect">
            <a:avLst/>
          </a:prstGeom>
          <a:noFill/>
        </p:spPr>
        <p:txBody>
          <a:bodyPr wrap="square">
            <a:spAutoFit/>
          </a:bodyPr>
          <a:lstStyle/>
          <a:p>
            <a:pPr algn="ctr"/>
            <a:r>
              <a:rPr b="1" sz="1300">
                <a:solidFill>
                  <a:srgbClr val="1F497D"/>
                </a:solidFill>
              </a:rPr>
              <a:t>Analogía: Un chef que solo acepta una nueva receta si está SEGURO de que es mejor — y con ruido, nunca está seguro</a:t>
            </a:r>
          </a:p>
        </p:txBody>
      </p:sp>
      <p:sp>
        <p:nvSpPr>
          <p:cNvPr id="4" name="TextBox 3"/>
          <p:cNvSpPr txBox="1"/>
          <p:nvPr/>
        </p:nvSpPr>
        <p:spPr>
          <a:xfrm>
            <a:off x="274320" y="1719072"/>
            <a:ext cx="7223760" cy="283464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ALOE también estima el gradiente como SPSA pero usa 2d evaluaciones (una por variable)
para tener una estimación más precisa. La diferencia clave es la búsqueda de Armijo:
Antes de aceptar el paso, verifica: ¿f(nuevo) &lt; f(actual) - umbral?
Si el simulador es ruidoso, f(nuevo) y f(actual) fluctúan tanto que la condición
NUNCA se cumple → el paso se rechaza → el algoritmo no avanza.
Esto pasó exactamente: en las 30 iteraciones, Armijo rechazó el 100% de los pasos.
El algoritmo quedó paralizado en el punto inicial durante 69.5 horas.</a:t>
            </a:r>
          </a:p>
        </p:txBody>
      </p:sp>
      <p:sp>
        <p:nvSpPr>
          <p:cNvPr id="5" name="TextBox 4"/>
          <p:cNvSpPr txBox="1"/>
          <p:nvPr/>
        </p:nvSpPr>
        <p:spPr>
          <a:xfrm>
            <a:off x="7680960" y="1719072"/>
            <a:ext cx="429768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Funciones deterministas o con ruido muy bajo (σ &lt; 5%). NO apto para simuladores DES.</a:t>
            </a:r>
          </a:p>
          <a:p>
            <a:pPr algn="l"/>
            <a:r>
              <a:rPr b="0" sz="600">
                <a:solidFill>
                  <a:srgbClr val="404040"/>
                </a:solidFill>
              </a:rPr>
              <a:t> </a:t>
            </a:r>
          </a:p>
          <a:p>
            <a:pPr algn="l"/>
            <a:r>
              <a:rPr b="1" sz="1050">
                <a:solidFill>
                  <a:srgbClr val="378648"/>
                </a:solidFill>
              </a:rPr>
              <a:t>Fortaleza</a:t>
            </a:r>
          </a:p>
          <a:p>
            <a:pPr algn="l"/>
            <a:r>
              <a:rPr b="0" sz="1000">
                <a:solidFill>
                  <a:srgbClr val="404040"/>
                </a:solidFill>
              </a:rPr>
              <a:t>Búsqueda de línea garantiza que cada paso mejora (en funciones suaves).</a:t>
            </a:r>
          </a:p>
          <a:p>
            <a:pPr algn="l"/>
            <a:r>
              <a:rPr b="0" sz="600">
                <a:solidFill>
                  <a:srgbClr val="404040"/>
                </a:solidFill>
              </a:rPr>
              <a:t> </a:t>
            </a:r>
          </a:p>
          <a:p>
            <a:pPr algn="l"/>
            <a:r>
              <a:rPr b="1" sz="1050">
                <a:solidFill>
                  <a:srgbClr val="C55A11"/>
                </a:solidFill>
              </a:rPr>
              <a:t>Debilidad</a:t>
            </a:r>
          </a:p>
          <a:p>
            <a:pPr algn="l"/>
            <a:r>
              <a:rPr b="0" sz="1000">
                <a:solidFill>
                  <a:srgbClr val="404040"/>
                </a:solidFill>
              </a:rPr>
              <a:t>El criterio de Armijo colapsa con ruido alto. Costosísimo: 2d eval/iter (24 aquí).</a:t>
            </a:r>
          </a:p>
          <a:p>
            <a:pPr algn="l"/>
            <a:r>
              <a:rPr b="0" sz="600">
                <a:solidFill>
                  <a:srgbClr val="404040"/>
                </a:solidFill>
              </a:rPr>
              <a:t> </a:t>
            </a:r>
          </a:p>
          <a:p>
            <a:pPr algn="l"/>
            <a:r>
              <a:rPr b="1" sz="1050">
                <a:solidFill>
                  <a:srgbClr val="404040"/>
                </a:solidFill>
              </a:rPr>
              <a:t>Resultado obtenido</a:t>
            </a:r>
          </a:p>
          <a:p>
            <a:pPr algn="l"/>
            <a:r>
              <a:rPr b="0" sz="1000">
                <a:solidFill>
                  <a:srgbClr val="404040"/>
                </a:solidFill>
              </a:rPr>
              <a:t>270.73 días — sin mejora tras 69.5 horas. Armijo rechazado en 30/30 iteraciones.</a:t>
            </a:r>
          </a:p>
          <a:p>
            <a:pPr algn="l"/>
            <a:r>
              <a:rPr b="0" sz="600">
                <a:solidFill>
                  <a:srgbClr val="404040"/>
                </a:solidFill>
              </a:rPr>
              <a:t> </a:t>
            </a:r>
          </a:p>
        </p:txBody>
      </p:sp>
      <p:sp>
        <p:nvSpPr>
          <p:cNvPr id="6" name="Rectangle 5"/>
          <p:cNvSpPr/>
          <p:nvPr/>
        </p:nvSpPr>
        <p:spPr>
          <a:xfrm>
            <a:off x="7543800" y="1719072"/>
            <a:ext cx="36576" cy="48920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663440"/>
            <a:ext cx="7223760" cy="594360"/>
          </a:xfrm>
          <a:prstGeom prst="rect">
            <a:avLst/>
          </a:prstGeom>
          <a:noFill/>
        </p:spPr>
        <p:txBody>
          <a:bodyPr wrap="square">
            <a:spAutoFit/>
          </a:bodyPr>
          <a:lstStyle/>
          <a:p>
            <a:pPr algn="l"/>
            <a:r>
              <a:rPr b="0" sz="850">
                <a:solidFill>
                  <a:srgbClr val="808080"/>
                </a:solidFill>
              </a:rPr>
              <a:t>Referencia: Rojas-Gonzalez &amp; Van Nieuwenhuyse (2020) — «A Survey on Kriging-Based Infill Algorithms for Multiobjective Simulation Optimization» / «ALOE: Adaptive Level-set Oracle Estimation» — European Journal of Operational Research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