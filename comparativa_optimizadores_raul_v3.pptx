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97D"/>
        </a:solidFill>
        <a:effectLst/>
      </p:bgPr>
    </p:bg>
    <p:spTree>
      <p:nvGrpSpPr>
        <p:cNvPr id="1" name=""/>
        <p:cNvGrpSpPr/>
        <p:nvPr/>
      </p:nvGrpSpPr>
      <p:grpSpPr/>
      <p:sp>
        <p:nvSpPr>
          <p:cNvPr id="2" name="TextBox 1"/>
          <p:cNvSpPr txBox="1"/>
          <p:nvPr/>
        </p:nvSpPr>
        <p:spPr>
          <a:xfrm>
            <a:off x="914400" y="1371600"/>
            <a:ext cx="10332720" cy="2377440"/>
          </a:xfrm>
          <a:prstGeom prst="rect">
            <a:avLst/>
          </a:prstGeom>
          <a:noFill/>
        </p:spPr>
        <p:txBody>
          <a:bodyPr wrap="none">
            <a:spAutoFit/>
          </a:bodyPr>
          <a:lstStyle/>
          <a:p>
            <a:pPr algn="ctr"/>
            <a:r>
              <a:rPr b="1" sz="3600">
                <a:solidFill>
                  <a:srgbClr val="FFFFFF"/>
                </a:solidFill>
              </a:rPr>
              <a:t>Comparativa de Algoritmos de Optimización
de Caja Negra — PC Raúl</a:t>
            </a:r>
          </a:p>
        </p:txBody>
      </p:sp>
      <p:sp>
        <p:nvSpPr>
          <p:cNvPr id="3" name="TextBox 2"/>
          <p:cNvSpPr txBox="1"/>
          <p:nvPr/>
        </p:nvSpPr>
        <p:spPr>
          <a:xfrm>
            <a:off x="914400" y="3749039"/>
            <a:ext cx="10332720" cy="731520"/>
          </a:xfrm>
          <a:prstGeom prst="rect">
            <a:avLst/>
          </a:prstGeom>
          <a:noFill/>
        </p:spPr>
        <p:txBody>
          <a:bodyPr wrap="none">
            <a:spAutoFit/>
          </a:bodyPr>
          <a:lstStyle/>
          <a:p>
            <a:pPr algn="ctr"/>
            <a:r>
              <a:rPr b="0" sz="2000">
                <a:solidFill>
                  <a:srgbClr val="BDD7EE"/>
                </a:solidFill>
              </a:rPr>
              <a:t>Simulador DES Clínica de Ginecología — Módulos M4, M7, M8, M9, M10-HPO, M13, M14</a:t>
            </a:r>
          </a:p>
        </p:txBody>
      </p:sp>
      <p:sp>
        <p:nvSpPr>
          <p:cNvPr id="4" name="TextBox 3"/>
          <p:cNvSpPr txBox="1"/>
          <p:nvPr/>
        </p:nvSpPr>
        <p:spPr>
          <a:xfrm>
            <a:off x="914400" y="4754880"/>
            <a:ext cx="10332720" cy="640080"/>
          </a:xfrm>
          <a:prstGeom prst="rect">
            <a:avLst/>
          </a:prstGeom>
          <a:noFill/>
        </p:spPr>
        <p:txBody>
          <a:bodyPr wrap="none">
            <a:spAutoFit/>
          </a:bodyPr>
          <a:lstStyle/>
          <a:p>
            <a:pPr algn="ctr"/>
            <a:r>
              <a:rPr b="0" sz="1300">
                <a:solidFill>
                  <a:srgbClr val="9DC3E6"/>
                </a:solidFill>
              </a:rPr>
              <a:t>Mayo 2026  ·  Raúl Araneda  ·  Entorno: PC local  ·  seed=42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Descripción del Problema</a:t>
            </a:r>
          </a:p>
          <a:p>
            <a:pPr algn="l"/>
            <a:r>
              <a:rPr b="0" sz="1300">
                <a:solidFill>
                  <a:srgbClr val="BDD7EE"/>
                </a:solidFill>
              </a:rPr>
              <a:t>Optimización caja negra sobre simulador DES de Clínica de Ginecología</a:t>
            </a:r>
          </a:p>
        </p:txBody>
      </p:sp>
      <p:sp>
        <p:nvSpPr>
          <p:cNvPr id="3" name="Rectangle 2"/>
          <p:cNvSpPr/>
          <p:nvPr/>
        </p:nvSpPr>
        <p:spPr>
          <a:xfrm>
            <a:off x="347472" y="1389888"/>
            <a:ext cx="64008"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1316736"/>
            <a:ext cx="11338560" cy="1051560"/>
          </a:xfrm>
          <a:prstGeom prst="rect">
            <a:avLst/>
          </a:prstGeom>
          <a:noFill/>
        </p:spPr>
        <p:txBody>
          <a:bodyPr wrap="square">
            <a:spAutoFit/>
          </a:bodyPr>
          <a:lstStyle/>
          <a:p>
            <a:pPr algn="l"/>
            <a:r>
              <a:rPr b="1" sz="1200">
                <a:solidFill>
                  <a:srgbClr val="1F497D"/>
                </a:solidFill>
              </a:rPr>
              <a:t>Objetivo</a:t>
            </a:r>
          </a:p>
          <a:p>
            <a:pPr algn="l"/>
            <a:r>
              <a:rPr b="0" sz="1050">
                <a:solidFill>
                  <a:srgbClr val="404040"/>
                </a:solidFill>
              </a:rPr>
              <a:t>Minimizar tts_full_days_mean: tiempo promedio total de espera (días)
desde derivación hasta alta en Clínica de Ginecología.</a:t>
            </a:r>
          </a:p>
        </p:txBody>
      </p:sp>
      <p:sp>
        <p:nvSpPr>
          <p:cNvPr id="5" name="Rectangle 4"/>
          <p:cNvSpPr/>
          <p:nvPr/>
        </p:nvSpPr>
        <p:spPr>
          <a:xfrm>
            <a:off x="347472" y="2688336"/>
            <a:ext cx="64008"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2615184"/>
            <a:ext cx="11338560" cy="1051560"/>
          </a:xfrm>
          <a:prstGeom prst="rect">
            <a:avLst/>
          </a:prstGeom>
          <a:noFill/>
        </p:spPr>
        <p:txBody>
          <a:bodyPr wrap="square">
            <a:spAutoFit/>
          </a:bodyPr>
          <a:lstStyle/>
          <a:p>
            <a:pPr algn="l"/>
            <a:r>
              <a:rPr b="1" sz="1200">
                <a:solidFill>
                  <a:srgbClr val="1F497D"/>
                </a:solidFill>
              </a:rPr>
              <a:t>Variables de decisión (12)</a:t>
            </a:r>
          </a:p>
          <a:p>
            <a:pPr algn="l"/>
            <a:r>
              <a:rPr b="0" sz="1050">
                <a:solidFill>
                  <a:srgbClr val="404040"/>
                </a:solidFill>
              </a:rPr>
              <a:t>cupos_eco_matrona, cupos_eco_ugd, cupos_lab_ugd, dias_publicacion,
horas_control_post, horas_especialista_1ra, num_agentes_ugd, num_matronas,
pct_bloqueo_1ra, pct_bloqueo_post_control, pct_consultas_vacias, pct_no_contactabilidad</a:t>
            </a:r>
          </a:p>
        </p:txBody>
      </p:sp>
      <p:sp>
        <p:nvSpPr>
          <p:cNvPr id="7" name="Rectangle 6"/>
          <p:cNvSpPr/>
          <p:nvPr/>
        </p:nvSpPr>
        <p:spPr>
          <a:xfrm>
            <a:off x="347472" y="3986783"/>
            <a:ext cx="64008"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3913631"/>
            <a:ext cx="11338560" cy="1051560"/>
          </a:xfrm>
          <a:prstGeom prst="rect">
            <a:avLst/>
          </a:prstGeom>
          <a:noFill/>
        </p:spPr>
        <p:txBody>
          <a:bodyPr wrap="square">
            <a:spAutoFit/>
          </a:bodyPr>
          <a:lstStyle/>
          <a:p>
            <a:pPr algn="l"/>
            <a:r>
              <a:rPr b="1" sz="1200">
                <a:solidFill>
                  <a:srgbClr val="1F497D"/>
                </a:solidFill>
              </a:rPr>
              <a:t>Simulador</a:t>
            </a:r>
          </a:p>
          <a:p>
            <a:pPr algn="l"/>
            <a:r>
              <a:rPr b="0" sz="1050">
                <a:solidFill>
                  <a:srgbClr val="404040"/>
                </a:solidFill>
              </a:rPr>
              <a:t>simulador_clinica_baseline.py — modelo de eventos discretos (DES) estocástico con simpy.
Cada evaluación ejecuta 2 réplicas con semillas aleatorias → función ruidosa σ≈20–40 días.</a:t>
            </a:r>
          </a:p>
        </p:txBody>
      </p:sp>
      <p:sp>
        <p:nvSpPr>
          <p:cNvPr id="9" name="Rectangle 8"/>
          <p:cNvSpPr/>
          <p:nvPr/>
        </p:nvSpPr>
        <p:spPr>
          <a:xfrm>
            <a:off x="347472" y="5285231"/>
            <a:ext cx="64008"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5212079"/>
            <a:ext cx="11338560" cy="1051560"/>
          </a:xfrm>
          <a:prstGeom prst="rect">
            <a:avLst/>
          </a:prstGeom>
          <a:noFill/>
        </p:spPr>
        <p:txBody>
          <a:bodyPr wrap="square">
            <a:spAutoFit/>
          </a:bodyPr>
          <a:lstStyle/>
          <a:p>
            <a:pPr algn="l"/>
            <a:r>
              <a:rPr b="1" sz="1200">
                <a:solidFill>
                  <a:srgbClr val="1F497D"/>
                </a:solidFill>
              </a:rPr>
              <a:t>Resultados destacados (PC Raúl)</a:t>
            </a:r>
          </a:p>
          <a:p>
            <a:pPr algn="l"/>
            <a:r>
              <a:rPr b="0" sz="1050">
                <a:solidFill>
                  <a:srgbClr val="404040"/>
                </a:solidFill>
              </a:rPr>
              <a:t>Línea base: ~270 días  →  M10-HPO (SK-KGCP, 100 eval): 212.03 días  (−21.7%)
M8 (SK Adapt., 76 eval): 218.05 d  |  M9 (SK-REVI, 41 eval): 219.26 d  |  M13 (SPSA): 219.38 d  |  M7 (SK EI, 40 eval): 219.96 d
M4 (GP+EI, 20 eval): 230.80 d  |  M14 (ALOE): 270.73 d — sin convergencia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Algoritmos Evaluados — Clasificación y Referencias</a:t>
            </a:r>
          </a:p>
        </p:txBody>
      </p:sp>
      <p:graphicFrame>
        <p:nvGraphicFramePr>
          <p:cNvPr id="3" name="Table 2"/>
          <p:cNvGraphicFramePr>
            <a:graphicFrameLocks noGrp="1"/>
          </p:cNvGraphicFramePr>
          <p:nvPr/>
        </p:nvGraphicFramePr>
        <p:xfrm>
          <a:off x="457200" y="1325880"/>
          <a:ext cx="10360152" cy="4480560"/>
        </p:xfrm>
        <a:graphic>
          <a:graphicData uri="http://schemas.openxmlformats.org/drawingml/2006/table">
            <a:tbl>
              <a:tblPr firstRow="1" bandRow="1">
                <a:tableStyleId>{5C22544A-7EE6-4342-B048-85BDC9FD1C3A}</a:tableStyleId>
              </a:tblPr>
              <a:tblGrid>
                <a:gridCol w="822960"/>
                <a:gridCol w="2194560"/>
                <a:gridCol w="1463040"/>
                <a:gridCol w="5879592"/>
              </a:tblGrid>
              <a:tr h="560070">
                <a:tc>
                  <a:txBody>
                    <a:bodyPr wrap="square"/>
                    <a:lstStyle/>
                    <a:p>
                      <a:pPr algn="ctr"/>
                      <a:r>
                        <a:rPr b="1" sz="1100">
                          <a:solidFill>
                            <a:srgbClr val="FFFFFF"/>
                          </a:solidFill>
                        </a:rPr>
                        <a:t>Módulo</a:t>
                      </a:r>
                    </a:p>
                  </a:txBody>
                  <a:tcPr>
                    <a:solidFill>
                      <a:srgbClr val="1F497D"/>
                    </a:solidFill>
                  </a:tcPr>
                </a:tc>
                <a:tc>
                  <a:txBody>
                    <a:bodyPr wrap="square"/>
                    <a:lstStyle/>
                    <a:p>
                      <a:pPr algn="ctr"/>
                      <a:r>
                        <a:rPr b="1" sz="1100">
                          <a:solidFill>
                            <a:srgbClr val="FFFFFF"/>
                          </a:solidFill>
                        </a:rPr>
                        <a:t>Algoritmo</a:t>
                      </a:r>
                    </a:p>
                  </a:txBody>
                  <a:tcPr>
                    <a:solidFill>
                      <a:srgbClr val="1F497D"/>
                    </a:solidFill>
                  </a:tcPr>
                </a:tc>
                <a:tc>
                  <a:txBody>
                    <a:bodyPr wrap="square"/>
                    <a:lstStyle/>
                    <a:p>
                      <a:pPr algn="ctr"/>
                      <a:r>
                        <a:rPr b="1" sz="1100">
                          <a:solidFill>
                            <a:srgbClr val="FFFFFF"/>
                          </a:solidFill>
                        </a:rPr>
                        <a:t>Familia</a:t>
                      </a:r>
                    </a:p>
                  </a:txBody>
                  <a:tcPr>
                    <a:solidFill>
                      <a:srgbClr val="1F497D"/>
                    </a:solidFill>
                  </a:tcPr>
                </a:tc>
                <a:tc>
                  <a:txBody>
                    <a:bodyPr wrap="square"/>
                    <a:lstStyle/>
                    <a:p>
                      <a:pPr algn="ctr"/>
                      <a:r>
                        <a:rPr b="1" sz="1100">
                          <a:solidFill>
                            <a:srgbClr val="FFFFFF"/>
                          </a:solidFill>
                        </a:rPr>
                        <a:t>Referencia clave</a:t>
                      </a:r>
                    </a:p>
                  </a:txBody>
                  <a:tcPr>
                    <a:solidFill>
                      <a:srgbClr val="1F497D"/>
                    </a:solidFill>
                  </a:tcPr>
                </a:tc>
              </a:tr>
              <a:tr h="560070">
                <a:tc>
                  <a:txBody>
                    <a:bodyPr wrap="square"/>
                    <a:lstStyle/>
                    <a:p>
                      <a:pPr algn="ctr"/>
                      <a:r>
                        <a:rPr b="0" sz="1100">
                          <a:solidFill>
                            <a:srgbClr val="404040"/>
                          </a:solidFill>
                        </a:rPr>
                        <a:t>M4</a:t>
                      </a:r>
                    </a:p>
                  </a:txBody>
                  <a:tcPr>
                    <a:solidFill>
                      <a:srgbClr val="D9EAF7"/>
                    </a:solidFill>
                  </a:tcPr>
                </a:tc>
                <a:tc>
                  <a:txBody>
                    <a:bodyPr wrap="square"/>
                    <a:lstStyle/>
                    <a:p>
                      <a:pPr algn="l"/>
                      <a:r>
                        <a:rPr b="0" sz="1100">
                          <a:solidFill>
                            <a:srgbClr val="404040"/>
                          </a:solidFill>
                        </a:rPr>
                        <a:t>SMAC BlackBox (GP+EI)</a:t>
                      </a:r>
                    </a:p>
                  </a:txBody>
                  <a:tcPr>
                    <a:solidFill>
                      <a:srgbClr val="D9EAF7"/>
                    </a:solidFill>
                  </a:tcPr>
                </a:tc>
                <a:tc>
                  <a:txBody>
                    <a:bodyPr wrap="square"/>
                    <a:lstStyle/>
                    <a:p>
                      <a:pPr algn="ctr"/>
                      <a:r>
                        <a:rPr b="0" sz="1100">
                          <a:solidFill>
                            <a:srgbClr val="404040"/>
                          </a:solidFill>
                        </a:rPr>
                        <a:t>Bayesiana — GP</a:t>
                      </a:r>
                    </a:p>
                  </a:txBody>
                  <a:tcPr>
                    <a:solidFill>
                      <a:srgbClr val="D9EAF7"/>
                    </a:solidFill>
                  </a:tcPr>
                </a:tc>
                <a:tc>
                  <a:txBody>
                    <a:bodyPr wrap="square"/>
                    <a:lstStyle/>
                    <a:p>
                      <a:pPr algn="l"/>
                      <a:r>
                        <a:rPr b="0" sz="1100">
                          <a:solidFill>
                            <a:srgbClr val="404040"/>
                          </a:solidFill>
                        </a:rPr>
                        <a:t>Hutter et al. 2011 (JAIR)</a:t>
                      </a:r>
                    </a:p>
                  </a:txBody>
                  <a:tcPr>
                    <a:solidFill>
                      <a:srgbClr val="D9EAF7"/>
                    </a:solidFill>
                  </a:tcPr>
                </a:tc>
              </a:tr>
              <a:tr h="560070">
                <a:tc>
                  <a:txBody>
                    <a:bodyPr wrap="square"/>
                    <a:lstStyle/>
                    <a:p>
                      <a:pPr algn="ctr"/>
                      <a:r>
                        <a:rPr b="0" sz="1100">
                          <a:solidFill>
                            <a:srgbClr val="404040"/>
                          </a:solidFill>
                        </a:rPr>
                        <a:t>M7</a:t>
                      </a:r>
                    </a:p>
                  </a:txBody>
                  <a:tcPr>
                    <a:solidFill>
                      <a:srgbClr val="C5DEF2"/>
                    </a:solidFill>
                  </a:tcPr>
                </a:tc>
                <a:tc>
                  <a:txBody>
                    <a:bodyPr wrap="square"/>
                    <a:lstStyle/>
                    <a:p>
                      <a:pPr algn="l"/>
                      <a:r>
                        <a:rPr b="0" sz="1100">
                          <a:solidFill>
                            <a:srgbClr val="404040"/>
                          </a:solidFill>
                        </a:rPr>
                        <a:t>SMAC + SK (EI)</a:t>
                      </a:r>
                    </a:p>
                  </a:txBody>
                  <a:tcPr>
                    <a:solidFill>
                      <a:srgbClr val="C5DEF2"/>
                    </a:solidFill>
                  </a:tcPr>
                </a:tc>
                <a:tc>
                  <a:txBody>
                    <a:bodyPr wrap="square"/>
                    <a:lstStyle/>
                    <a:p>
                      <a:pPr algn="ctr"/>
                      <a:r>
                        <a:rPr b="0" sz="1100">
                          <a:solidFill>
                            <a:srgbClr val="404040"/>
                          </a:solidFill>
                        </a:rPr>
                        <a:t>Bayesiana — SK</a:t>
                      </a:r>
                    </a:p>
                  </a:txBody>
                  <a:tcPr>
                    <a:solidFill>
                      <a:srgbClr val="C5DEF2"/>
                    </a:solidFill>
                  </a:tcPr>
                </a:tc>
                <a:tc>
                  <a:txBody>
                    <a:bodyPr wrap="square"/>
                    <a:lstStyle/>
                    <a:p>
                      <a:pPr algn="l"/>
                      <a:r>
                        <a:rPr b="0" sz="1100">
                          <a:solidFill>
                            <a:srgbClr val="404040"/>
                          </a:solidFill>
                        </a:rPr>
                        <a:t>Ankenman et al. 2010 + Hutter 2011</a:t>
                      </a:r>
                    </a:p>
                  </a:txBody>
                  <a:tcPr>
                    <a:solidFill>
                      <a:srgbClr val="C5DEF2"/>
                    </a:solidFill>
                  </a:tcPr>
                </a:tc>
              </a:tr>
              <a:tr h="560070">
                <a:tc>
                  <a:txBody>
                    <a:bodyPr wrap="square"/>
                    <a:lstStyle/>
                    <a:p>
                      <a:pPr algn="ctr"/>
                      <a:r>
                        <a:rPr b="0" sz="1100">
                          <a:solidFill>
                            <a:srgbClr val="404040"/>
                          </a:solidFill>
                        </a:rPr>
                        <a:t>M8</a:t>
                      </a:r>
                    </a:p>
                  </a:txBody>
                  <a:tcPr>
                    <a:solidFill>
                      <a:srgbClr val="B8D8ED"/>
                    </a:solidFill>
                  </a:tcPr>
                </a:tc>
                <a:tc>
                  <a:txBody>
                    <a:bodyPr wrap="square"/>
                    <a:lstStyle/>
                    <a:p>
                      <a:pPr algn="l"/>
                      <a:r>
                        <a:rPr b="0" sz="1100">
                          <a:solidFill>
                            <a:srgbClr val="404040"/>
                          </a:solidFill>
                        </a:rPr>
                        <a:t>SK Adaptativo</a:t>
                      </a:r>
                    </a:p>
                  </a:txBody>
                  <a:tcPr>
                    <a:solidFill>
                      <a:srgbClr val="B8D8ED"/>
                    </a:solidFill>
                  </a:tcPr>
                </a:tc>
                <a:tc>
                  <a:txBody>
                    <a:bodyPr wrap="square"/>
                    <a:lstStyle/>
                    <a:p>
                      <a:pPr algn="ctr"/>
                      <a:r>
                        <a:rPr b="0" sz="1100">
                          <a:solidFill>
                            <a:srgbClr val="404040"/>
                          </a:solidFill>
                        </a:rPr>
                        <a:t>Bayesiana — SK</a:t>
                      </a:r>
                    </a:p>
                  </a:txBody>
                  <a:tcPr>
                    <a:solidFill>
                      <a:srgbClr val="B8D8ED"/>
                    </a:solidFill>
                  </a:tcPr>
                </a:tc>
                <a:tc>
                  <a:txBody>
                    <a:bodyPr wrap="square"/>
                    <a:lstStyle/>
                    <a:p>
                      <a:pPr algn="l"/>
                      <a:r>
                        <a:rPr b="0" sz="1100">
                          <a:solidFill>
                            <a:srgbClr val="404040"/>
                          </a:solidFill>
                        </a:rPr>
                        <a:t>Ankenman, Nelson &amp; Staum 2010 (Management Science)</a:t>
                      </a:r>
                    </a:p>
                  </a:txBody>
                  <a:tcPr>
                    <a:solidFill>
                      <a:srgbClr val="B8D8ED"/>
                    </a:solidFill>
                  </a:tcPr>
                </a:tc>
              </a:tr>
              <a:tr h="560070">
                <a:tc>
                  <a:txBody>
                    <a:bodyPr wrap="square"/>
                    <a:lstStyle/>
                    <a:p>
                      <a:pPr algn="ctr"/>
                      <a:r>
                        <a:rPr b="0" sz="1100">
                          <a:solidFill>
                            <a:srgbClr val="404040"/>
                          </a:solidFill>
                        </a:rPr>
                        <a:t>M9</a:t>
                      </a:r>
                    </a:p>
                  </a:txBody>
                  <a:tcPr>
                    <a:solidFill>
                      <a:srgbClr val="A0CCE3"/>
                    </a:solidFill>
                  </a:tcPr>
                </a:tc>
                <a:tc>
                  <a:txBody>
                    <a:bodyPr wrap="square"/>
                    <a:lstStyle/>
                    <a:p>
                      <a:pPr algn="l"/>
                      <a:r>
                        <a:rPr b="0" sz="1100">
                          <a:solidFill>
                            <a:srgbClr val="404040"/>
                          </a:solidFill>
                        </a:rPr>
                        <a:t>SK-REVI</a:t>
                      </a:r>
                    </a:p>
                  </a:txBody>
                  <a:tcPr>
                    <a:solidFill>
                      <a:srgbClr val="A0CCE3"/>
                    </a:solidFill>
                  </a:tcPr>
                </a:tc>
                <a:tc>
                  <a:txBody>
                    <a:bodyPr wrap="square"/>
                    <a:lstStyle/>
                    <a:p>
                      <a:pPr algn="ctr"/>
                      <a:r>
                        <a:rPr b="0" sz="1100">
                          <a:solidFill>
                            <a:srgbClr val="404040"/>
                          </a:solidFill>
                        </a:rPr>
                        <a:t>Bayesiana — SK</a:t>
                      </a:r>
                    </a:p>
                  </a:txBody>
                  <a:tcPr>
                    <a:solidFill>
                      <a:srgbClr val="A0CCE3"/>
                    </a:solidFill>
                  </a:tcPr>
                </a:tc>
                <a:tc>
                  <a:txBody>
                    <a:bodyPr wrap="square"/>
                    <a:lstStyle/>
                    <a:p>
                      <a:pPr algn="l"/>
                      <a:r>
                        <a:rPr b="0" sz="1100">
                          <a:solidFill>
                            <a:srgbClr val="404040"/>
                          </a:solidFill>
                        </a:rPr>
                        <a:t>Quan, Nelson &amp; Patelis 2013 (IIE Transactions)</a:t>
                      </a:r>
                    </a:p>
                  </a:txBody>
                  <a:tcPr>
                    <a:solidFill>
                      <a:srgbClr val="A0CCE3"/>
                    </a:solidFill>
                  </a:tcPr>
                </a:tc>
              </a:tr>
              <a:tr h="560070">
                <a:tc>
                  <a:txBody>
                    <a:bodyPr wrap="square"/>
                    <a:lstStyle/>
                    <a:p>
                      <a:pPr algn="ctr"/>
                      <a:r>
                        <a:rPr b="0" sz="1100">
                          <a:solidFill>
                            <a:srgbClr val="404040"/>
                          </a:solidFill>
                        </a:rPr>
                        <a:t>M10-HPO</a:t>
                      </a:r>
                    </a:p>
                  </a:txBody>
                  <a:tcPr>
                    <a:solidFill>
                      <a:srgbClr val="8EC4DD"/>
                    </a:solidFill>
                  </a:tcPr>
                </a:tc>
                <a:tc>
                  <a:txBody>
                    <a:bodyPr wrap="square"/>
                    <a:lstStyle/>
                    <a:p>
                      <a:pPr algn="l"/>
                      <a:r>
                        <a:rPr b="0" sz="1100">
                          <a:solidFill>
                            <a:srgbClr val="404040"/>
                          </a:solidFill>
                        </a:rPr>
                        <a:t>SK-KGCP (100 eval)</a:t>
                      </a:r>
                    </a:p>
                  </a:txBody>
                  <a:tcPr>
                    <a:solidFill>
                      <a:srgbClr val="8EC4DD"/>
                    </a:solidFill>
                  </a:tcPr>
                </a:tc>
                <a:tc>
                  <a:txBody>
                    <a:bodyPr wrap="square"/>
                    <a:lstStyle/>
                    <a:p>
                      <a:pPr algn="ctr"/>
                      <a:r>
                        <a:rPr b="0" sz="1100">
                          <a:solidFill>
                            <a:srgbClr val="404040"/>
                          </a:solidFill>
                        </a:rPr>
                        <a:t>Bayesiana — SK</a:t>
                      </a:r>
                    </a:p>
                  </a:txBody>
                  <a:tcPr>
                    <a:solidFill>
                      <a:srgbClr val="8EC4DD"/>
                    </a:solidFill>
                  </a:tcPr>
                </a:tc>
                <a:tc>
                  <a:txBody>
                    <a:bodyPr wrap="square"/>
                    <a:lstStyle/>
                    <a:p>
                      <a:pPr algn="l"/>
                      <a:r>
                        <a:rPr b="0" sz="1100">
                          <a:solidFill>
                            <a:srgbClr val="404040"/>
                          </a:solidFill>
                        </a:rPr>
                        <a:t>Scott, Powell &amp; Frazier 2011 (SIAM J. Optim.)</a:t>
                      </a:r>
                    </a:p>
                  </a:txBody>
                  <a:tcPr>
                    <a:solidFill>
                      <a:srgbClr val="8EC4DD"/>
                    </a:solidFill>
                  </a:tcPr>
                </a:tc>
              </a:tr>
              <a:tr h="560070">
                <a:tc>
                  <a:txBody>
                    <a:bodyPr wrap="square"/>
                    <a:lstStyle/>
                    <a:p>
                      <a:pPr algn="ctr"/>
                      <a:r>
                        <a:rPr b="0" sz="1100">
                          <a:solidFill>
                            <a:srgbClr val="404040"/>
                          </a:solidFill>
                        </a:rPr>
                        <a:t>M13</a:t>
                      </a:r>
                    </a:p>
                  </a:txBody>
                  <a:tcPr>
                    <a:solidFill>
                      <a:srgbClr val="E2F0D9"/>
                    </a:solidFill>
                  </a:tcPr>
                </a:tc>
                <a:tc>
                  <a:txBody>
                    <a:bodyPr wrap="square"/>
                    <a:lstStyle/>
                    <a:p>
                      <a:pPr algn="l"/>
                      <a:r>
                        <a:rPr b="0" sz="1100">
                          <a:solidFill>
                            <a:srgbClr val="404040"/>
                          </a:solidFill>
                        </a:rPr>
                        <a:t>SPSA</a:t>
                      </a:r>
                    </a:p>
                  </a:txBody>
                  <a:tcPr>
                    <a:solidFill>
                      <a:srgbClr val="E2F0D9"/>
                    </a:solidFill>
                  </a:tcPr>
                </a:tc>
                <a:tc>
                  <a:txBody>
                    <a:bodyPr wrap="square"/>
                    <a:lstStyle/>
                    <a:p>
                      <a:pPr algn="ctr"/>
                      <a:r>
                        <a:rPr b="0" sz="1100">
                          <a:solidFill>
                            <a:srgbClr val="404040"/>
                          </a:solidFill>
                        </a:rPr>
                        <a:t>Grad. Estocástico</a:t>
                      </a:r>
                    </a:p>
                  </a:txBody>
                  <a:tcPr>
                    <a:solidFill>
                      <a:srgbClr val="E2F0D9"/>
                    </a:solidFill>
                  </a:tcPr>
                </a:tc>
                <a:tc>
                  <a:txBody>
                    <a:bodyPr wrap="square"/>
                    <a:lstStyle/>
                    <a:p>
                      <a:pPr algn="l"/>
                      <a:r>
                        <a:rPr b="0" sz="1100">
                          <a:solidFill>
                            <a:srgbClr val="404040"/>
                          </a:solidFill>
                        </a:rPr>
                        <a:t>Spall 1992 (IEEE Trans. Autom. Control)</a:t>
                      </a:r>
                    </a:p>
                  </a:txBody>
                  <a:tcPr>
                    <a:solidFill>
                      <a:srgbClr val="E2F0D9"/>
                    </a:solidFill>
                  </a:tcPr>
                </a:tc>
              </a:tr>
              <a:tr h="560070">
                <a:tc>
                  <a:txBody>
                    <a:bodyPr wrap="square"/>
                    <a:lstStyle/>
                    <a:p>
                      <a:pPr algn="ctr"/>
                      <a:r>
                        <a:rPr b="0" sz="1100">
                          <a:solidFill>
                            <a:srgbClr val="404040"/>
                          </a:solidFill>
                        </a:rPr>
                        <a:t>M14</a:t>
                      </a:r>
                    </a:p>
                  </a:txBody>
                  <a:tcPr>
                    <a:solidFill>
                      <a:srgbClr val="FFEBCC"/>
                    </a:solidFill>
                  </a:tcPr>
                </a:tc>
                <a:tc>
                  <a:txBody>
                    <a:bodyPr wrap="square"/>
                    <a:lstStyle/>
                    <a:p>
                      <a:pPr algn="l"/>
                      <a:r>
                        <a:rPr b="0" sz="1100">
                          <a:solidFill>
                            <a:srgbClr val="404040"/>
                          </a:solidFill>
                        </a:rPr>
                        <a:t>ALOE</a:t>
                      </a:r>
                    </a:p>
                  </a:txBody>
                  <a:tcPr>
                    <a:solidFill>
                      <a:srgbClr val="FFEBCC"/>
                    </a:solidFill>
                  </a:tcPr>
                </a:tc>
                <a:tc>
                  <a:txBody>
                    <a:bodyPr wrap="square"/>
                    <a:lstStyle/>
                    <a:p>
                      <a:pPr algn="ctr"/>
                      <a:r>
                        <a:rPr b="0" sz="1100">
                          <a:solidFill>
                            <a:srgbClr val="404040"/>
                          </a:solidFill>
                        </a:rPr>
                        <a:t>Grad. Estocástico</a:t>
                      </a:r>
                    </a:p>
                  </a:txBody>
                  <a:tcPr>
                    <a:solidFill>
                      <a:srgbClr val="FFEBCC"/>
                    </a:solidFill>
                  </a:tcPr>
                </a:tc>
                <a:tc>
                  <a:txBody>
                    <a:bodyPr wrap="square"/>
                    <a:lstStyle/>
                    <a:p>
                      <a:pPr algn="l"/>
                      <a:r>
                        <a:rPr b="0" sz="1100">
                          <a:solidFill>
                            <a:srgbClr val="404040"/>
                          </a:solidFill>
                        </a:rPr>
                        <a:t>Lim et al. 2012 (European J. Oper. Research)</a:t>
                      </a:r>
                    </a:p>
                  </a:txBody>
                  <a:tcPr>
                    <a:solidFill>
                      <a:srgbClr val="FFEBCC"/>
                    </a:solidFill>
                  </a:tcPr>
                </a:tc>
              </a:tr>
            </a:tbl>
          </a:graphicData>
        </a:graphic>
      </p:graphicFrame>
      <p:sp>
        <p:nvSpPr>
          <p:cNvPr id="4" name="TextBox 3"/>
          <p:cNvSpPr txBox="1"/>
          <p:nvPr/>
        </p:nvSpPr>
        <p:spPr>
          <a:xfrm>
            <a:off x="457200" y="5577840"/>
            <a:ext cx="11274552" cy="384048"/>
          </a:xfrm>
          <a:prstGeom prst="rect">
            <a:avLst/>
          </a:prstGeom>
          <a:noFill/>
        </p:spPr>
        <p:txBody>
          <a:bodyPr wrap="square">
            <a:spAutoFit/>
          </a:bodyPr>
          <a:lstStyle/>
          <a:p>
            <a:pPr algn="l"/>
            <a:r>
              <a:rPr b="1" sz="1000">
                <a:solidFill>
                  <a:srgbClr val="1F497D"/>
                </a:solidFill>
              </a:rPr>
              <a:t>Familia Bayesiana — GP/SK:</a:t>
            </a:r>
          </a:p>
          <a:p>
            <a:pPr algn="l"/>
            <a:r>
              <a:rPr b="0" sz="950">
                <a:solidFill>
                  <a:srgbClr val="404040"/>
                </a:solidFill>
              </a:rPr>
              <a:t>Construye un surrogado (GP o SK) del simulador y elige el siguiente punto con mayor ganancia esperada (EI o KG). SK modela la varianza del ruido.</a:t>
            </a:r>
          </a:p>
        </p:txBody>
      </p:sp>
      <p:sp>
        <p:nvSpPr>
          <p:cNvPr id="5" name="TextBox 4"/>
          <p:cNvSpPr txBox="1"/>
          <p:nvPr/>
        </p:nvSpPr>
        <p:spPr>
          <a:xfrm>
            <a:off x="457200" y="6035040"/>
            <a:ext cx="11274552" cy="384048"/>
          </a:xfrm>
          <a:prstGeom prst="rect">
            <a:avLst/>
          </a:prstGeom>
          <a:noFill/>
        </p:spPr>
        <p:txBody>
          <a:bodyPr wrap="square">
            <a:spAutoFit/>
          </a:bodyPr>
          <a:lstStyle/>
          <a:p>
            <a:pPr algn="l"/>
            <a:r>
              <a:rPr b="1" sz="1000">
                <a:solidFill>
                  <a:srgbClr val="1F497D"/>
                </a:solidFill>
              </a:rPr>
              <a:t>Familia Grad. Estocástico:</a:t>
            </a:r>
          </a:p>
          <a:p>
            <a:pPr algn="l"/>
            <a:r>
              <a:rPr b="0" sz="950">
                <a:solidFill>
                  <a:srgbClr val="404040"/>
                </a:solidFill>
              </a:rPr>
              <a:t>Estima el gradiente usando evaluaciones del simulador y sigue su descenso. Sensible al ruido: M13 converge, M14 (Armijo) no.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Parámetros de Configuración por Módulo</a:t>
            </a:r>
          </a:p>
          <a:p>
            <a:pPr algn="l"/>
            <a:r>
              <a:rPr b="0" sz="1300">
                <a:solidFill>
                  <a:srgbClr val="BDD7EE"/>
                </a:solidFill>
              </a:rPr>
              <a:t>Entorno: PC Raúl — seed=42 — simulador DES con 2 réplicas por evaluación</a:t>
            </a:r>
          </a:p>
        </p:txBody>
      </p:sp>
      <p:sp>
        <p:nvSpPr>
          <p:cNvPr id="3" name="Rectangle 2"/>
          <p:cNvSpPr/>
          <p:nvPr/>
        </p:nvSpPr>
        <p:spPr>
          <a:xfrm>
            <a:off x="164592" y="1325880"/>
            <a:ext cx="2834640" cy="2176272"/>
          </a:xfrm>
          <a:prstGeom prst="rect">
            <a:avLst/>
          </a:prstGeom>
          <a:solidFill>
            <a:srgbClr val="D9EAF7"/>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1399032"/>
            <a:ext cx="2633472" cy="2011680"/>
          </a:xfrm>
          <a:prstGeom prst="rect">
            <a:avLst/>
          </a:prstGeom>
          <a:noFill/>
        </p:spPr>
        <p:txBody>
          <a:bodyPr wrap="square">
            <a:spAutoFit/>
          </a:bodyPr>
          <a:lstStyle/>
          <a:p>
            <a:pPr algn="l"/>
            <a:r>
              <a:rPr b="1" sz="950">
                <a:solidFill>
                  <a:srgbClr val="1F497D"/>
                </a:solidFill>
              </a:rPr>
              <a:t>M4 — SMAC BlackBox (GP+EI)</a:t>
            </a:r>
          </a:p>
          <a:p>
            <a:pPr algn="l"/>
            <a:r>
              <a:rPr b="0" sz="850">
                <a:solidFill>
                  <a:srgbClr val="404040"/>
                </a:solidFill>
              </a:rPr>
              <a:t>n_trials=20, seed=42
Surrogado: Gaussian Process (Matérn 5/2)
Adquisición: Expected Improvement (EI)</a:t>
            </a:r>
          </a:p>
          <a:p>
            <a:pPr algn="l"/>
            <a:r>
              <a:rPr b="1" sz="950">
                <a:solidFill>
                  <a:srgbClr val="404040"/>
                </a:solidFill>
              </a:rPr>
              <a:t>
→ 230.80 d · 3.09 h</a:t>
            </a:r>
          </a:p>
          <a:p>
            <a:pPr algn="l"/>
            <a:r>
              <a:rPr b="0" sz="750">
                <a:solidFill>
                  <a:srgbClr val="808080"/>
                </a:solidFill>
              </a:rPr>
              <a:t>Ref: Hutter et al. 2011 (JAIR)</a:t>
            </a:r>
          </a:p>
        </p:txBody>
      </p:sp>
      <p:sp>
        <p:nvSpPr>
          <p:cNvPr id="5" name="Rectangle 4"/>
          <p:cNvSpPr/>
          <p:nvPr/>
        </p:nvSpPr>
        <p:spPr>
          <a:xfrm>
            <a:off x="3182112" y="1325880"/>
            <a:ext cx="2834640" cy="2176272"/>
          </a:xfrm>
          <a:prstGeom prst="rect">
            <a:avLst/>
          </a:prstGeom>
          <a:solidFill>
            <a:srgbClr val="C5DEF2"/>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73552" y="1399032"/>
            <a:ext cx="2633472" cy="2011680"/>
          </a:xfrm>
          <a:prstGeom prst="rect">
            <a:avLst/>
          </a:prstGeom>
          <a:noFill/>
        </p:spPr>
        <p:txBody>
          <a:bodyPr wrap="square">
            <a:spAutoFit/>
          </a:bodyPr>
          <a:lstStyle/>
          <a:p>
            <a:pPr algn="l"/>
            <a:r>
              <a:rPr b="1" sz="950">
                <a:solidFill>
                  <a:srgbClr val="1F497D"/>
                </a:solidFill>
              </a:rPr>
              <a:t>M7 — SMAC + SK (EI)</a:t>
            </a:r>
          </a:p>
          <a:p>
            <a:pPr algn="l"/>
            <a:r>
              <a:rPr b="0" sz="850">
                <a:solidFill>
                  <a:srgbClr val="404040"/>
                </a:solidFill>
              </a:rPr>
              <a:t>n_trials=20, seed=42
Surrogado: Stochastic Kriging heteroscedástico
Adquisición: EI con corrección de ruido</a:t>
            </a:r>
          </a:p>
          <a:p>
            <a:pPr algn="l"/>
            <a:r>
              <a:rPr b="1" sz="950">
                <a:solidFill>
                  <a:srgbClr val="404040"/>
                </a:solidFill>
              </a:rPr>
              <a:t>
→ 219.96 d · 2.73 h</a:t>
            </a:r>
          </a:p>
          <a:p>
            <a:pPr algn="l"/>
            <a:r>
              <a:rPr b="0" sz="750">
                <a:solidFill>
                  <a:srgbClr val="808080"/>
                </a:solidFill>
              </a:rPr>
              <a:t>Ref: Ankenman et al. 2010 + Hutter 2011</a:t>
            </a:r>
          </a:p>
        </p:txBody>
      </p:sp>
      <p:sp>
        <p:nvSpPr>
          <p:cNvPr id="7" name="Rectangle 6"/>
          <p:cNvSpPr/>
          <p:nvPr/>
        </p:nvSpPr>
        <p:spPr>
          <a:xfrm>
            <a:off x="6199632" y="1325880"/>
            <a:ext cx="2834640" cy="2176272"/>
          </a:xfrm>
          <a:prstGeom prst="rect">
            <a:avLst/>
          </a:prstGeom>
          <a:solidFill>
            <a:srgbClr val="B8D8ED"/>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91072" y="1399032"/>
            <a:ext cx="2633472" cy="2011680"/>
          </a:xfrm>
          <a:prstGeom prst="rect">
            <a:avLst/>
          </a:prstGeom>
          <a:noFill/>
        </p:spPr>
        <p:txBody>
          <a:bodyPr wrap="square">
            <a:spAutoFit/>
          </a:bodyPr>
          <a:lstStyle/>
          <a:p>
            <a:pPr algn="l"/>
            <a:r>
              <a:rPr b="1" sz="950">
                <a:solidFill>
                  <a:srgbClr val="1F497D"/>
                </a:solidFill>
              </a:rPr>
              <a:t>M8 — SK Adaptativo</a:t>
            </a:r>
          </a:p>
          <a:p>
            <a:pPr algn="l"/>
            <a:r>
              <a:rPr b="0" sz="850">
                <a:solidFill>
                  <a:srgbClr val="404040"/>
                </a:solidFill>
              </a:rPr>
              <a:t>n_trials=20, seed=42
Surrogado: SK con δ adaptativo por región
Adquisición: EI adaptativo — n_eval=76 (réplicas adapt.)</a:t>
            </a:r>
          </a:p>
          <a:p>
            <a:pPr algn="l"/>
            <a:r>
              <a:rPr b="1" sz="950">
                <a:solidFill>
                  <a:srgbClr val="404040"/>
                </a:solidFill>
              </a:rPr>
              <a:t>
→ 218.05 d · 1.48 h</a:t>
            </a:r>
          </a:p>
          <a:p>
            <a:pPr algn="l"/>
            <a:r>
              <a:rPr b="0" sz="750">
                <a:solidFill>
                  <a:srgbClr val="808080"/>
                </a:solidFill>
              </a:rPr>
              <a:t>Ref: Ankenman, Nelson &amp; Staum 2010 (Mgmt. Sci.)</a:t>
            </a:r>
          </a:p>
        </p:txBody>
      </p:sp>
      <p:sp>
        <p:nvSpPr>
          <p:cNvPr id="9" name="Rectangle 8"/>
          <p:cNvSpPr/>
          <p:nvPr/>
        </p:nvSpPr>
        <p:spPr>
          <a:xfrm>
            <a:off x="9217152" y="1325880"/>
            <a:ext cx="2834640" cy="2176272"/>
          </a:xfrm>
          <a:prstGeom prst="rect">
            <a:avLst/>
          </a:prstGeom>
          <a:solidFill>
            <a:srgbClr val="A0CCE3"/>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08592" y="1399032"/>
            <a:ext cx="2633472" cy="2011680"/>
          </a:xfrm>
          <a:prstGeom prst="rect">
            <a:avLst/>
          </a:prstGeom>
          <a:noFill/>
        </p:spPr>
        <p:txBody>
          <a:bodyPr wrap="square">
            <a:spAutoFit/>
          </a:bodyPr>
          <a:lstStyle/>
          <a:p>
            <a:pPr algn="l"/>
            <a:r>
              <a:rPr b="1" sz="950">
                <a:solidFill>
                  <a:srgbClr val="1F497D"/>
                </a:solidFill>
              </a:rPr>
              <a:t>M9 — SK-REVI</a:t>
            </a:r>
          </a:p>
          <a:p>
            <a:pPr algn="l"/>
            <a:r>
              <a:rPr b="0" sz="850">
                <a:solidFill>
                  <a:srgbClr val="404040"/>
                </a:solidFill>
              </a:rPr>
              <a:t>n_trials=20, seed=42, β=1.0
Surrogado: SK + Replicated EVI (REVI)
Adquisición: Expected Value of Information replicado — n_eval=41</a:t>
            </a:r>
          </a:p>
          <a:p>
            <a:pPr algn="l"/>
            <a:r>
              <a:rPr b="1" sz="950">
                <a:solidFill>
                  <a:srgbClr val="404040"/>
                </a:solidFill>
              </a:rPr>
              <a:t>
→ 219.26 d · 1.44 h</a:t>
            </a:r>
          </a:p>
          <a:p>
            <a:pPr algn="l"/>
            <a:r>
              <a:rPr b="0" sz="750">
                <a:solidFill>
                  <a:srgbClr val="808080"/>
                </a:solidFill>
              </a:rPr>
              <a:t>Ref: Quan, Nelson &amp; Patelis 2013 (IIE Trans.)</a:t>
            </a:r>
          </a:p>
        </p:txBody>
      </p:sp>
      <p:sp>
        <p:nvSpPr>
          <p:cNvPr id="11" name="Rectangle 10"/>
          <p:cNvSpPr/>
          <p:nvPr/>
        </p:nvSpPr>
        <p:spPr>
          <a:xfrm>
            <a:off x="164592" y="3703320"/>
            <a:ext cx="2834640" cy="2176272"/>
          </a:xfrm>
          <a:prstGeom prst="rect">
            <a:avLst/>
          </a:prstGeom>
          <a:solidFill>
            <a:srgbClr val="8EC4DD"/>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3776472"/>
            <a:ext cx="2633472" cy="2011680"/>
          </a:xfrm>
          <a:prstGeom prst="rect">
            <a:avLst/>
          </a:prstGeom>
          <a:noFill/>
        </p:spPr>
        <p:txBody>
          <a:bodyPr wrap="square">
            <a:spAutoFit/>
          </a:bodyPr>
          <a:lstStyle/>
          <a:p>
            <a:pPr algn="l"/>
            <a:r>
              <a:rPr b="1" sz="950">
                <a:solidFill>
                  <a:srgbClr val="1F497D"/>
                </a:solidFill>
              </a:rPr>
              <a:t>M10-HPO — SK-KGCP (100 eval)</a:t>
            </a:r>
          </a:p>
          <a:p>
            <a:pPr algn="l"/>
            <a:r>
              <a:rPr b="0" sz="850">
                <a:solidFill>
                  <a:srgbClr val="404040"/>
                </a:solidFill>
              </a:rPr>
              <a:t>n_trials=100, seed=42
Surrogado: SK + Knowledge Gradient CP
Adquisición: KG look-ahead (HPO optimizados)</a:t>
            </a:r>
          </a:p>
          <a:p>
            <a:pPr algn="l"/>
            <a:r>
              <a:rPr b="1" sz="950">
                <a:solidFill>
                  <a:srgbClr val="378648"/>
                </a:solidFill>
              </a:rPr>
              <a:t>
→ 212.03 d · 12.27 h</a:t>
            </a:r>
          </a:p>
          <a:p>
            <a:pPr algn="l"/>
            <a:r>
              <a:rPr b="0" sz="750">
                <a:solidFill>
                  <a:srgbClr val="808080"/>
                </a:solidFill>
              </a:rPr>
              <a:t>Ref: Scott, Powell &amp; Frazier 2011 (SIAM)</a:t>
            </a:r>
          </a:p>
        </p:txBody>
      </p:sp>
      <p:sp>
        <p:nvSpPr>
          <p:cNvPr id="13" name="Rectangle 12"/>
          <p:cNvSpPr/>
          <p:nvPr/>
        </p:nvSpPr>
        <p:spPr>
          <a:xfrm>
            <a:off x="3182112" y="3703320"/>
            <a:ext cx="2834640" cy="2176272"/>
          </a:xfrm>
          <a:prstGeom prst="rect">
            <a:avLst/>
          </a:prstGeom>
          <a:solidFill>
            <a:srgbClr val="E2F0D9"/>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73552" y="3776472"/>
            <a:ext cx="2633472" cy="2011680"/>
          </a:xfrm>
          <a:prstGeom prst="rect">
            <a:avLst/>
          </a:prstGeom>
          <a:noFill/>
        </p:spPr>
        <p:txBody>
          <a:bodyPr wrap="square">
            <a:spAutoFit/>
          </a:bodyPr>
          <a:lstStyle/>
          <a:p>
            <a:pPr algn="l"/>
            <a:r>
              <a:rPr b="1" sz="950">
                <a:solidFill>
                  <a:srgbClr val="1F497D"/>
                </a:solidFill>
              </a:rPr>
              <a:t>M13 — SPSA</a:t>
            </a:r>
          </a:p>
          <a:p>
            <a:pPr algn="l"/>
            <a:r>
              <a:rPr b="0" sz="850">
                <a:solidFill>
                  <a:srgbClr val="404040"/>
                </a:solidFill>
              </a:rPr>
              <a:t>max_iter=30, seed=42
Gradiente: estimación simultánea (SPSA, 2 eval/iter)
Paso: α_k=a/(A+k)^0.602, ck=c/k^0.101</a:t>
            </a:r>
          </a:p>
          <a:p>
            <a:pPr algn="l"/>
            <a:r>
              <a:rPr b="1" sz="950">
                <a:solidFill>
                  <a:srgbClr val="404040"/>
                </a:solidFill>
              </a:rPr>
              <a:t>
→ 219.38 d · 8.65 h</a:t>
            </a:r>
          </a:p>
          <a:p>
            <a:pPr algn="l"/>
            <a:r>
              <a:rPr b="0" sz="750">
                <a:solidFill>
                  <a:srgbClr val="808080"/>
                </a:solidFill>
              </a:rPr>
              <a:t>Ref: Spall 1992 (IEEE Trans. Autom. Control)</a:t>
            </a:r>
          </a:p>
        </p:txBody>
      </p:sp>
      <p:sp>
        <p:nvSpPr>
          <p:cNvPr id="15" name="Rectangle 14"/>
          <p:cNvSpPr/>
          <p:nvPr/>
        </p:nvSpPr>
        <p:spPr>
          <a:xfrm>
            <a:off x="6199632" y="3703320"/>
            <a:ext cx="2834640" cy="2176272"/>
          </a:xfrm>
          <a:prstGeom prst="rect">
            <a:avLst/>
          </a:prstGeom>
          <a:solidFill>
            <a:srgbClr val="FFEBCC"/>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1072" y="3776472"/>
            <a:ext cx="2633472" cy="2011680"/>
          </a:xfrm>
          <a:prstGeom prst="rect">
            <a:avLst/>
          </a:prstGeom>
          <a:noFill/>
        </p:spPr>
        <p:txBody>
          <a:bodyPr wrap="square">
            <a:spAutoFit/>
          </a:bodyPr>
          <a:lstStyle/>
          <a:p>
            <a:pPr algn="l"/>
            <a:r>
              <a:rPr b="1" sz="950">
                <a:solidFill>
                  <a:srgbClr val="1F497D"/>
                </a:solidFill>
              </a:rPr>
              <a:t>M14 — ALOE</a:t>
            </a:r>
          </a:p>
          <a:p>
            <a:pPr algn="l"/>
            <a:r>
              <a:rPr b="0" sz="850">
                <a:solidFill>
                  <a:srgbClr val="404040"/>
                </a:solidFill>
              </a:rPr>
              <a:t>max_iter=30, seed=42
Gradiente: diferencias finitas (2d eval/iter)
Búsqueda de línea: Armijo con reducción exponencial</a:t>
            </a:r>
          </a:p>
          <a:p>
            <a:pPr algn="l"/>
            <a:r>
              <a:rPr b="1" sz="950">
                <a:solidFill>
                  <a:srgbClr val="C00000"/>
                </a:solidFill>
              </a:rPr>
              <a:t>
→ 270.73 d · 69.50 h</a:t>
            </a:r>
          </a:p>
          <a:p>
            <a:pPr algn="l"/>
            <a:r>
              <a:rPr b="0" sz="750">
                <a:solidFill>
                  <a:srgbClr val="808080"/>
                </a:solidFill>
              </a:rPr>
              <a:t>Ref: Lim et al. 2012 (European J. Oper. Research)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Resultados — Mejor Costo Encontrado por Módulo</a:t>
            </a:r>
          </a:p>
          <a:p>
            <a:pPr algn="l"/>
            <a:r>
              <a:rPr b="0" sz="1300">
                <a:solidFill>
                  <a:srgbClr val="BDD7EE"/>
                </a:solidFill>
              </a:rPr>
              <a:t>Línea base: ~270 días  ·  Entorno: PC Raúl  ·  seed=42</a:t>
            </a:r>
          </a:p>
        </p:txBody>
      </p:sp>
      <p:graphicFrame>
        <p:nvGraphicFramePr>
          <p:cNvPr id="3" name="Table 2"/>
          <p:cNvGraphicFramePr>
            <a:graphicFrameLocks noGrp="1"/>
          </p:cNvGraphicFramePr>
          <p:nvPr/>
        </p:nvGraphicFramePr>
        <p:xfrm>
          <a:off x="182880" y="1325880"/>
          <a:ext cx="8686800" cy="4663440"/>
        </p:xfrm>
        <a:graphic>
          <a:graphicData uri="http://schemas.openxmlformats.org/drawingml/2006/table">
            <a:tbl>
              <a:tblPr firstRow="1" bandRow="1">
                <a:tableStyleId>{5C22544A-7EE6-4342-B048-85BDC9FD1C3A}</a:tableStyleId>
              </a:tblPr>
              <a:tblGrid>
                <a:gridCol w="384048"/>
                <a:gridCol w="777240"/>
                <a:gridCol w="1737360"/>
                <a:gridCol w="1188720"/>
                <a:gridCol w="868680"/>
                <a:gridCol w="960120"/>
                <a:gridCol w="685800"/>
                <a:gridCol w="804672"/>
                <a:gridCol w="1280160"/>
              </a:tblGrid>
              <a:tr h="582930">
                <a:tc>
                  <a:txBody>
                    <a:bodyPr wrap="square"/>
                    <a:lstStyle/>
                    <a:p>
                      <a:pPr algn="ctr"/>
                      <a:r>
                        <a:rPr b="1" sz="1000">
                          <a:solidFill>
                            <a:srgbClr val="FFFFFF"/>
                          </a:solidFill>
                        </a:rPr>
                        <a:t>Rank</a:t>
                      </a:r>
                    </a:p>
                  </a:txBody>
                  <a:tcPr>
                    <a:solidFill>
                      <a:srgbClr val="1F497D"/>
                    </a:solidFill>
                  </a:tcPr>
                </a:tc>
                <a:tc>
                  <a:txBody>
                    <a:bodyPr wrap="square"/>
                    <a:lstStyle/>
                    <a:p>
                      <a:pPr algn="ctr"/>
                      <a:r>
                        <a:rPr b="1" sz="1000">
                          <a:solidFill>
                            <a:srgbClr val="FFFFFF"/>
                          </a:solidFill>
                        </a:rPr>
                        <a:t>Módulo</a:t>
                      </a:r>
                    </a:p>
                  </a:txBody>
                  <a:tcPr>
                    <a:solidFill>
                      <a:srgbClr val="1F497D"/>
                    </a:solidFill>
                  </a:tcPr>
                </a:tc>
                <a:tc>
                  <a:txBody>
                    <a:bodyPr wrap="square"/>
                    <a:lstStyle/>
                    <a:p>
                      <a:pPr algn="ctr"/>
                      <a:r>
                        <a:rPr b="1" sz="1000">
                          <a:solidFill>
                            <a:srgbClr val="FFFFFF"/>
                          </a:solidFill>
                        </a:rPr>
                        <a:t>Algoritmo</a:t>
                      </a:r>
                    </a:p>
                  </a:txBody>
                  <a:tcPr>
                    <a:solidFill>
                      <a:srgbClr val="1F497D"/>
                    </a:solidFill>
                  </a:tcPr>
                </a:tc>
                <a:tc>
                  <a:txBody>
                    <a:bodyPr wrap="square"/>
                    <a:lstStyle/>
                    <a:p>
                      <a:pPr algn="ctr"/>
                      <a:r>
                        <a:rPr b="1" sz="1000">
                          <a:solidFill>
                            <a:srgbClr val="FFFFFF"/>
                          </a:solidFill>
                        </a:rPr>
                        <a:t>Familia</a:t>
                      </a:r>
                    </a:p>
                  </a:txBody>
                  <a:tcPr>
                    <a:solidFill>
                      <a:srgbClr val="1F497D"/>
                    </a:solidFill>
                  </a:tcPr>
                </a:tc>
                <a:tc>
                  <a:txBody>
                    <a:bodyPr wrap="square"/>
                    <a:lstStyle/>
                    <a:p>
                      <a:pPr algn="ctr"/>
                      <a:r>
                        <a:rPr b="1" sz="1000">
                          <a:solidFill>
                            <a:srgbClr val="FFFFFF"/>
                          </a:solidFill>
                        </a:rPr>
                        <a:t>Costo
(días)</a:t>
                      </a:r>
                    </a:p>
                  </a:txBody>
                  <a:tcPr>
                    <a:solidFill>
                      <a:srgbClr val="1F497D"/>
                    </a:solidFill>
                  </a:tcPr>
                </a:tc>
                <a:tc>
                  <a:txBody>
                    <a:bodyPr wrap="square"/>
                    <a:lstStyle/>
                    <a:p>
                      <a:pPr algn="ctr"/>
                      <a:r>
                        <a:rPr b="1" sz="1000">
                          <a:solidFill>
                            <a:srgbClr val="FFFFFF"/>
                          </a:solidFill>
                        </a:rPr>
                        <a:t>vs Línea Base</a:t>
                      </a:r>
                    </a:p>
                  </a:txBody>
                  <a:tcPr>
                    <a:solidFill>
                      <a:srgbClr val="1F497D"/>
                    </a:solidFill>
                  </a:tcPr>
                </a:tc>
                <a:tc>
                  <a:txBody>
                    <a:bodyPr wrap="square"/>
                    <a:lstStyle/>
                    <a:p>
                      <a:pPr algn="ctr"/>
                      <a:r>
                        <a:rPr b="1" sz="1000">
                          <a:solidFill>
                            <a:srgbClr val="FFFFFF"/>
                          </a:solidFill>
                        </a:rPr>
                        <a:t>Tiempo
(h)</a:t>
                      </a:r>
                    </a:p>
                  </a:txBody>
                  <a:tcPr>
                    <a:solidFill>
                      <a:srgbClr val="1F497D"/>
                    </a:solidFill>
                  </a:tcPr>
                </a:tc>
                <a:tc>
                  <a:txBody>
                    <a:bodyPr wrap="square"/>
                    <a:lstStyle/>
                    <a:p>
                      <a:pPr algn="ctr"/>
                      <a:r>
                        <a:rPr b="1" sz="1000">
                          <a:solidFill>
                            <a:srgbClr val="FFFFFF"/>
                          </a:solidFill>
                        </a:rPr>
                        <a:t>Eval.
(n)</a:t>
                      </a:r>
                    </a:p>
                  </a:txBody>
                  <a:tcPr>
                    <a:solidFill>
                      <a:srgbClr val="1F497D"/>
                    </a:solidFill>
                  </a:tcPr>
                </a:tc>
                <a:tc>
                  <a:txBody>
                    <a:bodyPr wrap="square"/>
                    <a:lstStyle/>
                    <a:p>
                      <a:pPr algn="ctr"/>
                      <a:r>
                        <a:rPr b="1" sz="1000">
                          <a:solidFill>
                            <a:srgbClr val="FFFFFF"/>
                          </a:solidFill>
                        </a:rPr>
                        <a:t>Converge</a:t>
                      </a:r>
                    </a:p>
                  </a:txBody>
                  <a:tcPr>
                    <a:solidFill>
                      <a:srgbClr val="1F497D"/>
                    </a:solidFill>
                  </a:tcPr>
                </a:tc>
              </a:tr>
              <a:tr h="582930">
                <a:tc>
                  <a:txBody>
                    <a:bodyPr wrap="square"/>
                    <a:lstStyle/>
                    <a:p>
                      <a:pPr algn="ctr"/>
                      <a:r>
                        <a:rPr b="0" sz="1000">
                          <a:solidFill>
                            <a:srgbClr val="404040"/>
                          </a:solidFill>
                        </a:rPr>
                        <a:t>1</a:t>
                      </a:r>
                    </a:p>
                  </a:txBody>
                  <a:tcPr>
                    <a:solidFill>
                      <a:srgbClr val="8EC4DD"/>
                    </a:solidFill>
                  </a:tcPr>
                </a:tc>
                <a:tc>
                  <a:txBody>
                    <a:bodyPr wrap="square"/>
                    <a:lstStyle/>
                    <a:p>
                      <a:pPr algn="ctr"/>
                      <a:r>
                        <a:rPr b="0" sz="1000">
                          <a:solidFill>
                            <a:srgbClr val="404040"/>
                          </a:solidFill>
                        </a:rPr>
                        <a:t>M10-HPO</a:t>
                      </a:r>
                    </a:p>
                  </a:txBody>
                  <a:tcPr>
                    <a:solidFill>
                      <a:srgbClr val="8EC4DD"/>
                    </a:solidFill>
                  </a:tcPr>
                </a:tc>
                <a:tc>
                  <a:txBody>
                    <a:bodyPr wrap="square"/>
                    <a:lstStyle/>
                    <a:p>
                      <a:pPr algn="l"/>
                      <a:r>
                        <a:rPr b="0" sz="1000">
                          <a:solidFill>
                            <a:srgbClr val="404040"/>
                          </a:solidFill>
                        </a:rPr>
                        <a:t>SK-KGCP (100 eval)</a:t>
                      </a:r>
                    </a:p>
                  </a:txBody>
                  <a:tcPr>
                    <a:solidFill>
                      <a:srgbClr val="8EC4DD"/>
                    </a:solidFill>
                  </a:tcPr>
                </a:tc>
                <a:tc>
                  <a:txBody>
                    <a:bodyPr wrap="square"/>
                    <a:lstStyle/>
                    <a:p>
                      <a:pPr algn="l"/>
                      <a:r>
                        <a:rPr b="0" sz="1000">
                          <a:solidFill>
                            <a:srgbClr val="404040"/>
                          </a:solidFill>
                        </a:rPr>
                        <a:t>Bayesiana — SK</a:t>
                      </a:r>
                    </a:p>
                  </a:txBody>
                  <a:tcPr>
                    <a:solidFill>
                      <a:srgbClr val="8EC4DD"/>
                    </a:solidFill>
                  </a:tcPr>
                </a:tc>
                <a:tc>
                  <a:txBody>
                    <a:bodyPr wrap="square"/>
                    <a:lstStyle/>
                    <a:p>
                      <a:pPr algn="ctr"/>
                      <a:r>
                        <a:rPr b="0" sz="1000">
                          <a:solidFill>
                            <a:srgbClr val="378648"/>
                          </a:solidFill>
                        </a:rPr>
                        <a:t>212.03</a:t>
                      </a:r>
                    </a:p>
                  </a:txBody>
                  <a:tcPr>
                    <a:solidFill>
                      <a:srgbClr val="8EC4DD"/>
                    </a:solidFill>
                  </a:tcPr>
                </a:tc>
                <a:tc>
                  <a:txBody>
                    <a:bodyPr wrap="square"/>
                    <a:lstStyle/>
                    <a:p>
                      <a:pPr algn="ctr"/>
                      <a:r>
                        <a:rPr b="0" sz="1000">
                          <a:solidFill>
                            <a:srgbClr val="404040"/>
                          </a:solidFill>
                        </a:rPr>
                        <a:t>−21.7%</a:t>
                      </a:r>
                    </a:p>
                  </a:txBody>
                  <a:tcPr>
                    <a:solidFill>
                      <a:srgbClr val="8EC4DD"/>
                    </a:solidFill>
                  </a:tcPr>
                </a:tc>
                <a:tc>
                  <a:txBody>
                    <a:bodyPr wrap="square"/>
                    <a:lstStyle/>
                    <a:p>
                      <a:pPr algn="ctr"/>
                      <a:r>
                        <a:rPr b="0" sz="1000">
                          <a:solidFill>
                            <a:srgbClr val="404040"/>
                          </a:solidFill>
                        </a:rPr>
                        <a:t>12.27</a:t>
                      </a:r>
                    </a:p>
                  </a:txBody>
                  <a:tcPr>
                    <a:solidFill>
                      <a:srgbClr val="8EC4DD"/>
                    </a:solidFill>
                  </a:tcPr>
                </a:tc>
                <a:tc>
                  <a:txBody>
                    <a:bodyPr wrap="square"/>
                    <a:lstStyle/>
                    <a:p>
                      <a:pPr algn="ctr"/>
                      <a:r>
                        <a:rPr b="0" sz="1000">
                          <a:solidFill>
                            <a:srgbClr val="404040"/>
                          </a:solidFill>
                        </a:rPr>
                        <a:t>100</a:t>
                      </a:r>
                    </a:p>
                  </a:txBody>
                  <a:tcPr>
                    <a:solidFill>
                      <a:srgbClr val="8EC4DD"/>
                    </a:solidFill>
                  </a:tcPr>
                </a:tc>
                <a:tc>
                  <a:txBody>
                    <a:bodyPr wrap="square"/>
                    <a:lstStyle/>
                    <a:p>
                      <a:pPr algn="l"/>
                      <a:r>
                        <a:rPr b="0" sz="1000">
                          <a:solidFill>
                            <a:srgbClr val="404040"/>
                          </a:solidFill>
                        </a:rPr>
                        <a:t>Sí (SK-KG)</a:t>
                      </a:r>
                    </a:p>
                  </a:txBody>
                  <a:tcPr>
                    <a:solidFill>
                      <a:srgbClr val="8EC4DD"/>
                    </a:solidFill>
                  </a:tcPr>
                </a:tc>
              </a:tr>
              <a:tr h="582930">
                <a:tc>
                  <a:txBody>
                    <a:bodyPr wrap="square"/>
                    <a:lstStyle/>
                    <a:p>
                      <a:pPr algn="ctr"/>
                      <a:r>
                        <a:rPr b="0" sz="1000">
                          <a:solidFill>
                            <a:srgbClr val="404040"/>
                          </a:solidFill>
                        </a:rPr>
                        <a:t>2</a:t>
                      </a:r>
                    </a:p>
                  </a:txBody>
                  <a:tcPr>
                    <a:solidFill>
                      <a:srgbClr val="B8D8ED"/>
                    </a:solidFill>
                  </a:tcPr>
                </a:tc>
                <a:tc>
                  <a:txBody>
                    <a:bodyPr wrap="square"/>
                    <a:lstStyle/>
                    <a:p>
                      <a:pPr algn="ctr"/>
                      <a:r>
                        <a:rPr b="0" sz="1000">
                          <a:solidFill>
                            <a:srgbClr val="404040"/>
                          </a:solidFill>
                        </a:rPr>
                        <a:t>M8</a:t>
                      </a:r>
                    </a:p>
                  </a:txBody>
                  <a:tcPr>
                    <a:solidFill>
                      <a:srgbClr val="B8D8ED"/>
                    </a:solidFill>
                  </a:tcPr>
                </a:tc>
                <a:tc>
                  <a:txBody>
                    <a:bodyPr wrap="square"/>
                    <a:lstStyle/>
                    <a:p>
                      <a:pPr algn="l"/>
                      <a:r>
                        <a:rPr b="0" sz="1000">
                          <a:solidFill>
                            <a:srgbClr val="404040"/>
                          </a:solidFill>
                        </a:rPr>
                        <a:t>SK Adaptativo</a:t>
                      </a:r>
                    </a:p>
                  </a:txBody>
                  <a:tcPr>
                    <a:solidFill>
                      <a:srgbClr val="B8D8ED"/>
                    </a:solidFill>
                  </a:tcPr>
                </a:tc>
                <a:tc>
                  <a:txBody>
                    <a:bodyPr wrap="square"/>
                    <a:lstStyle/>
                    <a:p>
                      <a:pPr algn="l"/>
                      <a:r>
                        <a:rPr b="0" sz="1000">
                          <a:solidFill>
                            <a:srgbClr val="404040"/>
                          </a:solidFill>
                        </a:rPr>
                        <a:t>Bayesiana — SK</a:t>
                      </a:r>
                    </a:p>
                  </a:txBody>
                  <a:tcPr>
                    <a:solidFill>
                      <a:srgbClr val="B8D8ED"/>
                    </a:solidFill>
                  </a:tcPr>
                </a:tc>
                <a:tc>
                  <a:txBody>
                    <a:bodyPr wrap="square"/>
                    <a:lstStyle/>
                    <a:p>
                      <a:pPr algn="ctr"/>
                      <a:r>
                        <a:rPr b="0" sz="1000">
                          <a:solidFill>
                            <a:srgbClr val="404040"/>
                          </a:solidFill>
                        </a:rPr>
                        <a:t>218.05</a:t>
                      </a:r>
                    </a:p>
                  </a:txBody>
                  <a:tcPr>
                    <a:solidFill>
                      <a:srgbClr val="B8D8ED"/>
                    </a:solidFill>
                  </a:tcPr>
                </a:tc>
                <a:tc>
                  <a:txBody>
                    <a:bodyPr wrap="square"/>
                    <a:lstStyle/>
                    <a:p>
                      <a:pPr algn="ctr"/>
                      <a:r>
                        <a:rPr b="0" sz="1000">
                          <a:solidFill>
                            <a:srgbClr val="404040"/>
                          </a:solidFill>
                        </a:rPr>
                        <a:t>−19.5%</a:t>
                      </a:r>
                    </a:p>
                  </a:txBody>
                  <a:tcPr>
                    <a:solidFill>
                      <a:srgbClr val="B8D8ED"/>
                    </a:solidFill>
                  </a:tcPr>
                </a:tc>
                <a:tc>
                  <a:txBody>
                    <a:bodyPr wrap="square"/>
                    <a:lstStyle/>
                    <a:p>
                      <a:pPr algn="ctr"/>
                      <a:r>
                        <a:rPr b="0" sz="1000">
                          <a:solidFill>
                            <a:srgbClr val="404040"/>
                          </a:solidFill>
                        </a:rPr>
                        <a:t>1.48</a:t>
                      </a:r>
                    </a:p>
                  </a:txBody>
                  <a:tcPr>
                    <a:solidFill>
                      <a:srgbClr val="B8D8ED"/>
                    </a:solidFill>
                  </a:tcPr>
                </a:tc>
                <a:tc>
                  <a:txBody>
                    <a:bodyPr wrap="square"/>
                    <a:lstStyle/>
                    <a:p>
                      <a:pPr algn="ctr"/>
                      <a:r>
                        <a:rPr b="0" sz="1000">
                          <a:solidFill>
                            <a:srgbClr val="404040"/>
                          </a:solidFill>
                        </a:rPr>
                        <a:t>76</a:t>
                      </a:r>
                    </a:p>
                  </a:txBody>
                  <a:tcPr>
                    <a:solidFill>
                      <a:srgbClr val="B8D8ED"/>
                    </a:solidFill>
                  </a:tcPr>
                </a:tc>
                <a:tc>
                  <a:txBody>
                    <a:bodyPr wrap="square"/>
                    <a:lstStyle/>
                    <a:p>
                      <a:pPr algn="l"/>
                      <a:r>
                        <a:rPr b="0" sz="1000">
                          <a:solidFill>
                            <a:srgbClr val="404040"/>
                          </a:solidFill>
                        </a:rPr>
                        <a:t>Sí (SK adapt.)</a:t>
                      </a:r>
                    </a:p>
                  </a:txBody>
                  <a:tcPr>
                    <a:solidFill>
                      <a:srgbClr val="B8D8ED"/>
                    </a:solidFill>
                  </a:tcPr>
                </a:tc>
              </a:tr>
              <a:tr h="582930">
                <a:tc>
                  <a:txBody>
                    <a:bodyPr wrap="square"/>
                    <a:lstStyle/>
                    <a:p>
                      <a:pPr algn="ctr"/>
                      <a:r>
                        <a:rPr b="0" sz="1000">
                          <a:solidFill>
                            <a:srgbClr val="404040"/>
                          </a:solidFill>
                        </a:rPr>
                        <a:t>3</a:t>
                      </a:r>
                    </a:p>
                  </a:txBody>
                  <a:tcPr>
                    <a:solidFill>
                      <a:srgbClr val="A0CCE3"/>
                    </a:solidFill>
                  </a:tcPr>
                </a:tc>
                <a:tc>
                  <a:txBody>
                    <a:bodyPr wrap="square"/>
                    <a:lstStyle/>
                    <a:p>
                      <a:pPr algn="ctr"/>
                      <a:r>
                        <a:rPr b="0" sz="1000">
                          <a:solidFill>
                            <a:srgbClr val="404040"/>
                          </a:solidFill>
                        </a:rPr>
                        <a:t>M9</a:t>
                      </a:r>
                    </a:p>
                  </a:txBody>
                  <a:tcPr>
                    <a:solidFill>
                      <a:srgbClr val="A0CCE3"/>
                    </a:solidFill>
                  </a:tcPr>
                </a:tc>
                <a:tc>
                  <a:txBody>
                    <a:bodyPr wrap="square"/>
                    <a:lstStyle/>
                    <a:p>
                      <a:pPr algn="l"/>
                      <a:r>
                        <a:rPr b="0" sz="1000">
                          <a:solidFill>
                            <a:srgbClr val="404040"/>
                          </a:solidFill>
                        </a:rPr>
                        <a:t>SK-REVI</a:t>
                      </a:r>
                    </a:p>
                  </a:txBody>
                  <a:tcPr>
                    <a:solidFill>
                      <a:srgbClr val="A0CCE3"/>
                    </a:solidFill>
                  </a:tcPr>
                </a:tc>
                <a:tc>
                  <a:txBody>
                    <a:bodyPr wrap="square"/>
                    <a:lstStyle/>
                    <a:p>
                      <a:pPr algn="l"/>
                      <a:r>
                        <a:rPr b="0" sz="1000">
                          <a:solidFill>
                            <a:srgbClr val="404040"/>
                          </a:solidFill>
                        </a:rPr>
                        <a:t>Bayesiana — SK</a:t>
                      </a:r>
                    </a:p>
                  </a:txBody>
                  <a:tcPr>
                    <a:solidFill>
                      <a:srgbClr val="A0CCE3"/>
                    </a:solidFill>
                  </a:tcPr>
                </a:tc>
                <a:tc>
                  <a:txBody>
                    <a:bodyPr wrap="square"/>
                    <a:lstStyle/>
                    <a:p>
                      <a:pPr algn="ctr"/>
                      <a:r>
                        <a:rPr b="0" sz="1000">
                          <a:solidFill>
                            <a:srgbClr val="404040"/>
                          </a:solidFill>
                        </a:rPr>
                        <a:t>219.26</a:t>
                      </a:r>
                    </a:p>
                  </a:txBody>
                  <a:tcPr>
                    <a:solidFill>
                      <a:srgbClr val="A0CCE3"/>
                    </a:solidFill>
                  </a:tcPr>
                </a:tc>
                <a:tc>
                  <a:txBody>
                    <a:bodyPr wrap="square"/>
                    <a:lstStyle/>
                    <a:p>
                      <a:pPr algn="ctr"/>
                      <a:r>
                        <a:rPr b="0" sz="1000">
                          <a:solidFill>
                            <a:srgbClr val="404040"/>
                          </a:solidFill>
                        </a:rPr>
                        <a:t>−19.0%</a:t>
                      </a:r>
                    </a:p>
                  </a:txBody>
                  <a:tcPr>
                    <a:solidFill>
                      <a:srgbClr val="A0CCE3"/>
                    </a:solidFill>
                  </a:tcPr>
                </a:tc>
                <a:tc>
                  <a:txBody>
                    <a:bodyPr wrap="square"/>
                    <a:lstStyle/>
                    <a:p>
                      <a:pPr algn="ctr"/>
                      <a:r>
                        <a:rPr b="0" sz="1000">
                          <a:solidFill>
                            <a:srgbClr val="404040"/>
                          </a:solidFill>
                        </a:rPr>
                        <a:t>1.44</a:t>
                      </a:r>
                    </a:p>
                  </a:txBody>
                  <a:tcPr>
                    <a:solidFill>
                      <a:srgbClr val="A0CCE3"/>
                    </a:solidFill>
                  </a:tcPr>
                </a:tc>
                <a:tc>
                  <a:txBody>
                    <a:bodyPr wrap="square"/>
                    <a:lstStyle/>
                    <a:p>
                      <a:pPr algn="ctr"/>
                      <a:r>
                        <a:rPr b="0" sz="1000">
                          <a:solidFill>
                            <a:srgbClr val="404040"/>
                          </a:solidFill>
                        </a:rPr>
                        <a:t>41</a:t>
                      </a:r>
                    </a:p>
                  </a:txBody>
                  <a:tcPr>
                    <a:solidFill>
                      <a:srgbClr val="A0CCE3"/>
                    </a:solidFill>
                  </a:tcPr>
                </a:tc>
                <a:tc>
                  <a:txBody>
                    <a:bodyPr wrap="square"/>
                    <a:lstStyle/>
                    <a:p>
                      <a:pPr algn="l"/>
                      <a:r>
                        <a:rPr b="0" sz="1000">
                          <a:solidFill>
                            <a:srgbClr val="404040"/>
                          </a:solidFill>
                        </a:rPr>
                        <a:t>Sí (SK-REVI)</a:t>
                      </a:r>
                    </a:p>
                  </a:txBody>
                  <a:tcPr>
                    <a:solidFill>
                      <a:srgbClr val="A0CCE3"/>
                    </a:solidFill>
                  </a:tcPr>
                </a:tc>
              </a:tr>
              <a:tr h="582930">
                <a:tc>
                  <a:txBody>
                    <a:bodyPr wrap="square"/>
                    <a:lstStyle/>
                    <a:p>
                      <a:pPr algn="ctr"/>
                      <a:r>
                        <a:rPr b="0" sz="1000">
                          <a:solidFill>
                            <a:srgbClr val="404040"/>
                          </a:solidFill>
                        </a:rPr>
                        <a:t>4</a:t>
                      </a:r>
                    </a:p>
                  </a:txBody>
                  <a:tcPr>
                    <a:solidFill>
                      <a:srgbClr val="E2F0D9"/>
                    </a:solidFill>
                  </a:tcPr>
                </a:tc>
                <a:tc>
                  <a:txBody>
                    <a:bodyPr wrap="square"/>
                    <a:lstStyle/>
                    <a:p>
                      <a:pPr algn="ctr"/>
                      <a:r>
                        <a:rPr b="0" sz="1000">
                          <a:solidFill>
                            <a:srgbClr val="404040"/>
                          </a:solidFill>
                        </a:rPr>
                        <a:t>M13</a:t>
                      </a:r>
                    </a:p>
                  </a:txBody>
                  <a:tcPr>
                    <a:solidFill>
                      <a:srgbClr val="E2F0D9"/>
                    </a:solidFill>
                  </a:tcPr>
                </a:tc>
                <a:tc>
                  <a:txBody>
                    <a:bodyPr wrap="square"/>
                    <a:lstStyle/>
                    <a:p>
                      <a:pPr algn="l"/>
                      <a:r>
                        <a:rPr b="0" sz="1000">
                          <a:solidFill>
                            <a:srgbClr val="404040"/>
                          </a:solidFill>
                        </a:rPr>
                        <a:t>SPSA</a:t>
                      </a:r>
                    </a:p>
                  </a:txBody>
                  <a:tcPr>
                    <a:solidFill>
                      <a:srgbClr val="E2F0D9"/>
                    </a:solidFill>
                  </a:tcPr>
                </a:tc>
                <a:tc>
                  <a:txBody>
                    <a:bodyPr wrap="square"/>
                    <a:lstStyle/>
                    <a:p>
                      <a:pPr algn="l"/>
                      <a:r>
                        <a:rPr b="0" sz="1000">
                          <a:solidFill>
                            <a:srgbClr val="404040"/>
                          </a:solidFill>
                        </a:rPr>
                        <a:t>Grad. Estocástico</a:t>
                      </a:r>
                    </a:p>
                  </a:txBody>
                  <a:tcPr>
                    <a:solidFill>
                      <a:srgbClr val="E2F0D9"/>
                    </a:solidFill>
                  </a:tcPr>
                </a:tc>
                <a:tc>
                  <a:txBody>
                    <a:bodyPr wrap="square"/>
                    <a:lstStyle/>
                    <a:p>
                      <a:pPr algn="ctr"/>
                      <a:r>
                        <a:rPr b="0" sz="1000">
                          <a:solidFill>
                            <a:srgbClr val="404040"/>
                          </a:solidFill>
                        </a:rPr>
                        <a:t>219.38</a:t>
                      </a:r>
                    </a:p>
                  </a:txBody>
                  <a:tcPr>
                    <a:solidFill>
                      <a:srgbClr val="E2F0D9"/>
                    </a:solidFill>
                  </a:tcPr>
                </a:tc>
                <a:tc>
                  <a:txBody>
                    <a:bodyPr wrap="square"/>
                    <a:lstStyle/>
                    <a:p>
                      <a:pPr algn="ctr"/>
                      <a:r>
                        <a:rPr b="0" sz="1000">
                          <a:solidFill>
                            <a:srgbClr val="404040"/>
                          </a:solidFill>
                        </a:rPr>
                        <a:t>−19.0%</a:t>
                      </a:r>
                    </a:p>
                  </a:txBody>
                  <a:tcPr>
                    <a:solidFill>
                      <a:srgbClr val="E2F0D9"/>
                    </a:solidFill>
                  </a:tcPr>
                </a:tc>
                <a:tc>
                  <a:txBody>
                    <a:bodyPr wrap="square"/>
                    <a:lstStyle/>
                    <a:p>
                      <a:pPr algn="ctr"/>
                      <a:r>
                        <a:rPr b="0" sz="1000">
                          <a:solidFill>
                            <a:srgbClr val="404040"/>
                          </a:solidFill>
                        </a:rPr>
                        <a:t>8.65</a:t>
                      </a:r>
                    </a:p>
                  </a:txBody>
                  <a:tcPr>
                    <a:solidFill>
                      <a:srgbClr val="E2F0D9"/>
                    </a:solidFill>
                  </a:tcPr>
                </a:tc>
                <a:tc>
                  <a:txBody>
                    <a:bodyPr wrap="square"/>
                    <a:lstStyle/>
                    <a:p>
                      <a:pPr algn="ctr"/>
                      <a:r>
                        <a:rPr b="0" sz="1000">
                          <a:solidFill>
                            <a:srgbClr val="404040"/>
                          </a:solidFill>
                        </a:rPr>
                        <a:t>60 (30×2)</a:t>
                      </a:r>
                    </a:p>
                  </a:txBody>
                  <a:tcPr>
                    <a:solidFill>
                      <a:srgbClr val="E2F0D9"/>
                    </a:solidFill>
                  </a:tcPr>
                </a:tc>
                <a:tc>
                  <a:txBody>
                    <a:bodyPr wrap="square"/>
                    <a:lstStyle/>
                    <a:p>
                      <a:pPr algn="l"/>
                      <a:r>
                        <a:rPr b="0" sz="1000">
                          <a:solidFill>
                            <a:srgbClr val="404040"/>
                          </a:solidFill>
                        </a:rPr>
                        <a:t>Sí (parcial)</a:t>
                      </a:r>
                    </a:p>
                  </a:txBody>
                  <a:tcPr>
                    <a:solidFill>
                      <a:srgbClr val="E2F0D9"/>
                    </a:solidFill>
                  </a:tcPr>
                </a:tc>
              </a:tr>
              <a:tr h="582930">
                <a:tc>
                  <a:txBody>
                    <a:bodyPr wrap="square"/>
                    <a:lstStyle/>
                    <a:p>
                      <a:pPr algn="ctr"/>
                      <a:r>
                        <a:rPr b="0" sz="1000">
                          <a:solidFill>
                            <a:srgbClr val="404040"/>
                          </a:solidFill>
                        </a:rPr>
                        <a:t>5</a:t>
                      </a:r>
                    </a:p>
                  </a:txBody>
                  <a:tcPr>
                    <a:solidFill>
                      <a:srgbClr val="C5DEF2"/>
                    </a:solidFill>
                  </a:tcPr>
                </a:tc>
                <a:tc>
                  <a:txBody>
                    <a:bodyPr wrap="square"/>
                    <a:lstStyle/>
                    <a:p>
                      <a:pPr algn="ctr"/>
                      <a:r>
                        <a:rPr b="0" sz="1000">
                          <a:solidFill>
                            <a:srgbClr val="404040"/>
                          </a:solidFill>
                        </a:rPr>
                        <a:t>M7</a:t>
                      </a:r>
                    </a:p>
                  </a:txBody>
                  <a:tcPr>
                    <a:solidFill>
                      <a:srgbClr val="C5DEF2"/>
                    </a:solidFill>
                  </a:tcPr>
                </a:tc>
                <a:tc>
                  <a:txBody>
                    <a:bodyPr wrap="square"/>
                    <a:lstStyle/>
                    <a:p>
                      <a:pPr algn="l"/>
                      <a:r>
                        <a:rPr b="0" sz="1000">
                          <a:solidFill>
                            <a:srgbClr val="404040"/>
                          </a:solidFill>
                        </a:rPr>
                        <a:t>SMAC + SK (EI)</a:t>
                      </a:r>
                    </a:p>
                  </a:txBody>
                  <a:tcPr>
                    <a:solidFill>
                      <a:srgbClr val="C5DEF2"/>
                    </a:solidFill>
                  </a:tcPr>
                </a:tc>
                <a:tc>
                  <a:txBody>
                    <a:bodyPr wrap="square"/>
                    <a:lstStyle/>
                    <a:p>
                      <a:pPr algn="l"/>
                      <a:r>
                        <a:rPr b="0" sz="1000">
                          <a:solidFill>
                            <a:srgbClr val="404040"/>
                          </a:solidFill>
                        </a:rPr>
                        <a:t>Bayesiana — SK</a:t>
                      </a:r>
                    </a:p>
                  </a:txBody>
                  <a:tcPr>
                    <a:solidFill>
                      <a:srgbClr val="C5DEF2"/>
                    </a:solidFill>
                  </a:tcPr>
                </a:tc>
                <a:tc>
                  <a:txBody>
                    <a:bodyPr wrap="square"/>
                    <a:lstStyle/>
                    <a:p>
                      <a:pPr algn="ctr"/>
                      <a:r>
                        <a:rPr b="0" sz="1000">
                          <a:solidFill>
                            <a:srgbClr val="404040"/>
                          </a:solidFill>
                        </a:rPr>
                        <a:t>219.96</a:t>
                      </a:r>
                    </a:p>
                  </a:txBody>
                  <a:tcPr>
                    <a:solidFill>
                      <a:srgbClr val="C5DEF2"/>
                    </a:solidFill>
                  </a:tcPr>
                </a:tc>
                <a:tc>
                  <a:txBody>
                    <a:bodyPr wrap="square"/>
                    <a:lstStyle/>
                    <a:p>
                      <a:pPr algn="ctr"/>
                      <a:r>
                        <a:rPr b="0" sz="1000">
                          <a:solidFill>
                            <a:srgbClr val="404040"/>
                          </a:solidFill>
                        </a:rPr>
                        <a:t>−18.8%</a:t>
                      </a:r>
                    </a:p>
                  </a:txBody>
                  <a:tcPr>
                    <a:solidFill>
                      <a:srgbClr val="C5DEF2"/>
                    </a:solidFill>
                  </a:tcPr>
                </a:tc>
                <a:tc>
                  <a:txBody>
                    <a:bodyPr wrap="square"/>
                    <a:lstStyle/>
                    <a:p>
                      <a:pPr algn="ctr"/>
                      <a:r>
                        <a:rPr b="0" sz="1000">
                          <a:solidFill>
                            <a:srgbClr val="404040"/>
                          </a:solidFill>
                        </a:rPr>
                        <a:t>2.73</a:t>
                      </a:r>
                    </a:p>
                  </a:txBody>
                  <a:tcPr>
                    <a:solidFill>
                      <a:srgbClr val="C5DEF2"/>
                    </a:solidFill>
                  </a:tcPr>
                </a:tc>
                <a:tc>
                  <a:txBody>
                    <a:bodyPr wrap="square"/>
                    <a:lstStyle/>
                    <a:p>
                      <a:pPr algn="ctr"/>
                      <a:r>
                        <a:rPr b="0" sz="1000">
                          <a:solidFill>
                            <a:srgbClr val="404040"/>
                          </a:solidFill>
                        </a:rPr>
                        <a:t>40</a:t>
                      </a:r>
                    </a:p>
                  </a:txBody>
                  <a:tcPr>
                    <a:solidFill>
                      <a:srgbClr val="C5DEF2"/>
                    </a:solidFill>
                  </a:tcPr>
                </a:tc>
                <a:tc>
                  <a:txBody>
                    <a:bodyPr wrap="square"/>
                    <a:lstStyle/>
                    <a:p>
                      <a:pPr algn="l"/>
                      <a:r>
                        <a:rPr b="0" sz="1000">
                          <a:solidFill>
                            <a:srgbClr val="404040"/>
                          </a:solidFill>
                        </a:rPr>
                        <a:t>Sí (SK)</a:t>
                      </a:r>
                    </a:p>
                  </a:txBody>
                  <a:tcPr>
                    <a:solidFill>
                      <a:srgbClr val="C5DEF2"/>
                    </a:solidFill>
                  </a:tcPr>
                </a:tc>
              </a:tr>
              <a:tr h="582930">
                <a:tc>
                  <a:txBody>
                    <a:bodyPr wrap="square"/>
                    <a:lstStyle/>
                    <a:p>
                      <a:pPr algn="ctr"/>
                      <a:r>
                        <a:rPr b="0" sz="1000">
                          <a:solidFill>
                            <a:srgbClr val="404040"/>
                          </a:solidFill>
                        </a:rPr>
                        <a:t>6</a:t>
                      </a:r>
                    </a:p>
                  </a:txBody>
                  <a:tcPr>
                    <a:solidFill>
                      <a:srgbClr val="D9EAF7"/>
                    </a:solidFill>
                  </a:tcPr>
                </a:tc>
                <a:tc>
                  <a:txBody>
                    <a:bodyPr wrap="square"/>
                    <a:lstStyle/>
                    <a:p>
                      <a:pPr algn="ctr"/>
                      <a:r>
                        <a:rPr b="0" sz="1000">
                          <a:solidFill>
                            <a:srgbClr val="404040"/>
                          </a:solidFill>
                        </a:rPr>
                        <a:t>M4</a:t>
                      </a:r>
                    </a:p>
                  </a:txBody>
                  <a:tcPr>
                    <a:solidFill>
                      <a:srgbClr val="D9EAF7"/>
                    </a:solidFill>
                  </a:tcPr>
                </a:tc>
                <a:tc>
                  <a:txBody>
                    <a:bodyPr wrap="square"/>
                    <a:lstStyle/>
                    <a:p>
                      <a:pPr algn="l"/>
                      <a:r>
                        <a:rPr b="0" sz="1000">
                          <a:solidFill>
                            <a:srgbClr val="404040"/>
                          </a:solidFill>
                        </a:rPr>
                        <a:t>SMAC BlackBox (GP+EI)</a:t>
                      </a:r>
                    </a:p>
                  </a:txBody>
                  <a:tcPr>
                    <a:solidFill>
                      <a:srgbClr val="D9EAF7"/>
                    </a:solidFill>
                  </a:tcPr>
                </a:tc>
                <a:tc>
                  <a:txBody>
                    <a:bodyPr wrap="square"/>
                    <a:lstStyle/>
                    <a:p>
                      <a:pPr algn="l"/>
                      <a:r>
                        <a:rPr b="0" sz="1000">
                          <a:solidFill>
                            <a:srgbClr val="404040"/>
                          </a:solidFill>
                        </a:rPr>
                        <a:t>Bayesiana — GP</a:t>
                      </a:r>
                    </a:p>
                  </a:txBody>
                  <a:tcPr>
                    <a:solidFill>
                      <a:srgbClr val="D9EAF7"/>
                    </a:solidFill>
                  </a:tcPr>
                </a:tc>
                <a:tc>
                  <a:txBody>
                    <a:bodyPr wrap="square"/>
                    <a:lstStyle/>
                    <a:p>
                      <a:pPr algn="ctr"/>
                      <a:r>
                        <a:rPr b="0" sz="1000">
                          <a:solidFill>
                            <a:srgbClr val="404040"/>
                          </a:solidFill>
                        </a:rPr>
                        <a:t>230.80</a:t>
                      </a:r>
                    </a:p>
                  </a:txBody>
                  <a:tcPr>
                    <a:solidFill>
                      <a:srgbClr val="D9EAF7"/>
                    </a:solidFill>
                  </a:tcPr>
                </a:tc>
                <a:tc>
                  <a:txBody>
                    <a:bodyPr wrap="square"/>
                    <a:lstStyle/>
                    <a:p>
                      <a:pPr algn="ctr"/>
                      <a:r>
                        <a:rPr b="0" sz="1000">
                          <a:solidFill>
                            <a:srgbClr val="404040"/>
                          </a:solidFill>
                        </a:rPr>
                        <a:t>−14.8%</a:t>
                      </a:r>
                    </a:p>
                  </a:txBody>
                  <a:tcPr>
                    <a:solidFill>
                      <a:srgbClr val="D9EAF7"/>
                    </a:solidFill>
                  </a:tcPr>
                </a:tc>
                <a:tc>
                  <a:txBody>
                    <a:bodyPr wrap="square"/>
                    <a:lstStyle/>
                    <a:p>
                      <a:pPr algn="ctr"/>
                      <a:r>
                        <a:rPr b="0" sz="1000">
                          <a:solidFill>
                            <a:srgbClr val="404040"/>
                          </a:solidFill>
                        </a:rPr>
                        <a:t>3.09</a:t>
                      </a:r>
                    </a:p>
                  </a:txBody>
                  <a:tcPr>
                    <a:solidFill>
                      <a:srgbClr val="D9EAF7"/>
                    </a:solidFill>
                  </a:tcPr>
                </a:tc>
                <a:tc>
                  <a:txBody>
                    <a:bodyPr wrap="square"/>
                    <a:lstStyle/>
                    <a:p>
                      <a:pPr algn="ctr"/>
                      <a:r>
                        <a:rPr b="0" sz="1000">
                          <a:solidFill>
                            <a:srgbClr val="404040"/>
                          </a:solidFill>
                        </a:rPr>
                        <a:t>20</a:t>
                      </a:r>
                    </a:p>
                  </a:txBody>
                  <a:tcPr>
                    <a:solidFill>
                      <a:srgbClr val="D9EAF7"/>
                    </a:solidFill>
                  </a:tcPr>
                </a:tc>
                <a:tc>
                  <a:txBody>
                    <a:bodyPr wrap="square"/>
                    <a:lstStyle/>
                    <a:p>
                      <a:pPr algn="l"/>
                      <a:r>
                        <a:rPr b="0" sz="1000">
                          <a:solidFill>
                            <a:srgbClr val="404040"/>
                          </a:solidFill>
                        </a:rPr>
                        <a:t>Sí (GP)</a:t>
                      </a:r>
                    </a:p>
                  </a:txBody>
                  <a:tcPr>
                    <a:solidFill>
                      <a:srgbClr val="D9EAF7"/>
                    </a:solidFill>
                  </a:tcPr>
                </a:tc>
              </a:tr>
              <a:tr h="582930">
                <a:tc>
                  <a:txBody>
                    <a:bodyPr wrap="square"/>
                    <a:lstStyle/>
                    <a:p>
                      <a:pPr algn="ctr"/>
                      <a:r>
                        <a:rPr b="0" sz="1000">
                          <a:solidFill>
                            <a:srgbClr val="404040"/>
                          </a:solidFill>
                        </a:rPr>
                        <a:t>7</a:t>
                      </a:r>
                    </a:p>
                  </a:txBody>
                  <a:tcPr>
                    <a:solidFill>
                      <a:srgbClr val="FFEBCC"/>
                    </a:solidFill>
                  </a:tcPr>
                </a:tc>
                <a:tc>
                  <a:txBody>
                    <a:bodyPr wrap="square"/>
                    <a:lstStyle/>
                    <a:p>
                      <a:pPr algn="ctr"/>
                      <a:r>
                        <a:rPr b="0" sz="1000">
                          <a:solidFill>
                            <a:srgbClr val="404040"/>
                          </a:solidFill>
                        </a:rPr>
                        <a:t>M14</a:t>
                      </a:r>
                    </a:p>
                  </a:txBody>
                  <a:tcPr>
                    <a:solidFill>
                      <a:srgbClr val="FFEBCC"/>
                    </a:solidFill>
                  </a:tcPr>
                </a:tc>
                <a:tc>
                  <a:txBody>
                    <a:bodyPr wrap="square"/>
                    <a:lstStyle/>
                    <a:p>
                      <a:pPr algn="l"/>
                      <a:r>
                        <a:rPr b="0" sz="1000">
                          <a:solidFill>
                            <a:srgbClr val="404040"/>
                          </a:solidFill>
                        </a:rPr>
                        <a:t>ALOE</a:t>
                      </a:r>
                    </a:p>
                  </a:txBody>
                  <a:tcPr>
                    <a:solidFill>
                      <a:srgbClr val="FFEBCC"/>
                    </a:solidFill>
                  </a:tcPr>
                </a:tc>
                <a:tc>
                  <a:txBody>
                    <a:bodyPr wrap="square"/>
                    <a:lstStyle/>
                    <a:p>
                      <a:pPr algn="l"/>
                      <a:r>
                        <a:rPr b="0" sz="1000">
                          <a:solidFill>
                            <a:srgbClr val="404040"/>
                          </a:solidFill>
                        </a:rPr>
                        <a:t>Grad. Estocástico</a:t>
                      </a:r>
                    </a:p>
                  </a:txBody>
                  <a:tcPr>
                    <a:solidFill>
                      <a:srgbClr val="FFEBCC"/>
                    </a:solidFill>
                  </a:tcPr>
                </a:tc>
                <a:tc>
                  <a:txBody>
                    <a:bodyPr wrap="square"/>
                    <a:lstStyle/>
                    <a:p>
                      <a:pPr algn="ctr"/>
                      <a:r>
                        <a:rPr b="0" sz="1000">
                          <a:solidFill>
                            <a:srgbClr val="C00000"/>
                          </a:solidFill>
                        </a:rPr>
                        <a:t>270.73</a:t>
                      </a:r>
                    </a:p>
                  </a:txBody>
                  <a:tcPr>
                    <a:solidFill>
                      <a:srgbClr val="FFEBCC"/>
                    </a:solidFill>
                  </a:tcPr>
                </a:tc>
                <a:tc>
                  <a:txBody>
                    <a:bodyPr wrap="square"/>
                    <a:lstStyle/>
                    <a:p>
                      <a:pPr algn="ctr"/>
                      <a:r>
                        <a:rPr b="0" sz="1000">
                          <a:solidFill>
                            <a:srgbClr val="404040"/>
                          </a:solidFill>
                        </a:rPr>
                        <a:t>−0.0%</a:t>
                      </a:r>
                    </a:p>
                  </a:txBody>
                  <a:tcPr>
                    <a:solidFill>
                      <a:srgbClr val="FFEBCC"/>
                    </a:solidFill>
                  </a:tcPr>
                </a:tc>
                <a:tc>
                  <a:txBody>
                    <a:bodyPr wrap="square"/>
                    <a:lstStyle/>
                    <a:p>
                      <a:pPr algn="ctr"/>
                      <a:r>
                        <a:rPr b="0" sz="1000">
                          <a:solidFill>
                            <a:srgbClr val="404040"/>
                          </a:solidFill>
                        </a:rPr>
                        <a:t>69.5</a:t>
                      </a:r>
                    </a:p>
                  </a:txBody>
                  <a:tcPr>
                    <a:solidFill>
                      <a:srgbClr val="FFEBCC"/>
                    </a:solidFill>
                  </a:tcPr>
                </a:tc>
                <a:tc>
                  <a:txBody>
                    <a:bodyPr wrap="square"/>
                    <a:lstStyle/>
                    <a:p>
                      <a:pPr algn="ctr"/>
                      <a:r>
                        <a:rPr b="0" sz="1000">
                          <a:solidFill>
                            <a:srgbClr val="404040"/>
                          </a:solidFill>
                        </a:rPr>
                        <a:t>360 (30×2d)</a:t>
                      </a:r>
                    </a:p>
                  </a:txBody>
                  <a:tcPr>
                    <a:solidFill>
                      <a:srgbClr val="FFEBCC"/>
                    </a:solidFill>
                  </a:tcPr>
                </a:tc>
                <a:tc>
                  <a:txBody>
                    <a:bodyPr wrap="square"/>
                    <a:lstStyle/>
                    <a:p>
                      <a:pPr algn="l"/>
                      <a:r>
                        <a:rPr b="0" sz="1000">
                          <a:solidFill>
                            <a:srgbClr val="404040"/>
                          </a:solidFill>
                        </a:rPr>
                        <a:t>No (Armijo)</a:t>
                      </a:r>
                    </a:p>
                  </a:txBody>
                  <a:tcPr>
                    <a:solidFill>
                      <a:srgbClr val="FFEBCC"/>
                    </a:solidFill>
                  </a:tcPr>
                </a:tc>
              </a:tr>
            </a:tbl>
          </a:graphicData>
        </a:graphic>
      </p:graphicFrame>
      <p:sp>
        <p:nvSpPr>
          <p:cNvPr id="4" name="TextBox 3"/>
          <p:cNvSpPr txBox="1"/>
          <p:nvPr/>
        </p:nvSpPr>
        <p:spPr>
          <a:xfrm>
            <a:off x="182880" y="6080760"/>
            <a:ext cx="11823192" cy="502920"/>
          </a:xfrm>
          <a:prstGeom prst="rect">
            <a:avLst/>
          </a:prstGeom>
          <a:noFill/>
        </p:spPr>
        <p:txBody>
          <a:bodyPr wrap="square">
            <a:spAutoFit/>
          </a:bodyPr>
          <a:lstStyle/>
          <a:p>
            <a:pPr algn="l"/>
            <a:r>
              <a:rPr b="1" sz="1000">
                <a:solidFill>
                  <a:srgbClr val="378648"/>
                </a:solidFill>
              </a:rPr>
              <a:t>★ Mejor: M10-HPO SK-KGCP (100 eval) → 212.03 días (−21.7%).  M8 SK Adapt. mejor entre Bayesianos ~20-eval: 218.05 días.</a:t>
            </a:r>
          </a:p>
          <a:p>
            <a:pPr algn="l"/>
            <a:r>
              <a:rPr b="0" sz="950">
                <a:solidFill>
                  <a:srgbClr val="C00000"/>
                </a:solidFill>
              </a:rPr>
              <a:t>M14 ALOE sin mejora: Armijo rechazado 30/30 iteraciones. Ruido simulador (σ≈20-40d) supera señal del gradiente.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Parámetros Óptimos (Incumbentes) por Módulo</a:t>
            </a:r>
          </a:p>
          <a:p>
            <a:pPr algn="l"/>
            <a:r>
              <a:rPr b="0" sz="1300">
                <a:solidFill>
                  <a:srgbClr val="BDD7EE"/>
                </a:solidFill>
              </a:rPr>
              <a:t>Configuración que minimizó tts_full_days_mean en cada algoritmo</a:t>
            </a:r>
          </a:p>
        </p:txBody>
      </p:sp>
      <p:graphicFrame>
        <p:nvGraphicFramePr>
          <p:cNvPr id="3" name="Table 2"/>
          <p:cNvGraphicFramePr>
            <a:graphicFrameLocks noGrp="1"/>
          </p:cNvGraphicFramePr>
          <p:nvPr/>
        </p:nvGraphicFramePr>
        <p:xfrm>
          <a:off x="91440" y="1298448"/>
          <a:ext cx="12006072" cy="5303520"/>
        </p:xfrm>
        <a:graphic>
          <a:graphicData uri="http://schemas.openxmlformats.org/drawingml/2006/table">
            <a:tbl>
              <a:tblPr firstRow="1" bandRow="1">
                <a:tableStyleId>{5C22544A-7EE6-4342-B048-85BDC9FD1C3A}</a:tableStyleId>
              </a:tblPr>
              <a:tblGrid>
                <a:gridCol w="1828800"/>
                <a:gridCol w="1453896"/>
                <a:gridCol w="1453896"/>
                <a:gridCol w="1453896"/>
                <a:gridCol w="1453896"/>
                <a:gridCol w="1453896"/>
                <a:gridCol w="1453896"/>
                <a:gridCol w="1453896"/>
              </a:tblGrid>
              <a:tr h="407963">
                <a:tc>
                  <a:txBody>
                    <a:bodyPr wrap="square"/>
                    <a:lstStyle/>
                    <a:p>
                      <a:pPr algn="l"/>
                      <a:r>
                        <a:rPr b="1" sz="950">
                          <a:solidFill>
                            <a:srgbClr val="FFFFFF"/>
                          </a:solidFill>
                        </a:rPr>
                        <a:t>Parámetro</a:t>
                      </a:r>
                    </a:p>
                  </a:txBody>
                  <a:tcPr>
                    <a:solidFill>
                      <a:srgbClr val="1F497D"/>
                    </a:solidFill>
                  </a:tcPr>
                </a:tc>
                <a:tc>
                  <a:txBody>
                    <a:bodyPr wrap="square"/>
                    <a:lstStyle/>
                    <a:p>
                      <a:pPr algn="ctr"/>
                      <a:r>
                        <a:rPr b="1" sz="850">
                          <a:solidFill>
                            <a:srgbClr val="FFFFFF"/>
                          </a:solidFill>
                        </a:rPr>
                        <a:t>M4
(230.80d)</a:t>
                      </a:r>
                    </a:p>
                  </a:txBody>
                  <a:tcPr>
                    <a:solidFill>
                      <a:srgbClr val="1F497D"/>
                    </a:solidFill>
                  </a:tcPr>
                </a:tc>
                <a:tc>
                  <a:txBody>
                    <a:bodyPr wrap="square"/>
                    <a:lstStyle/>
                    <a:p>
                      <a:pPr algn="ctr"/>
                      <a:r>
                        <a:rPr b="1" sz="850">
                          <a:solidFill>
                            <a:srgbClr val="FFFFFF"/>
                          </a:solidFill>
                        </a:rPr>
                        <a:t>M7
(219.96d)</a:t>
                      </a:r>
                    </a:p>
                  </a:txBody>
                  <a:tcPr>
                    <a:solidFill>
                      <a:srgbClr val="1F497D"/>
                    </a:solidFill>
                  </a:tcPr>
                </a:tc>
                <a:tc>
                  <a:txBody>
                    <a:bodyPr wrap="square"/>
                    <a:lstStyle/>
                    <a:p>
                      <a:pPr algn="ctr"/>
                      <a:r>
                        <a:rPr b="1" sz="850">
                          <a:solidFill>
                            <a:srgbClr val="FFFFFF"/>
                          </a:solidFill>
                        </a:rPr>
                        <a:t>M8
(218.05d)</a:t>
                      </a:r>
                    </a:p>
                  </a:txBody>
                  <a:tcPr>
                    <a:solidFill>
                      <a:srgbClr val="1F497D"/>
                    </a:solidFill>
                  </a:tcPr>
                </a:tc>
                <a:tc>
                  <a:txBody>
                    <a:bodyPr wrap="square"/>
                    <a:lstStyle/>
                    <a:p>
                      <a:pPr algn="ctr"/>
                      <a:r>
                        <a:rPr b="1" sz="850">
                          <a:solidFill>
                            <a:srgbClr val="FFFFFF"/>
                          </a:solidFill>
                        </a:rPr>
                        <a:t>M9
(219.26d)</a:t>
                      </a:r>
                    </a:p>
                  </a:txBody>
                  <a:tcPr>
                    <a:solidFill>
                      <a:srgbClr val="1F497D"/>
                    </a:solidFill>
                  </a:tcPr>
                </a:tc>
                <a:tc>
                  <a:txBody>
                    <a:bodyPr wrap="square"/>
                    <a:lstStyle/>
                    <a:p>
                      <a:pPr algn="ctr"/>
                      <a:r>
                        <a:rPr b="1" sz="850">
                          <a:solidFill>
                            <a:srgbClr val="FFFFFF"/>
                          </a:solidFill>
                        </a:rPr>
                        <a:t>M10-HPO
(212.03d)</a:t>
                      </a:r>
                    </a:p>
                  </a:txBody>
                  <a:tcPr>
                    <a:solidFill>
                      <a:srgbClr val="1F497D"/>
                    </a:solidFill>
                  </a:tcPr>
                </a:tc>
                <a:tc>
                  <a:txBody>
                    <a:bodyPr wrap="square"/>
                    <a:lstStyle/>
                    <a:p>
                      <a:pPr algn="ctr"/>
                      <a:r>
                        <a:rPr b="1" sz="850">
                          <a:solidFill>
                            <a:srgbClr val="FFFFFF"/>
                          </a:solidFill>
                        </a:rPr>
                        <a:t>M13
(219.38d)</a:t>
                      </a:r>
                    </a:p>
                  </a:txBody>
                  <a:tcPr>
                    <a:solidFill>
                      <a:srgbClr val="1F497D"/>
                    </a:solidFill>
                  </a:tcPr>
                </a:tc>
                <a:tc>
                  <a:txBody>
                    <a:bodyPr wrap="square"/>
                    <a:lstStyle/>
                    <a:p>
                      <a:pPr algn="ctr"/>
                      <a:r>
                        <a:rPr b="1" sz="850">
                          <a:solidFill>
                            <a:srgbClr val="FFFFFF"/>
                          </a:solidFill>
                        </a:rPr>
                        <a:t>M14
(270.73d)</a:t>
                      </a:r>
                    </a:p>
                  </a:txBody>
                  <a:tcPr>
                    <a:solidFill>
                      <a:srgbClr val="1F497D"/>
                    </a:solidFill>
                  </a:tcPr>
                </a:tc>
              </a:tr>
              <a:tr h="407963">
                <a:tc>
                  <a:txBody>
                    <a:bodyPr wrap="square"/>
                    <a:lstStyle/>
                    <a:p>
                      <a:pPr algn="l"/>
                      <a:r>
                        <a:rPr b="0" sz="900">
                          <a:solidFill>
                            <a:srgbClr val="404040"/>
                          </a:solidFill>
                        </a:rPr>
                        <a:t>cupos_eco_matrona</a:t>
                      </a:r>
                    </a:p>
                  </a:txBody>
                  <a:tcPr>
                    <a:solidFill>
                      <a:srgbClr val="FFFFFF"/>
                    </a:solidFill>
                  </a:tcPr>
                </a:tc>
                <a:tc>
                  <a:txBody>
                    <a:bodyPr wrap="square"/>
                    <a:lstStyle/>
                    <a:p>
                      <a:pPr algn="ctr"/>
                      <a:r>
                        <a:rPr b="0" sz="900">
                          <a:solidFill>
                            <a:srgbClr val="404040"/>
                          </a:solidFill>
                        </a:rPr>
                        <a:t>25</a:t>
                      </a:r>
                    </a:p>
                  </a:txBody>
                  <a:tcPr>
                    <a:solidFill>
                      <a:srgbClr val="FFFFFF"/>
                    </a:solidFill>
                  </a:tcPr>
                </a:tc>
                <a:tc>
                  <a:txBody>
                    <a:bodyPr wrap="square"/>
                    <a:lstStyle/>
                    <a:p>
                      <a:pPr algn="ctr"/>
                      <a:r>
                        <a:rPr b="0" sz="900">
                          <a:solidFill>
                            <a:srgbClr val="404040"/>
                          </a:solidFill>
                        </a:rPr>
                        <a:t>25</a:t>
                      </a:r>
                    </a:p>
                  </a:txBody>
                  <a:tcPr>
                    <a:solidFill>
                      <a:srgbClr val="FFFFFF"/>
                    </a:solidFill>
                  </a:tcPr>
                </a:tc>
                <a:tc>
                  <a:txBody>
                    <a:bodyPr wrap="square"/>
                    <a:lstStyle/>
                    <a:p>
                      <a:pPr algn="ctr"/>
                      <a:r>
                        <a:rPr b="0" sz="900">
                          <a:solidFill>
                            <a:srgbClr val="404040"/>
                          </a:solidFill>
                        </a:rPr>
                        <a:t>25</a:t>
                      </a:r>
                    </a:p>
                  </a:txBody>
                  <a:tcPr>
                    <a:solidFill>
                      <a:srgbClr val="FFFFFF"/>
                    </a:solidFill>
                  </a:tcPr>
                </a:tc>
                <a:tc>
                  <a:txBody>
                    <a:bodyPr wrap="square"/>
                    <a:lstStyle/>
                    <a:p>
                      <a:pPr algn="ctr"/>
                      <a:r>
                        <a:rPr b="0" sz="900">
                          <a:solidFill>
                            <a:srgbClr val="404040"/>
                          </a:solidFill>
                        </a:rPr>
                        <a:t>25</a:t>
                      </a:r>
                    </a:p>
                  </a:txBody>
                  <a:tcPr>
                    <a:solidFill>
                      <a:srgbClr val="FFFFFF"/>
                    </a:solidFill>
                  </a:tcPr>
                </a:tc>
                <a:tc>
                  <a:txBody>
                    <a:bodyPr wrap="square"/>
                    <a:lstStyle/>
                    <a:p>
                      <a:pPr algn="ctr"/>
                      <a:r>
                        <a:rPr b="0" sz="900">
                          <a:solidFill>
                            <a:srgbClr val="404040"/>
                          </a:solidFill>
                        </a:rPr>
                        <a:t>19</a:t>
                      </a:r>
                    </a:p>
                  </a:txBody>
                  <a:tcPr>
                    <a:solidFill>
                      <a:srgbClr val="FFFFFF"/>
                    </a:solidFill>
                  </a:tcPr>
                </a:tc>
                <a:tc>
                  <a:txBody>
                    <a:bodyPr wrap="square"/>
                    <a:lstStyle/>
                    <a:p>
                      <a:pPr algn="ctr"/>
                      <a:r>
                        <a:rPr b="0" sz="900">
                          <a:solidFill>
                            <a:srgbClr val="404040"/>
                          </a:solidFill>
                        </a:rPr>
                        <a:t>50</a:t>
                      </a:r>
                    </a:p>
                  </a:txBody>
                  <a:tcPr>
                    <a:solidFill>
                      <a:srgbClr val="FFFFFF"/>
                    </a:solidFill>
                  </a:tcPr>
                </a:tc>
                <a:tc>
                  <a:txBody>
                    <a:bodyPr wrap="square"/>
                    <a:lstStyle/>
                    <a:p>
                      <a:pPr algn="ctr"/>
                      <a:r>
                        <a:rPr b="0" sz="900">
                          <a:solidFill>
                            <a:srgbClr val="404040"/>
                          </a:solidFill>
                        </a:rPr>
                        <a:t>30</a:t>
                      </a:r>
                    </a:p>
                  </a:txBody>
                  <a:tcPr>
                    <a:solidFill>
                      <a:srgbClr val="FFFFFF"/>
                    </a:solidFill>
                  </a:tcPr>
                </a:tc>
              </a:tr>
              <a:tr h="407963">
                <a:tc>
                  <a:txBody>
                    <a:bodyPr wrap="square"/>
                    <a:lstStyle/>
                    <a:p>
                      <a:pPr algn="l"/>
                      <a:r>
                        <a:rPr b="0" sz="900">
                          <a:solidFill>
                            <a:srgbClr val="404040"/>
                          </a:solidFill>
                        </a:rPr>
                        <a:t>cupos_eco_ugd</a:t>
                      </a:r>
                    </a:p>
                  </a:txBody>
                  <a:tcPr>
                    <a:solidFill>
                      <a:srgbClr val="BDD7EE"/>
                    </a:solidFill>
                  </a:tcPr>
                </a:tc>
                <a:tc>
                  <a:txBody>
                    <a:bodyPr wrap="square"/>
                    <a:lstStyle/>
                    <a:p>
                      <a:pPr algn="ctr"/>
                      <a:r>
                        <a:rPr b="0" sz="900">
                          <a:solidFill>
                            <a:srgbClr val="404040"/>
                          </a:solidFill>
                        </a:rPr>
                        <a:t>23</a:t>
                      </a:r>
                    </a:p>
                  </a:txBody>
                  <a:tcPr>
                    <a:solidFill>
                      <a:srgbClr val="BDD7EE"/>
                    </a:solidFill>
                  </a:tcPr>
                </a:tc>
                <a:tc>
                  <a:txBody>
                    <a:bodyPr wrap="square"/>
                    <a:lstStyle/>
                    <a:p>
                      <a:pPr algn="ctr"/>
                      <a:r>
                        <a:rPr b="0" sz="900">
                          <a:solidFill>
                            <a:srgbClr val="404040"/>
                          </a:solidFill>
                        </a:rPr>
                        <a:t>26</a:t>
                      </a:r>
                    </a:p>
                  </a:txBody>
                  <a:tcPr>
                    <a:solidFill>
                      <a:srgbClr val="BDD7EE"/>
                    </a:solidFill>
                  </a:tcPr>
                </a:tc>
                <a:tc>
                  <a:txBody>
                    <a:bodyPr wrap="square"/>
                    <a:lstStyle/>
                    <a:p>
                      <a:pPr algn="ctr"/>
                      <a:r>
                        <a:rPr b="0" sz="900">
                          <a:solidFill>
                            <a:srgbClr val="404040"/>
                          </a:solidFill>
                        </a:rPr>
                        <a:t>26</a:t>
                      </a:r>
                    </a:p>
                  </a:txBody>
                  <a:tcPr>
                    <a:solidFill>
                      <a:srgbClr val="BDD7EE"/>
                    </a:solidFill>
                  </a:tcPr>
                </a:tc>
                <a:tc>
                  <a:txBody>
                    <a:bodyPr wrap="square"/>
                    <a:lstStyle/>
                    <a:p>
                      <a:pPr algn="ctr"/>
                      <a:r>
                        <a:rPr b="0" sz="900">
                          <a:solidFill>
                            <a:srgbClr val="404040"/>
                          </a:solidFill>
                        </a:rPr>
                        <a:t>26</a:t>
                      </a:r>
                    </a:p>
                  </a:txBody>
                  <a:tcPr>
                    <a:solidFill>
                      <a:srgbClr val="BDD7EE"/>
                    </a:solidFill>
                  </a:tcPr>
                </a:tc>
                <a:tc>
                  <a:txBody>
                    <a:bodyPr wrap="square"/>
                    <a:lstStyle/>
                    <a:p>
                      <a:pPr algn="ctr"/>
                      <a:r>
                        <a:rPr b="0" sz="900">
                          <a:solidFill>
                            <a:srgbClr val="404040"/>
                          </a:solidFill>
                        </a:rPr>
                        <a:t>21</a:t>
                      </a:r>
                    </a:p>
                  </a:txBody>
                  <a:tcPr>
                    <a:solidFill>
                      <a:srgbClr val="BDD7EE"/>
                    </a:solidFill>
                  </a:tcPr>
                </a:tc>
                <a:tc>
                  <a:txBody>
                    <a:bodyPr wrap="square"/>
                    <a:lstStyle/>
                    <a:p>
                      <a:pPr algn="ctr"/>
                      <a:r>
                        <a:rPr b="0" sz="900">
                          <a:solidFill>
                            <a:srgbClr val="404040"/>
                          </a:solidFill>
                        </a:rPr>
                        <a:t>10</a:t>
                      </a:r>
                    </a:p>
                  </a:txBody>
                  <a:tcPr>
                    <a:solidFill>
                      <a:srgbClr val="BDD7EE"/>
                    </a:solidFill>
                  </a:tcPr>
                </a:tc>
                <a:tc>
                  <a:txBody>
                    <a:bodyPr wrap="square"/>
                    <a:lstStyle/>
                    <a:p>
                      <a:pPr algn="ctr"/>
                      <a:r>
                        <a:rPr b="0" sz="900">
                          <a:solidFill>
                            <a:srgbClr val="404040"/>
                          </a:solidFill>
                        </a:rPr>
                        <a:t>30</a:t>
                      </a:r>
                    </a:p>
                  </a:txBody>
                  <a:tcPr>
                    <a:solidFill>
                      <a:srgbClr val="BDD7EE"/>
                    </a:solidFill>
                  </a:tcPr>
                </a:tc>
              </a:tr>
              <a:tr h="407963">
                <a:tc>
                  <a:txBody>
                    <a:bodyPr wrap="square"/>
                    <a:lstStyle/>
                    <a:p>
                      <a:pPr algn="l"/>
                      <a:r>
                        <a:rPr b="0" sz="900">
                          <a:solidFill>
                            <a:srgbClr val="404040"/>
                          </a:solidFill>
                        </a:rPr>
                        <a:t>cupos_lab_ugd</a:t>
                      </a:r>
                    </a:p>
                  </a:txBody>
                  <a:tcPr>
                    <a:solidFill>
                      <a:srgbClr val="FFFFFF"/>
                    </a:solidFill>
                  </a:tcPr>
                </a:tc>
                <a:tc>
                  <a:txBody>
                    <a:bodyPr wrap="square"/>
                    <a:lstStyle/>
                    <a:p>
                      <a:pPr algn="ctr"/>
                      <a:r>
                        <a:rPr b="0" sz="900">
                          <a:solidFill>
                            <a:srgbClr val="404040"/>
                          </a:solidFill>
                        </a:rPr>
                        <a:t>67</a:t>
                      </a:r>
                    </a:p>
                  </a:txBody>
                  <a:tcPr>
                    <a:solidFill>
                      <a:srgbClr val="FFFFFF"/>
                    </a:solidFill>
                  </a:tcPr>
                </a:tc>
                <a:tc>
                  <a:txBody>
                    <a:bodyPr wrap="square"/>
                    <a:lstStyle/>
                    <a:p>
                      <a:pPr algn="ctr"/>
                      <a:r>
                        <a:rPr b="0" sz="900">
                          <a:solidFill>
                            <a:srgbClr val="404040"/>
                          </a:solidFill>
                        </a:rPr>
                        <a:t>70</a:t>
                      </a:r>
                    </a:p>
                  </a:txBody>
                  <a:tcPr>
                    <a:solidFill>
                      <a:srgbClr val="FFFFFF"/>
                    </a:solidFill>
                  </a:tcPr>
                </a:tc>
                <a:tc>
                  <a:txBody>
                    <a:bodyPr wrap="square"/>
                    <a:lstStyle/>
                    <a:p>
                      <a:pPr algn="ctr"/>
                      <a:r>
                        <a:rPr b="0" sz="900">
                          <a:solidFill>
                            <a:srgbClr val="404040"/>
                          </a:solidFill>
                        </a:rPr>
                        <a:t>70</a:t>
                      </a:r>
                    </a:p>
                  </a:txBody>
                  <a:tcPr>
                    <a:solidFill>
                      <a:srgbClr val="FFFFFF"/>
                    </a:solidFill>
                  </a:tcPr>
                </a:tc>
                <a:tc>
                  <a:txBody>
                    <a:bodyPr wrap="square"/>
                    <a:lstStyle/>
                    <a:p>
                      <a:pPr algn="ctr"/>
                      <a:r>
                        <a:rPr b="0" sz="900">
                          <a:solidFill>
                            <a:srgbClr val="404040"/>
                          </a:solidFill>
                        </a:rPr>
                        <a:t>70</a:t>
                      </a:r>
                    </a:p>
                  </a:txBody>
                  <a:tcPr>
                    <a:solidFill>
                      <a:srgbClr val="FFFFFF"/>
                    </a:solidFill>
                  </a:tcPr>
                </a:tc>
                <a:tc>
                  <a:txBody>
                    <a:bodyPr wrap="square"/>
                    <a:lstStyle/>
                    <a:p>
                      <a:pPr algn="ctr"/>
                      <a:r>
                        <a:rPr b="0" sz="900">
                          <a:solidFill>
                            <a:srgbClr val="404040"/>
                          </a:solidFill>
                        </a:rPr>
                        <a:t>81</a:t>
                      </a:r>
                    </a:p>
                  </a:txBody>
                  <a:tcPr>
                    <a:solidFill>
                      <a:srgbClr val="FFFFFF"/>
                    </a:solidFill>
                  </a:tcPr>
                </a:tc>
                <a:tc>
                  <a:txBody>
                    <a:bodyPr wrap="square"/>
                    <a:lstStyle/>
                    <a:p>
                      <a:pPr algn="ctr"/>
                      <a:r>
                        <a:rPr b="0" sz="900">
                          <a:solidFill>
                            <a:srgbClr val="404040"/>
                          </a:solidFill>
                        </a:rPr>
                        <a:t>100</a:t>
                      </a:r>
                    </a:p>
                  </a:txBody>
                  <a:tcPr>
                    <a:solidFill>
                      <a:srgbClr val="FFFFFF"/>
                    </a:solidFill>
                  </a:tcPr>
                </a:tc>
                <a:tc>
                  <a:txBody>
                    <a:bodyPr wrap="square"/>
                    <a:lstStyle/>
                    <a:p>
                      <a:pPr algn="ctr"/>
                      <a:r>
                        <a:rPr b="0" sz="900">
                          <a:solidFill>
                            <a:srgbClr val="404040"/>
                          </a:solidFill>
                        </a:rPr>
                        <a:t>60</a:t>
                      </a:r>
                    </a:p>
                  </a:txBody>
                  <a:tcPr>
                    <a:solidFill>
                      <a:srgbClr val="FFFFFF"/>
                    </a:solidFill>
                  </a:tcPr>
                </a:tc>
              </a:tr>
              <a:tr h="407963">
                <a:tc>
                  <a:txBody>
                    <a:bodyPr wrap="square"/>
                    <a:lstStyle/>
                    <a:p>
                      <a:pPr algn="l"/>
                      <a:r>
                        <a:rPr b="0" sz="900">
                          <a:solidFill>
                            <a:srgbClr val="404040"/>
                          </a:solidFill>
                        </a:rPr>
                        <a:t>dias_publicacion</a:t>
                      </a:r>
                    </a:p>
                  </a:txBody>
                  <a:tcPr>
                    <a:solidFill>
                      <a:srgbClr val="BDD7EE"/>
                    </a:solidFill>
                  </a:tcPr>
                </a:tc>
                <a:tc>
                  <a:txBody>
                    <a:bodyPr wrap="square"/>
                    <a:lstStyle/>
                    <a:p>
                      <a:pPr algn="ctr"/>
                      <a:r>
                        <a:rPr b="0" sz="900">
                          <a:solidFill>
                            <a:srgbClr val="404040"/>
                          </a:solidFill>
                        </a:rPr>
                        <a:t>2</a:t>
                      </a:r>
                    </a:p>
                  </a:txBody>
                  <a:tcPr>
                    <a:solidFill>
                      <a:srgbClr val="BDD7EE"/>
                    </a:solidFill>
                  </a:tcPr>
                </a:tc>
                <a:tc>
                  <a:txBody>
                    <a:bodyPr wrap="square"/>
                    <a:lstStyle/>
                    <a:p>
                      <a:pPr algn="ctr"/>
                      <a:r>
                        <a:rPr b="0" sz="900">
                          <a:solidFill>
                            <a:srgbClr val="404040"/>
                          </a:solidFill>
                        </a:rPr>
                        <a:t>3</a:t>
                      </a:r>
                    </a:p>
                  </a:txBody>
                  <a:tcPr>
                    <a:solidFill>
                      <a:srgbClr val="BDD7EE"/>
                    </a:solidFill>
                  </a:tcPr>
                </a:tc>
                <a:tc>
                  <a:txBody>
                    <a:bodyPr wrap="square"/>
                    <a:lstStyle/>
                    <a:p>
                      <a:pPr algn="ctr"/>
                      <a:r>
                        <a:rPr b="0" sz="900">
                          <a:solidFill>
                            <a:srgbClr val="404040"/>
                          </a:solidFill>
                        </a:rPr>
                        <a:t>3</a:t>
                      </a:r>
                    </a:p>
                  </a:txBody>
                  <a:tcPr>
                    <a:solidFill>
                      <a:srgbClr val="BDD7EE"/>
                    </a:solidFill>
                  </a:tcPr>
                </a:tc>
                <a:tc>
                  <a:txBody>
                    <a:bodyPr wrap="square"/>
                    <a:lstStyle/>
                    <a:p>
                      <a:pPr algn="ctr"/>
                      <a:r>
                        <a:rPr b="0" sz="900">
                          <a:solidFill>
                            <a:srgbClr val="404040"/>
                          </a:solidFill>
                        </a:rPr>
                        <a:t>3</a:t>
                      </a:r>
                    </a:p>
                  </a:txBody>
                  <a:tcPr>
                    <a:solidFill>
                      <a:srgbClr val="BDD7EE"/>
                    </a:solidFill>
                  </a:tcPr>
                </a:tc>
                <a:tc>
                  <a:txBody>
                    <a:bodyPr wrap="square"/>
                    <a:lstStyle/>
                    <a:p>
                      <a:pPr algn="ctr"/>
                      <a:r>
                        <a:rPr b="0" sz="900">
                          <a:solidFill>
                            <a:srgbClr val="404040"/>
                          </a:solidFill>
                        </a:rPr>
                        <a:t>8</a:t>
                      </a:r>
                    </a:p>
                  </a:txBody>
                  <a:tcPr>
                    <a:solidFill>
                      <a:srgbClr val="BDD7EE"/>
                    </a:solidFill>
                  </a:tcPr>
                </a:tc>
                <a:tc>
                  <a:txBody>
                    <a:bodyPr wrap="square"/>
                    <a:lstStyle/>
                    <a:p>
                      <a:pPr algn="ctr"/>
                      <a:r>
                        <a:rPr b="0" sz="900">
                          <a:solidFill>
                            <a:srgbClr val="404040"/>
                          </a:solidFill>
                        </a:rPr>
                        <a:t>1</a:t>
                      </a:r>
                    </a:p>
                  </a:txBody>
                  <a:tcPr>
                    <a:solidFill>
                      <a:srgbClr val="BDD7EE"/>
                    </a:solidFill>
                  </a:tcPr>
                </a:tc>
                <a:tc>
                  <a:txBody>
                    <a:bodyPr wrap="square"/>
                    <a:lstStyle/>
                    <a:p>
                      <a:pPr algn="ctr"/>
                      <a:r>
                        <a:rPr b="0" sz="900">
                          <a:solidFill>
                            <a:srgbClr val="404040"/>
                          </a:solidFill>
                        </a:rPr>
                        <a:t>6</a:t>
                      </a:r>
                    </a:p>
                  </a:txBody>
                  <a:tcPr>
                    <a:solidFill>
                      <a:srgbClr val="BDD7EE"/>
                    </a:solidFill>
                  </a:tcPr>
                </a:tc>
              </a:tr>
              <a:tr h="407963">
                <a:tc>
                  <a:txBody>
                    <a:bodyPr wrap="square"/>
                    <a:lstStyle/>
                    <a:p>
                      <a:pPr algn="l"/>
                      <a:r>
                        <a:rPr b="0" sz="900">
                          <a:solidFill>
                            <a:srgbClr val="404040"/>
                          </a:solidFill>
                        </a:rPr>
                        <a:t>horas_control_post</a:t>
                      </a:r>
                    </a:p>
                  </a:txBody>
                  <a:tcPr>
                    <a:solidFill>
                      <a:srgbClr val="FFFFFF"/>
                    </a:solidFill>
                  </a:tcPr>
                </a:tc>
                <a:tc>
                  <a:txBody>
                    <a:bodyPr wrap="square"/>
                    <a:lstStyle/>
                    <a:p>
                      <a:pPr algn="ctr"/>
                      <a:r>
                        <a:rPr b="0" sz="900">
                          <a:solidFill>
                            <a:srgbClr val="404040"/>
                          </a:solidFill>
                        </a:rPr>
                        <a:t>51</a:t>
                      </a:r>
                    </a:p>
                  </a:txBody>
                  <a:tcPr>
                    <a:solidFill>
                      <a:srgbClr val="FFFFFF"/>
                    </a:solidFill>
                  </a:tcPr>
                </a:tc>
                <a:tc>
                  <a:txBody>
                    <a:bodyPr wrap="square"/>
                    <a:lstStyle/>
                    <a:p>
                      <a:pPr algn="ctr"/>
                      <a:r>
                        <a:rPr b="0" sz="900">
                          <a:solidFill>
                            <a:srgbClr val="404040"/>
                          </a:solidFill>
                        </a:rPr>
                        <a:t>51</a:t>
                      </a:r>
                    </a:p>
                  </a:txBody>
                  <a:tcPr>
                    <a:solidFill>
                      <a:srgbClr val="FFFFFF"/>
                    </a:solidFill>
                  </a:tcPr>
                </a:tc>
                <a:tc>
                  <a:txBody>
                    <a:bodyPr wrap="square"/>
                    <a:lstStyle/>
                    <a:p>
                      <a:pPr algn="ctr"/>
                      <a:r>
                        <a:rPr b="0" sz="900">
                          <a:solidFill>
                            <a:srgbClr val="404040"/>
                          </a:solidFill>
                        </a:rPr>
                        <a:t>51</a:t>
                      </a:r>
                    </a:p>
                  </a:txBody>
                  <a:tcPr>
                    <a:solidFill>
                      <a:srgbClr val="FFFFFF"/>
                    </a:solidFill>
                  </a:tcPr>
                </a:tc>
                <a:tc>
                  <a:txBody>
                    <a:bodyPr wrap="square"/>
                    <a:lstStyle/>
                    <a:p>
                      <a:pPr algn="ctr"/>
                      <a:r>
                        <a:rPr b="0" sz="900">
                          <a:solidFill>
                            <a:srgbClr val="404040"/>
                          </a:solidFill>
                        </a:rPr>
                        <a:t>51</a:t>
                      </a:r>
                    </a:p>
                  </a:txBody>
                  <a:tcPr>
                    <a:solidFill>
                      <a:srgbClr val="FFFFFF"/>
                    </a:solidFill>
                  </a:tcPr>
                </a:tc>
                <a:tc>
                  <a:txBody>
                    <a:bodyPr wrap="square"/>
                    <a:lstStyle/>
                    <a:p>
                      <a:pPr algn="ctr"/>
                      <a:r>
                        <a:rPr b="0" sz="900">
                          <a:solidFill>
                            <a:srgbClr val="404040"/>
                          </a:solidFill>
                        </a:rPr>
                        <a:t>50</a:t>
                      </a:r>
                    </a:p>
                  </a:txBody>
                  <a:tcPr>
                    <a:solidFill>
                      <a:srgbClr val="FFFFFF"/>
                    </a:solidFill>
                  </a:tcPr>
                </a:tc>
                <a:tc>
                  <a:txBody>
                    <a:bodyPr wrap="square"/>
                    <a:lstStyle/>
                    <a:p>
                      <a:pPr algn="ctr"/>
                      <a:r>
                        <a:rPr b="0" sz="900">
                          <a:solidFill>
                            <a:srgbClr val="404040"/>
                          </a:solidFill>
                        </a:rPr>
                        <a:t>20</a:t>
                      </a:r>
                    </a:p>
                  </a:txBody>
                  <a:tcPr>
                    <a:solidFill>
                      <a:srgbClr val="FFFFFF"/>
                    </a:solidFill>
                  </a:tcPr>
                </a:tc>
                <a:tc>
                  <a:txBody>
                    <a:bodyPr wrap="square"/>
                    <a:lstStyle/>
                    <a:p>
                      <a:pPr algn="ctr"/>
                      <a:r>
                        <a:rPr b="0" sz="900">
                          <a:solidFill>
                            <a:srgbClr val="404040"/>
                          </a:solidFill>
                        </a:rPr>
                        <a:t>45</a:t>
                      </a:r>
                    </a:p>
                  </a:txBody>
                  <a:tcPr>
                    <a:solidFill>
                      <a:srgbClr val="FFFFFF"/>
                    </a:solidFill>
                  </a:tcPr>
                </a:tc>
              </a:tr>
              <a:tr h="407963">
                <a:tc>
                  <a:txBody>
                    <a:bodyPr wrap="square"/>
                    <a:lstStyle/>
                    <a:p>
                      <a:pPr algn="l"/>
                      <a:r>
                        <a:rPr b="0" sz="900">
                          <a:solidFill>
                            <a:srgbClr val="404040"/>
                          </a:solidFill>
                        </a:rPr>
                        <a:t>horas_especialista_1ra</a:t>
                      </a:r>
                    </a:p>
                  </a:txBody>
                  <a:tcPr>
                    <a:solidFill>
                      <a:srgbClr val="BDD7EE"/>
                    </a:solidFill>
                  </a:tcPr>
                </a:tc>
                <a:tc>
                  <a:txBody>
                    <a:bodyPr wrap="square"/>
                    <a:lstStyle/>
                    <a:p>
                      <a:pPr algn="ctr"/>
                      <a:r>
                        <a:rPr b="0" sz="900">
                          <a:solidFill>
                            <a:srgbClr val="404040"/>
                          </a:solidFill>
                        </a:rPr>
                        <a:t>19</a:t>
                      </a:r>
                    </a:p>
                  </a:txBody>
                  <a:tcPr>
                    <a:solidFill>
                      <a:srgbClr val="BDD7EE"/>
                    </a:solidFill>
                  </a:tcPr>
                </a:tc>
                <a:tc>
                  <a:txBody>
                    <a:bodyPr wrap="square"/>
                    <a:lstStyle/>
                    <a:p>
                      <a:pPr algn="ctr"/>
                      <a:r>
                        <a:rPr b="0" sz="900">
                          <a:solidFill>
                            <a:srgbClr val="404040"/>
                          </a:solidFill>
                        </a:rPr>
                        <a:t>16</a:t>
                      </a:r>
                    </a:p>
                  </a:txBody>
                  <a:tcPr>
                    <a:solidFill>
                      <a:srgbClr val="BDD7EE"/>
                    </a:solidFill>
                  </a:tcPr>
                </a:tc>
                <a:tc>
                  <a:txBody>
                    <a:bodyPr wrap="square"/>
                    <a:lstStyle/>
                    <a:p>
                      <a:pPr algn="ctr"/>
                      <a:r>
                        <a:rPr b="0" sz="900">
                          <a:solidFill>
                            <a:srgbClr val="404040"/>
                          </a:solidFill>
                        </a:rPr>
                        <a:t>16</a:t>
                      </a:r>
                    </a:p>
                  </a:txBody>
                  <a:tcPr>
                    <a:solidFill>
                      <a:srgbClr val="BDD7EE"/>
                    </a:solidFill>
                  </a:tcPr>
                </a:tc>
                <a:tc>
                  <a:txBody>
                    <a:bodyPr wrap="square"/>
                    <a:lstStyle/>
                    <a:p>
                      <a:pPr algn="ctr"/>
                      <a:r>
                        <a:rPr b="0" sz="900">
                          <a:solidFill>
                            <a:srgbClr val="404040"/>
                          </a:solidFill>
                        </a:rPr>
                        <a:t>16</a:t>
                      </a:r>
                    </a:p>
                  </a:txBody>
                  <a:tcPr>
                    <a:solidFill>
                      <a:srgbClr val="BDD7EE"/>
                    </a:solidFill>
                  </a:tcPr>
                </a:tc>
                <a:tc>
                  <a:txBody>
                    <a:bodyPr wrap="square"/>
                    <a:lstStyle/>
                    <a:p>
                      <a:pPr algn="ctr"/>
                      <a:r>
                        <a:rPr b="0" sz="900">
                          <a:solidFill>
                            <a:srgbClr val="404040"/>
                          </a:solidFill>
                        </a:rPr>
                        <a:t>22</a:t>
                      </a:r>
                    </a:p>
                  </a:txBody>
                  <a:tcPr>
                    <a:solidFill>
                      <a:srgbClr val="BDD7EE"/>
                    </a:solidFill>
                  </a:tcPr>
                </a:tc>
                <a:tc>
                  <a:txBody>
                    <a:bodyPr wrap="square"/>
                    <a:lstStyle/>
                    <a:p>
                      <a:pPr algn="ctr"/>
                      <a:r>
                        <a:rPr b="0" sz="900">
                          <a:solidFill>
                            <a:srgbClr val="404040"/>
                          </a:solidFill>
                        </a:rPr>
                        <a:t>30</a:t>
                      </a:r>
                    </a:p>
                  </a:txBody>
                  <a:tcPr>
                    <a:solidFill>
                      <a:srgbClr val="BDD7EE"/>
                    </a:solidFill>
                  </a:tcPr>
                </a:tc>
                <a:tc>
                  <a:txBody>
                    <a:bodyPr wrap="square"/>
                    <a:lstStyle/>
                    <a:p>
                      <a:pPr algn="ctr"/>
                      <a:r>
                        <a:rPr b="0" sz="900">
                          <a:solidFill>
                            <a:srgbClr val="404040"/>
                          </a:solidFill>
                        </a:rPr>
                        <a:t>19</a:t>
                      </a:r>
                    </a:p>
                  </a:txBody>
                  <a:tcPr>
                    <a:solidFill>
                      <a:srgbClr val="BDD7EE"/>
                    </a:solidFill>
                  </a:tcPr>
                </a:tc>
              </a:tr>
              <a:tr h="407963">
                <a:tc>
                  <a:txBody>
                    <a:bodyPr wrap="square"/>
                    <a:lstStyle/>
                    <a:p>
                      <a:pPr algn="l"/>
                      <a:r>
                        <a:rPr b="0" sz="900">
                          <a:solidFill>
                            <a:srgbClr val="404040"/>
                          </a:solidFill>
                        </a:rPr>
                        <a:t>num_agentes_ugd</a:t>
                      </a:r>
                    </a:p>
                  </a:txBody>
                  <a:tcPr>
                    <a:solidFill>
                      <a:srgbClr val="FFFFFF"/>
                    </a:solidFill>
                  </a:tcPr>
                </a:tc>
                <a:tc>
                  <a:txBody>
                    <a:bodyPr wrap="square"/>
                    <a:lstStyle/>
                    <a:p>
                      <a:pPr algn="ctr"/>
                      <a:r>
                        <a:rPr b="0" sz="900">
                          <a:solidFill>
                            <a:srgbClr val="404040"/>
                          </a:solidFill>
                        </a:rPr>
                        <a:t>1</a:t>
                      </a:r>
                    </a:p>
                  </a:txBody>
                  <a:tcPr>
                    <a:solidFill>
                      <a:srgbClr val="FFFFFF"/>
                    </a:solidFill>
                  </a:tcPr>
                </a:tc>
                <a:tc>
                  <a:txBody>
                    <a:bodyPr wrap="square"/>
                    <a:lstStyle/>
                    <a:p>
                      <a:pPr algn="ctr"/>
                      <a:r>
                        <a:rPr b="0" sz="900">
                          <a:solidFill>
                            <a:srgbClr val="404040"/>
                          </a:solidFill>
                        </a:rPr>
                        <a:t>1</a:t>
                      </a:r>
                    </a:p>
                  </a:txBody>
                  <a:tcPr>
                    <a:solidFill>
                      <a:srgbClr val="FFFFFF"/>
                    </a:solidFill>
                  </a:tcPr>
                </a:tc>
                <a:tc>
                  <a:txBody>
                    <a:bodyPr wrap="square"/>
                    <a:lstStyle/>
                    <a:p>
                      <a:pPr algn="ctr"/>
                      <a:r>
                        <a:rPr b="0" sz="900">
                          <a:solidFill>
                            <a:srgbClr val="404040"/>
                          </a:solidFill>
                        </a:rPr>
                        <a:t>1</a:t>
                      </a:r>
                    </a:p>
                  </a:txBody>
                  <a:tcPr>
                    <a:solidFill>
                      <a:srgbClr val="FFFFFF"/>
                    </a:solidFill>
                  </a:tcPr>
                </a:tc>
                <a:tc>
                  <a:txBody>
                    <a:bodyPr wrap="square"/>
                    <a:lstStyle/>
                    <a:p>
                      <a:pPr algn="ctr"/>
                      <a:r>
                        <a:rPr b="0" sz="900">
                          <a:solidFill>
                            <a:srgbClr val="404040"/>
                          </a:solidFill>
                        </a:rPr>
                        <a:t>1</a:t>
                      </a:r>
                    </a:p>
                  </a:txBody>
                  <a:tcPr>
                    <a:solidFill>
                      <a:srgbClr val="FFFFFF"/>
                    </a:solidFill>
                  </a:tcPr>
                </a:tc>
                <a:tc>
                  <a:txBody>
                    <a:bodyPr wrap="square"/>
                    <a:lstStyle/>
                    <a:p>
                      <a:pPr algn="ctr"/>
                      <a:r>
                        <a:rPr b="0" sz="900">
                          <a:solidFill>
                            <a:srgbClr val="404040"/>
                          </a:solidFill>
                        </a:rPr>
                        <a:t>2</a:t>
                      </a:r>
                    </a:p>
                  </a:txBody>
                  <a:tcPr>
                    <a:solidFill>
                      <a:srgbClr val="FFFFFF"/>
                    </a:solidFill>
                  </a:tcPr>
                </a:tc>
                <a:tc>
                  <a:txBody>
                    <a:bodyPr wrap="square"/>
                    <a:lstStyle/>
                    <a:p>
                      <a:pPr algn="ctr"/>
                      <a:r>
                        <a:rPr b="0" sz="900">
                          <a:solidFill>
                            <a:srgbClr val="404040"/>
                          </a:solidFill>
                        </a:rPr>
                        <a:t>1</a:t>
                      </a:r>
                    </a:p>
                  </a:txBody>
                  <a:tcPr>
                    <a:solidFill>
                      <a:srgbClr val="FFFFFF"/>
                    </a:solidFill>
                  </a:tcPr>
                </a:tc>
                <a:tc>
                  <a:txBody>
                    <a:bodyPr wrap="square"/>
                    <a:lstStyle/>
                    <a:p>
                      <a:pPr algn="ctr"/>
                      <a:r>
                        <a:rPr b="0" sz="900">
                          <a:solidFill>
                            <a:srgbClr val="404040"/>
                          </a:solidFill>
                        </a:rPr>
                        <a:t>2</a:t>
                      </a:r>
                    </a:p>
                  </a:txBody>
                  <a:tcPr>
                    <a:solidFill>
                      <a:srgbClr val="FFFFFF"/>
                    </a:solidFill>
                  </a:tcPr>
                </a:tc>
              </a:tr>
              <a:tr h="407963">
                <a:tc>
                  <a:txBody>
                    <a:bodyPr wrap="square"/>
                    <a:lstStyle/>
                    <a:p>
                      <a:pPr algn="l"/>
                      <a:r>
                        <a:rPr b="0" sz="900">
                          <a:solidFill>
                            <a:srgbClr val="404040"/>
                          </a:solidFill>
                        </a:rPr>
                        <a:t>num_matronas</a:t>
                      </a:r>
                    </a:p>
                  </a:txBody>
                  <a:tcPr>
                    <a:solidFill>
                      <a:srgbClr val="BDD7EE"/>
                    </a:solidFill>
                  </a:tcPr>
                </a:tc>
                <a:tc>
                  <a:txBody>
                    <a:bodyPr wrap="square"/>
                    <a:lstStyle/>
                    <a:p>
                      <a:pPr algn="ctr"/>
                      <a:r>
                        <a:rPr b="0" sz="900">
                          <a:solidFill>
                            <a:srgbClr val="404040"/>
                          </a:solidFill>
                        </a:rPr>
                        <a:t>2</a:t>
                      </a:r>
                    </a:p>
                  </a:txBody>
                  <a:tcPr>
                    <a:solidFill>
                      <a:srgbClr val="BDD7EE"/>
                    </a:solidFill>
                  </a:tcPr>
                </a:tc>
                <a:tc>
                  <a:txBody>
                    <a:bodyPr wrap="square"/>
                    <a:lstStyle/>
                    <a:p>
                      <a:pPr algn="ctr"/>
                      <a:r>
                        <a:rPr b="0" sz="900">
                          <a:solidFill>
                            <a:srgbClr val="404040"/>
                          </a:solidFill>
                        </a:rPr>
                        <a:t>2</a:t>
                      </a:r>
                    </a:p>
                  </a:txBody>
                  <a:tcPr>
                    <a:solidFill>
                      <a:srgbClr val="BDD7EE"/>
                    </a:solidFill>
                  </a:tcPr>
                </a:tc>
                <a:tc>
                  <a:txBody>
                    <a:bodyPr wrap="square"/>
                    <a:lstStyle/>
                    <a:p>
                      <a:pPr algn="ctr"/>
                      <a:r>
                        <a:rPr b="0" sz="900">
                          <a:solidFill>
                            <a:srgbClr val="404040"/>
                          </a:solidFill>
                        </a:rPr>
                        <a:t>2</a:t>
                      </a:r>
                    </a:p>
                  </a:txBody>
                  <a:tcPr>
                    <a:solidFill>
                      <a:srgbClr val="BDD7EE"/>
                    </a:solidFill>
                  </a:tcPr>
                </a:tc>
                <a:tc>
                  <a:txBody>
                    <a:bodyPr wrap="square"/>
                    <a:lstStyle/>
                    <a:p>
                      <a:pPr algn="ctr"/>
                      <a:r>
                        <a:rPr b="0" sz="900">
                          <a:solidFill>
                            <a:srgbClr val="404040"/>
                          </a:solidFill>
                        </a:rPr>
                        <a:t>2</a:t>
                      </a:r>
                    </a:p>
                  </a:txBody>
                  <a:tcPr>
                    <a:solidFill>
                      <a:srgbClr val="BDD7EE"/>
                    </a:solidFill>
                  </a:tcPr>
                </a:tc>
                <a:tc>
                  <a:txBody>
                    <a:bodyPr wrap="square"/>
                    <a:lstStyle/>
                    <a:p>
                      <a:pPr algn="ctr"/>
                      <a:r>
                        <a:rPr b="0" sz="900">
                          <a:solidFill>
                            <a:srgbClr val="404040"/>
                          </a:solidFill>
                        </a:rPr>
                        <a:t>2</a:t>
                      </a:r>
                    </a:p>
                  </a:txBody>
                  <a:tcPr>
                    <a:solidFill>
                      <a:srgbClr val="BDD7EE"/>
                    </a:solidFill>
                  </a:tcPr>
                </a:tc>
                <a:tc>
                  <a:txBody>
                    <a:bodyPr wrap="square"/>
                    <a:lstStyle/>
                    <a:p>
                      <a:pPr algn="ctr"/>
                      <a:r>
                        <a:rPr b="0" sz="900">
                          <a:solidFill>
                            <a:srgbClr val="404040"/>
                          </a:solidFill>
                        </a:rPr>
                        <a:t>1</a:t>
                      </a:r>
                    </a:p>
                  </a:txBody>
                  <a:tcPr>
                    <a:solidFill>
                      <a:srgbClr val="BDD7EE"/>
                    </a:solidFill>
                  </a:tcPr>
                </a:tc>
                <a:tc>
                  <a:txBody>
                    <a:bodyPr wrap="square"/>
                    <a:lstStyle/>
                    <a:p>
                      <a:pPr algn="ctr"/>
                      <a:r>
                        <a:rPr b="0" sz="900">
                          <a:solidFill>
                            <a:srgbClr val="404040"/>
                          </a:solidFill>
                        </a:rPr>
                        <a:t>2</a:t>
                      </a:r>
                    </a:p>
                  </a:txBody>
                  <a:tcPr>
                    <a:solidFill>
                      <a:srgbClr val="BDD7EE"/>
                    </a:solidFill>
                  </a:tcPr>
                </a:tc>
              </a:tr>
              <a:tr h="407963">
                <a:tc>
                  <a:txBody>
                    <a:bodyPr wrap="square"/>
                    <a:lstStyle/>
                    <a:p>
                      <a:pPr algn="l"/>
                      <a:r>
                        <a:rPr b="0" sz="900">
                          <a:solidFill>
                            <a:srgbClr val="404040"/>
                          </a:solidFill>
                        </a:rPr>
                        <a:t>pct_bloqueo_1ra</a:t>
                      </a:r>
                    </a:p>
                  </a:txBody>
                  <a:tcPr>
                    <a:solidFill>
                      <a:srgbClr val="FFFFFF"/>
                    </a:solidFill>
                  </a:tcPr>
                </a:tc>
                <a:tc>
                  <a:txBody>
                    <a:bodyPr wrap="square"/>
                    <a:lstStyle/>
                    <a:p>
                      <a:pPr algn="ctr"/>
                      <a:r>
                        <a:rPr b="0" sz="900">
                          <a:solidFill>
                            <a:srgbClr val="404040"/>
                          </a:solidFill>
                        </a:rPr>
                        <a:t>0.0894</a:t>
                      </a:r>
                    </a:p>
                  </a:txBody>
                  <a:tcPr>
                    <a:solidFill>
                      <a:srgbClr val="FFFFFF"/>
                    </a:solidFill>
                  </a:tcPr>
                </a:tc>
                <a:tc>
                  <a:txBody>
                    <a:bodyPr wrap="square"/>
                    <a:lstStyle/>
                    <a:p>
                      <a:pPr algn="ctr"/>
                      <a:r>
                        <a:rPr b="0" sz="900">
                          <a:solidFill>
                            <a:srgbClr val="404040"/>
                          </a:solidFill>
                        </a:rPr>
                        <a:t>0.1496</a:t>
                      </a:r>
                    </a:p>
                  </a:txBody>
                  <a:tcPr>
                    <a:solidFill>
                      <a:srgbClr val="FFFFFF"/>
                    </a:solidFill>
                  </a:tcPr>
                </a:tc>
                <a:tc>
                  <a:txBody>
                    <a:bodyPr wrap="square"/>
                    <a:lstStyle/>
                    <a:p>
                      <a:pPr algn="ctr"/>
                      <a:r>
                        <a:rPr b="0" sz="900">
                          <a:solidFill>
                            <a:srgbClr val="404040"/>
                          </a:solidFill>
                        </a:rPr>
                        <a:t>0.1494</a:t>
                      </a:r>
                    </a:p>
                  </a:txBody>
                  <a:tcPr>
                    <a:solidFill>
                      <a:srgbClr val="FFFFFF"/>
                    </a:solidFill>
                  </a:tcPr>
                </a:tc>
                <a:tc>
                  <a:txBody>
                    <a:bodyPr wrap="square"/>
                    <a:lstStyle/>
                    <a:p>
                      <a:pPr algn="ctr"/>
                      <a:r>
                        <a:rPr b="0" sz="900">
                          <a:solidFill>
                            <a:srgbClr val="404040"/>
                          </a:solidFill>
                        </a:rPr>
                        <a:t>0.1497</a:t>
                      </a:r>
                    </a:p>
                  </a:txBody>
                  <a:tcPr>
                    <a:solidFill>
                      <a:srgbClr val="FFFFFF"/>
                    </a:solidFill>
                  </a:tcPr>
                </a:tc>
                <a:tc>
                  <a:txBody>
                    <a:bodyPr wrap="square"/>
                    <a:lstStyle/>
                    <a:p>
                      <a:pPr algn="ctr"/>
                      <a:r>
                        <a:rPr b="0" sz="900">
                          <a:solidFill>
                            <a:srgbClr val="404040"/>
                          </a:solidFill>
                        </a:rPr>
                        <a:t>0.1511</a:t>
                      </a:r>
                    </a:p>
                  </a:txBody>
                  <a:tcPr>
                    <a:solidFill>
                      <a:srgbClr val="FFFFFF"/>
                    </a:solidFill>
                  </a:tcPr>
                </a:tc>
                <a:tc>
                  <a:txBody>
                    <a:bodyPr wrap="square"/>
                    <a:lstStyle/>
                    <a:p>
                      <a:pPr algn="ctr"/>
                      <a:r>
                        <a:rPr b="0" sz="900">
                          <a:solidFill>
                            <a:srgbClr val="378648"/>
                          </a:solidFill>
                        </a:rPr>
                        <a:t>0.0500</a:t>
                      </a:r>
                    </a:p>
                  </a:txBody>
                  <a:tcPr>
                    <a:solidFill>
                      <a:srgbClr val="FFFFFF"/>
                    </a:solidFill>
                  </a:tcPr>
                </a:tc>
                <a:tc>
                  <a:txBody>
                    <a:bodyPr wrap="square"/>
                    <a:lstStyle/>
                    <a:p>
                      <a:pPr algn="ctr"/>
                      <a:r>
                        <a:rPr b="0" sz="900">
                          <a:solidFill>
                            <a:srgbClr val="404040"/>
                          </a:solidFill>
                        </a:rPr>
                        <a:t>0.2750</a:t>
                      </a:r>
                    </a:p>
                  </a:txBody>
                  <a:tcPr>
                    <a:solidFill>
                      <a:srgbClr val="FFFFFF"/>
                    </a:solidFill>
                  </a:tcPr>
                </a:tc>
              </a:tr>
              <a:tr h="407963">
                <a:tc>
                  <a:txBody>
                    <a:bodyPr wrap="square"/>
                    <a:lstStyle/>
                    <a:p>
                      <a:pPr algn="l"/>
                      <a:r>
                        <a:rPr b="0" sz="900">
                          <a:solidFill>
                            <a:srgbClr val="404040"/>
                          </a:solidFill>
                        </a:rPr>
                        <a:t>pct_bloqueo_post</a:t>
                      </a:r>
                    </a:p>
                  </a:txBody>
                  <a:tcPr>
                    <a:solidFill>
                      <a:srgbClr val="BDD7EE"/>
                    </a:solidFill>
                  </a:tcPr>
                </a:tc>
                <a:tc>
                  <a:txBody>
                    <a:bodyPr wrap="square"/>
                    <a:lstStyle/>
                    <a:p>
                      <a:pPr algn="ctr"/>
                      <a:r>
                        <a:rPr b="0" sz="900">
                          <a:solidFill>
                            <a:srgbClr val="404040"/>
                          </a:solidFill>
                        </a:rPr>
                        <a:t>0.0583</a:t>
                      </a:r>
                    </a:p>
                  </a:txBody>
                  <a:tcPr>
                    <a:solidFill>
                      <a:srgbClr val="BDD7EE"/>
                    </a:solidFill>
                  </a:tcPr>
                </a:tc>
                <a:tc>
                  <a:txBody>
                    <a:bodyPr wrap="square"/>
                    <a:lstStyle/>
                    <a:p>
                      <a:pPr algn="ctr"/>
                      <a:r>
                        <a:rPr b="0" sz="900">
                          <a:solidFill>
                            <a:srgbClr val="404040"/>
                          </a:solidFill>
                        </a:rPr>
                        <a:t>0.1048</a:t>
                      </a:r>
                    </a:p>
                  </a:txBody>
                  <a:tcPr>
                    <a:solidFill>
                      <a:srgbClr val="BDD7EE"/>
                    </a:solidFill>
                  </a:tcPr>
                </a:tc>
                <a:tc>
                  <a:txBody>
                    <a:bodyPr wrap="square"/>
                    <a:lstStyle/>
                    <a:p>
                      <a:pPr algn="ctr"/>
                      <a:r>
                        <a:rPr b="0" sz="900">
                          <a:solidFill>
                            <a:srgbClr val="404040"/>
                          </a:solidFill>
                        </a:rPr>
                        <a:t>0.1050</a:t>
                      </a:r>
                    </a:p>
                  </a:txBody>
                  <a:tcPr>
                    <a:solidFill>
                      <a:srgbClr val="BDD7EE"/>
                    </a:solidFill>
                  </a:tcPr>
                </a:tc>
                <a:tc>
                  <a:txBody>
                    <a:bodyPr wrap="square"/>
                    <a:lstStyle/>
                    <a:p>
                      <a:pPr algn="ctr"/>
                      <a:r>
                        <a:rPr b="0" sz="900">
                          <a:solidFill>
                            <a:srgbClr val="404040"/>
                          </a:solidFill>
                        </a:rPr>
                        <a:t>0.1050</a:t>
                      </a:r>
                    </a:p>
                  </a:txBody>
                  <a:tcPr>
                    <a:solidFill>
                      <a:srgbClr val="BDD7EE"/>
                    </a:solidFill>
                  </a:tcPr>
                </a:tc>
                <a:tc>
                  <a:txBody>
                    <a:bodyPr wrap="square"/>
                    <a:lstStyle/>
                    <a:p>
                      <a:pPr algn="ctr"/>
                      <a:r>
                        <a:rPr b="0" sz="900">
                          <a:solidFill>
                            <a:srgbClr val="404040"/>
                          </a:solidFill>
                        </a:rPr>
                        <a:t>0.2115</a:t>
                      </a:r>
                    </a:p>
                  </a:txBody>
                  <a:tcPr>
                    <a:solidFill>
                      <a:srgbClr val="BDD7EE"/>
                    </a:solidFill>
                  </a:tcPr>
                </a:tc>
                <a:tc>
                  <a:txBody>
                    <a:bodyPr wrap="square"/>
                    <a:lstStyle/>
                    <a:p>
                      <a:pPr algn="ctr"/>
                      <a:r>
                        <a:rPr b="0" sz="900">
                          <a:solidFill>
                            <a:srgbClr val="378648"/>
                          </a:solidFill>
                        </a:rPr>
                        <a:t>0.0500</a:t>
                      </a:r>
                    </a:p>
                  </a:txBody>
                  <a:tcPr>
                    <a:solidFill>
                      <a:srgbClr val="BDD7EE"/>
                    </a:solidFill>
                  </a:tcPr>
                </a:tc>
                <a:tc>
                  <a:txBody>
                    <a:bodyPr wrap="square"/>
                    <a:lstStyle/>
                    <a:p>
                      <a:pPr algn="ctr"/>
                      <a:r>
                        <a:rPr b="0" sz="900">
                          <a:solidFill>
                            <a:srgbClr val="404040"/>
                          </a:solidFill>
                        </a:rPr>
                        <a:t>0.2750</a:t>
                      </a:r>
                    </a:p>
                  </a:txBody>
                  <a:tcPr>
                    <a:solidFill>
                      <a:srgbClr val="BDD7EE"/>
                    </a:solidFill>
                  </a:tcPr>
                </a:tc>
              </a:tr>
              <a:tr h="407963">
                <a:tc>
                  <a:txBody>
                    <a:bodyPr wrap="square"/>
                    <a:lstStyle/>
                    <a:p>
                      <a:pPr algn="l"/>
                      <a:r>
                        <a:rPr b="0" sz="900">
                          <a:solidFill>
                            <a:srgbClr val="404040"/>
                          </a:solidFill>
                        </a:rPr>
                        <a:t>pct_consultas_vacias</a:t>
                      </a:r>
                    </a:p>
                  </a:txBody>
                  <a:tcPr>
                    <a:solidFill>
                      <a:srgbClr val="FFFFFF"/>
                    </a:solidFill>
                  </a:tcPr>
                </a:tc>
                <a:tc>
                  <a:txBody>
                    <a:bodyPr wrap="square"/>
                    <a:lstStyle/>
                    <a:p>
                      <a:pPr algn="ctr"/>
                      <a:r>
                        <a:rPr b="0" sz="900">
                          <a:solidFill>
                            <a:srgbClr val="378648"/>
                          </a:solidFill>
                        </a:rPr>
                        <a:t>0.0621</a:t>
                      </a:r>
                    </a:p>
                  </a:txBody>
                  <a:tcPr>
                    <a:solidFill>
                      <a:srgbClr val="FFFFFF"/>
                    </a:solidFill>
                  </a:tcPr>
                </a:tc>
                <a:tc>
                  <a:txBody>
                    <a:bodyPr wrap="square"/>
                    <a:lstStyle/>
                    <a:p>
                      <a:pPr algn="ctr"/>
                      <a:r>
                        <a:rPr b="0" sz="900">
                          <a:solidFill>
                            <a:srgbClr val="404040"/>
                          </a:solidFill>
                        </a:rPr>
                        <a:t>0.1488</a:t>
                      </a:r>
                    </a:p>
                  </a:txBody>
                  <a:tcPr>
                    <a:solidFill>
                      <a:srgbClr val="FFFFFF"/>
                    </a:solidFill>
                  </a:tcPr>
                </a:tc>
                <a:tc>
                  <a:txBody>
                    <a:bodyPr wrap="square"/>
                    <a:lstStyle/>
                    <a:p>
                      <a:pPr algn="ctr"/>
                      <a:r>
                        <a:rPr b="0" sz="900">
                          <a:solidFill>
                            <a:srgbClr val="404040"/>
                          </a:solidFill>
                        </a:rPr>
                        <a:t>0.1487</a:t>
                      </a:r>
                    </a:p>
                  </a:txBody>
                  <a:tcPr>
                    <a:solidFill>
                      <a:srgbClr val="FFFFFF"/>
                    </a:solidFill>
                  </a:tcPr>
                </a:tc>
                <a:tc>
                  <a:txBody>
                    <a:bodyPr wrap="square"/>
                    <a:lstStyle/>
                    <a:p>
                      <a:pPr algn="ctr"/>
                      <a:r>
                        <a:rPr b="0" sz="900">
                          <a:solidFill>
                            <a:srgbClr val="404040"/>
                          </a:solidFill>
                        </a:rPr>
                        <a:t>0.1490</a:t>
                      </a:r>
                    </a:p>
                  </a:txBody>
                  <a:tcPr>
                    <a:solidFill>
                      <a:srgbClr val="FFFFFF"/>
                    </a:solidFill>
                  </a:tcPr>
                </a:tc>
                <a:tc>
                  <a:txBody>
                    <a:bodyPr wrap="square"/>
                    <a:lstStyle/>
                    <a:p>
                      <a:pPr algn="ctr"/>
                      <a:r>
                        <a:rPr b="0" sz="900">
                          <a:solidFill>
                            <a:srgbClr val="404040"/>
                          </a:solidFill>
                        </a:rPr>
                        <a:t>0.2152</a:t>
                      </a:r>
                    </a:p>
                  </a:txBody>
                  <a:tcPr>
                    <a:solidFill>
                      <a:srgbClr val="FFFFFF"/>
                    </a:solidFill>
                  </a:tcPr>
                </a:tc>
                <a:tc>
                  <a:txBody>
                    <a:bodyPr wrap="square"/>
                    <a:lstStyle/>
                    <a:p>
                      <a:pPr algn="ctr"/>
                      <a:r>
                        <a:rPr b="0" sz="900">
                          <a:solidFill>
                            <a:srgbClr val="404040"/>
                          </a:solidFill>
                        </a:rPr>
                        <a:t>0.5000</a:t>
                      </a:r>
                    </a:p>
                  </a:txBody>
                  <a:tcPr>
                    <a:solidFill>
                      <a:srgbClr val="FFFFFF"/>
                    </a:solidFill>
                  </a:tcPr>
                </a:tc>
                <a:tc>
                  <a:txBody>
                    <a:bodyPr wrap="square"/>
                    <a:lstStyle/>
                    <a:p>
                      <a:pPr algn="ctr"/>
                      <a:r>
                        <a:rPr b="0" sz="900">
                          <a:solidFill>
                            <a:srgbClr val="404040"/>
                          </a:solidFill>
                        </a:rPr>
                        <a:t>0.2750</a:t>
                      </a:r>
                    </a:p>
                  </a:txBody>
                  <a:tcPr>
                    <a:solidFill>
                      <a:srgbClr val="FFFFFF"/>
                    </a:solidFill>
                  </a:tcPr>
                </a:tc>
              </a:tr>
              <a:tr h="407964">
                <a:tc>
                  <a:txBody>
                    <a:bodyPr wrap="square"/>
                    <a:lstStyle/>
                    <a:p>
                      <a:pPr algn="l"/>
                      <a:r>
                        <a:rPr b="0" sz="900">
                          <a:solidFill>
                            <a:srgbClr val="404040"/>
                          </a:solidFill>
                        </a:rPr>
                        <a:t>pct_no_contactabilidad</a:t>
                      </a:r>
                    </a:p>
                  </a:txBody>
                  <a:tcPr>
                    <a:solidFill>
                      <a:srgbClr val="BDD7EE"/>
                    </a:solidFill>
                  </a:tcPr>
                </a:tc>
                <a:tc>
                  <a:txBody>
                    <a:bodyPr wrap="square"/>
                    <a:lstStyle/>
                    <a:p>
                      <a:pPr algn="ctr"/>
                      <a:r>
                        <a:rPr b="0" sz="900">
                          <a:solidFill>
                            <a:srgbClr val="404040"/>
                          </a:solidFill>
                        </a:rPr>
                        <a:t>0.0719</a:t>
                      </a:r>
                    </a:p>
                  </a:txBody>
                  <a:tcPr>
                    <a:solidFill>
                      <a:srgbClr val="BDD7EE"/>
                    </a:solidFill>
                  </a:tcPr>
                </a:tc>
                <a:tc>
                  <a:txBody>
                    <a:bodyPr wrap="square"/>
                    <a:lstStyle/>
                    <a:p>
                      <a:pPr algn="ctr"/>
                      <a:r>
                        <a:rPr b="0" sz="900">
                          <a:solidFill>
                            <a:srgbClr val="404040"/>
                          </a:solidFill>
                        </a:rPr>
                        <a:t>0.0542</a:t>
                      </a:r>
                    </a:p>
                  </a:txBody>
                  <a:tcPr>
                    <a:solidFill>
                      <a:srgbClr val="BDD7EE"/>
                    </a:solidFill>
                  </a:tcPr>
                </a:tc>
                <a:tc>
                  <a:txBody>
                    <a:bodyPr wrap="square"/>
                    <a:lstStyle/>
                    <a:p>
                      <a:pPr algn="ctr"/>
                      <a:r>
                        <a:rPr b="0" sz="900">
                          <a:solidFill>
                            <a:srgbClr val="404040"/>
                          </a:solidFill>
                        </a:rPr>
                        <a:t>0.0543</a:t>
                      </a:r>
                    </a:p>
                  </a:txBody>
                  <a:tcPr>
                    <a:solidFill>
                      <a:srgbClr val="BDD7EE"/>
                    </a:solidFill>
                  </a:tcPr>
                </a:tc>
                <a:tc>
                  <a:txBody>
                    <a:bodyPr wrap="square"/>
                    <a:lstStyle/>
                    <a:p>
                      <a:pPr algn="ctr"/>
                      <a:r>
                        <a:rPr b="0" sz="900">
                          <a:solidFill>
                            <a:srgbClr val="404040"/>
                          </a:solidFill>
                        </a:rPr>
                        <a:t>0.0543</a:t>
                      </a:r>
                    </a:p>
                  </a:txBody>
                  <a:tcPr>
                    <a:solidFill>
                      <a:srgbClr val="BDD7EE"/>
                    </a:solidFill>
                  </a:tcPr>
                </a:tc>
                <a:tc>
                  <a:txBody>
                    <a:bodyPr wrap="square"/>
                    <a:lstStyle/>
                    <a:p>
                      <a:pPr algn="ctr"/>
                      <a:r>
                        <a:rPr b="0" sz="900">
                          <a:solidFill>
                            <a:srgbClr val="404040"/>
                          </a:solidFill>
                        </a:rPr>
                        <a:t>0.4461</a:t>
                      </a:r>
                    </a:p>
                  </a:txBody>
                  <a:tcPr>
                    <a:solidFill>
                      <a:srgbClr val="BDD7EE"/>
                    </a:solidFill>
                  </a:tcPr>
                </a:tc>
                <a:tc>
                  <a:txBody>
                    <a:bodyPr wrap="square"/>
                    <a:lstStyle/>
                    <a:p>
                      <a:pPr algn="ctr"/>
                      <a:r>
                        <a:rPr b="0" sz="900">
                          <a:solidFill>
                            <a:srgbClr val="378648"/>
                          </a:solidFill>
                        </a:rPr>
                        <a:t>0.0500</a:t>
                      </a:r>
                    </a:p>
                  </a:txBody>
                  <a:tcPr>
                    <a:solidFill>
                      <a:srgbClr val="BDD7EE"/>
                    </a:solidFill>
                  </a:tcPr>
                </a:tc>
                <a:tc>
                  <a:txBody>
                    <a:bodyPr wrap="square"/>
                    <a:lstStyle/>
                    <a:p>
                      <a:pPr algn="ctr"/>
                      <a:r>
                        <a:rPr b="0" sz="900">
                          <a:solidFill>
                            <a:srgbClr val="404040"/>
                          </a:solidFill>
                        </a:rPr>
                        <a:t>0.2750</a:t>
                      </a:r>
                    </a:p>
                  </a:txBody>
                  <a:tcPr>
                    <a:solidFill>
                      <a:srgbClr val="BDD7EE"/>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Análisis de Incumbentes — Patrones y Diferencias</a:t>
            </a:r>
          </a:p>
          <a:p>
            <a:pPr algn="l"/>
            <a:r>
              <a:rPr b="0" sz="1300">
                <a:solidFill>
                  <a:srgbClr val="BDD7EE"/>
                </a:solidFill>
              </a:rPr>
              <a:t>¿Qué variables mueven los algoritmos? ¿Por qué difieren?</a:t>
            </a:r>
          </a:p>
        </p:txBody>
      </p:sp>
      <p:sp>
        <p:nvSpPr>
          <p:cNvPr id="3" name="Rectangle 2"/>
          <p:cNvSpPr/>
          <p:nvPr/>
        </p:nvSpPr>
        <p:spPr>
          <a:xfrm>
            <a:off x="320040" y="1353312"/>
            <a:ext cx="64008" cy="47548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98448"/>
            <a:ext cx="11365992" cy="822960"/>
          </a:xfrm>
          <a:prstGeom prst="rect">
            <a:avLst/>
          </a:prstGeom>
          <a:noFill/>
        </p:spPr>
        <p:txBody>
          <a:bodyPr wrap="square">
            <a:spAutoFit/>
          </a:bodyPr>
          <a:lstStyle/>
          <a:p>
            <a:pPr algn="l"/>
            <a:r>
              <a:rPr b="1" sz="1050">
                <a:solidFill>
                  <a:srgbClr val="1F497D"/>
                </a:solidFill>
              </a:rPr>
              <a:t>M7, M8 y M9: incumbentes casi idénticos (pct_bloqueo_1ra ≈ 14.9–15.0%, cupos_lab=70)</a:t>
            </a:r>
          </a:p>
          <a:p>
            <a:pPr algn="l"/>
            <a:r>
              <a:rPr b="0" sz="1000">
                <a:solidFill>
                  <a:srgbClr val="404040"/>
                </a:solidFill>
              </a:rPr>
              <a:t>Los tres SK variants convergen a la misma configuración con distinto nº de eval (40/76/41).
M8 Adapt. (218.05d) &gt; M9 REVI (219.26d) &gt; M7 EI (219.96d). La replicación adaptativa/REVI refina mejor.</a:t>
            </a:r>
          </a:p>
        </p:txBody>
      </p:sp>
      <p:sp>
        <p:nvSpPr>
          <p:cNvPr id="5" name="Rectangle 4"/>
          <p:cNvSpPr/>
          <p:nvPr/>
        </p:nvSpPr>
        <p:spPr>
          <a:xfrm>
            <a:off x="320040" y="2286000"/>
            <a:ext cx="64008" cy="47548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231136"/>
            <a:ext cx="11365992" cy="822960"/>
          </a:xfrm>
          <a:prstGeom prst="rect">
            <a:avLst/>
          </a:prstGeom>
          <a:noFill/>
        </p:spPr>
        <p:txBody>
          <a:bodyPr wrap="square">
            <a:spAutoFit/>
          </a:bodyPr>
          <a:lstStyle/>
          <a:p>
            <a:pPr algn="l"/>
            <a:r>
              <a:rPr b="1" sz="1050">
                <a:solidFill>
                  <a:srgbClr val="1F497D"/>
                </a:solidFill>
              </a:rPr>
              <a:t>horas_especialista_1ra: M4=19h, M7/M8/M9=16h, M10-HPO=22h, M13=30h (máx), M14=19h (sin cambio)</a:t>
            </a:r>
          </a:p>
          <a:p>
            <a:pPr algn="l"/>
            <a:r>
              <a:rPr b="0" sz="1000">
                <a:solidFill>
                  <a:srgbClr val="404040"/>
                </a:solidFill>
              </a:rPr>
              <a:t>Los SK con ~40 eval se quedan en 16h. M10-HPO con 100 eval explora más. M13 SPSA satura al máximo.</a:t>
            </a:r>
          </a:p>
        </p:txBody>
      </p:sp>
      <p:sp>
        <p:nvSpPr>
          <p:cNvPr id="7" name="Rectangle 6"/>
          <p:cNvSpPr/>
          <p:nvPr/>
        </p:nvSpPr>
        <p:spPr>
          <a:xfrm>
            <a:off x="320040" y="3218688"/>
            <a:ext cx="64008" cy="47548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3163824"/>
            <a:ext cx="11365992" cy="822960"/>
          </a:xfrm>
          <a:prstGeom prst="rect">
            <a:avLst/>
          </a:prstGeom>
          <a:noFill/>
        </p:spPr>
        <p:txBody>
          <a:bodyPr wrap="square">
            <a:spAutoFit/>
          </a:bodyPr>
          <a:lstStyle/>
          <a:p>
            <a:pPr algn="l"/>
            <a:r>
              <a:rPr b="1" sz="1050">
                <a:solidFill>
                  <a:srgbClr val="1F497D"/>
                </a:solidFill>
              </a:rPr>
              <a:t>pct_bloqueo_1ra: M7/M8/M9≈14.9-15.0%, M4=8.9%, M10-HPO=15.1%, M13=5% (mín), M14=27.5%</a:t>
            </a:r>
          </a:p>
          <a:p>
            <a:pPr algn="l"/>
            <a:r>
              <a:rPr b="0" sz="1000">
                <a:solidFill>
                  <a:srgbClr val="404040"/>
                </a:solidFill>
              </a:rPr>
              <a:t>Los tres SK convergen a ~15%. M13 SPSA y M4 encuentran valores menores con búsqueda más agresiva.</a:t>
            </a:r>
          </a:p>
        </p:txBody>
      </p:sp>
      <p:sp>
        <p:nvSpPr>
          <p:cNvPr id="9" name="Rectangle 8"/>
          <p:cNvSpPr/>
          <p:nvPr/>
        </p:nvSpPr>
        <p:spPr>
          <a:xfrm>
            <a:off x="320040" y="4151376"/>
            <a:ext cx="64008" cy="47548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4096512"/>
            <a:ext cx="11365992" cy="822960"/>
          </a:xfrm>
          <a:prstGeom prst="rect">
            <a:avLst/>
          </a:prstGeom>
          <a:noFill/>
        </p:spPr>
        <p:txBody>
          <a:bodyPr wrap="square">
            <a:spAutoFit/>
          </a:bodyPr>
          <a:lstStyle/>
          <a:p>
            <a:pPr algn="l"/>
            <a:r>
              <a:rPr b="1" sz="1050">
                <a:solidFill>
                  <a:srgbClr val="1F497D"/>
                </a:solidFill>
              </a:rPr>
              <a:t>cupos_laboratorio_ugd: M7/M8/M9=70, M4=67, M10-HPO=81, M13=100 (máx)</a:t>
            </a:r>
          </a:p>
          <a:p>
            <a:pPr algn="l"/>
            <a:r>
              <a:rPr b="0" sz="1000">
                <a:solidFill>
                  <a:srgbClr val="404040"/>
                </a:solidFill>
              </a:rPr>
              <a:t>M7, M8 y M9 comparten valor idéntico (70) — zona óptima SK. M10-HPO llega a 81. SPSA satura.</a:t>
            </a:r>
          </a:p>
        </p:txBody>
      </p:sp>
      <p:sp>
        <p:nvSpPr>
          <p:cNvPr id="11" name="Rectangle 10"/>
          <p:cNvSpPr/>
          <p:nvPr/>
        </p:nvSpPr>
        <p:spPr>
          <a:xfrm>
            <a:off x="320040" y="5084064"/>
            <a:ext cx="64008" cy="47548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5029200"/>
            <a:ext cx="11365992" cy="822960"/>
          </a:xfrm>
          <a:prstGeom prst="rect">
            <a:avLst/>
          </a:prstGeom>
          <a:noFill/>
        </p:spPr>
        <p:txBody>
          <a:bodyPr wrap="square">
            <a:spAutoFit/>
          </a:bodyPr>
          <a:lstStyle/>
          <a:p>
            <a:pPr algn="l"/>
            <a:r>
              <a:rPr b="1" sz="1050">
                <a:solidFill>
                  <a:srgbClr val="1F497D"/>
                </a:solidFill>
              </a:rPr>
              <a:t>Diferencia M4 (230.8d) vs M7/M8/M9 (218-220d) vs M10-HPO (212d): surrogado importa con más presupuesto</a:t>
            </a:r>
          </a:p>
          <a:p>
            <a:pPr algn="l"/>
            <a:r>
              <a:rPr b="0" sz="1000">
                <a:solidFill>
                  <a:srgbClr val="404040"/>
                </a:solidFill>
              </a:rPr>
              <a:t>M4 GP (20 eval) es superado por todos los SK (40-76 eval). Con 100 eval, SK-KGCP es el mejor (212d).
Conclusión: SK &gt; GP cuando el presupuesto supera ~40 evaluaciones.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Gráficas Comparativas — Datos PC Raúl</a:t>
            </a:r>
          </a:p>
          <a:p>
            <a:pPr algn="l"/>
            <a:r>
              <a:rPr b="0" sz="1300">
                <a:solidFill>
                  <a:srgbClr val="BDD7EE"/>
                </a:solidFill>
              </a:rPr>
              <a:t>Convergencia, configuraciones incumbentes y tabla resumen</a:t>
            </a:r>
          </a:p>
        </p:txBody>
      </p:sp>
      <p:pic>
        <p:nvPicPr>
          <p:cNvPr id="3" name="Picture 2" descr="comparativa_convergencia.png"/>
          <p:cNvPicPr>
            <a:picLocks noChangeAspect="1"/>
          </p:cNvPicPr>
          <p:nvPr/>
        </p:nvPicPr>
        <p:blipFill>
          <a:blip r:embed="rId2"/>
          <a:stretch>
            <a:fillRect/>
          </a:stretch>
        </p:blipFill>
        <p:spPr>
          <a:xfrm>
            <a:off x="182880" y="1261872"/>
            <a:ext cx="3886200" cy="5394960"/>
          </a:xfrm>
          <a:prstGeom prst="rect">
            <a:avLst/>
          </a:prstGeom>
        </p:spPr>
      </p:pic>
      <p:pic>
        <p:nvPicPr>
          <p:cNvPr id="4" name="Picture 3" descr="comparativa_configuraciones.png"/>
          <p:cNvPicPr>
            <a:picLocks noChangeAspect="1"/>
          </p:cNvPicPr>
          <p:nvPr/>
        </p:nvPicPr>
        <p:blipFill>
          <a:blip r:embed="rId3"/>
          <a:stretch>
            <a:fillRect/>
          </a:stretch>
        </p:blipFill>
        <p:spPr>
          <a:xfrm>
            <a:off x="4142232" y="1261872"/>
            <a:ext cx="3886200" cy="5394960"/>
          </a:xfrm>
          <a:prstGeom prst="rect">
            <a:avLst/>
          </a:prstGeom>
        </p:spPr>
      </p:pic>
      <p:pic>
        <p:nvPicPr>
          <p:cNvPr id="5" name="Picture 4" descr="comparativa_tabla_resumen.png"/>
          <p:cNvPicPr>
            <a:picLocks noChangeAspect="1"/>
          </p:cNvPicPr>
          <p:nvPr/>
        </p:nvPicPr>
        <p:blipFill>
          <a:blip r:embed="rId4"/>
          <a:stretch>
            <a:fillRect/>
          </a:stretch>
        </p:blipFill>
        <p:spPr>
          <a:xfrm>
            <a:off x="8101583" y="1261872"/>
            <a:ext cx="3886200" cy="53949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Gráficas de Convergencia Individuales — M13, M14, M10-HPO</a:t>
            </a:r>
          </a:p>
          <a:p>
            <a:pPr algn="l"/>
            <a:r>
              <a:rPr b="0" sz="1300">
                <a:solidFill>
                  <a:srgbClr val="BDD7EE"/>
                </a:solidFill>
              </a:rPr>
              <a:t>Evolución del incumbente por iteración/evaluación</a:t>
            </a:r>
          </a:p>
        </p:txBody>
      </p:sp>
      <p:pic>
        <p:nvPicPr>
          <p:cNvPr id="3" name="Picture 2" descr="resultado_comparativa_m13.png"/>
          <p:cNvPicPr>
            <a:picLocks noChangeAspect="1"/>
          </p:cNvPicPr>
          <p:nvPr/>
        </p:nvPicPr>
        <p:blipFill>
          <a:blip r:embed="rId2"/>
          <a:stretch>
            <a:fillRect/>
          </a:stretch>
        </p:blipFill>
        <p:spPr>
          <a:xfrm>
            <a:off x="182880" y="1261872"/>
            <a:ext cx="3886200" cy="5394960"/>
          </a:xfrm>
          <a:prstGeom prst="rect">
            <a:avLst/>
          </a:prstGeom>
        </p:spPr>
      </p:pic>
      <p:pic>
        <p:nvPicPr>
          <p:cNvPr id="4" name="Picture 3" descr="resultado_comparativa_m14.png"/>
          <p:cNvPicPr>
            <a:picLocks noChangeAspect="1"/>
          </p:cNvPicPr>
          <p:nvPr/>
        </p:nvPicPr>
        <p:blipFill>
          <a:blip r:embed="rId3"/>
          <a:stretch>
            <a:fillRect/>
          </a:stretch>
        </p:blipFill>
        <p:spPr>
          <a:xfrm>
            <a:off x="4142232" y="1261872"/>
            <a:ext cx="3886200" cy="5394960"/>
          </a:xfrm>
          <a:prstGeom prst="rect">
            <a:avLst/>
          </a:prstGeom>
        </p:spPr>
      </p:pic>
      <p:pic>
        <p:nvPicPr>
          <p:cNvPr id="5" name="Picture 4" descr="resultado_m10_hpo_kgcp.png"/>
          <p:cNvPicPr>
            <a:picLocks noChangeAspect="1"/>
          </p:cNvPicPr>
          <p:nvPr/>
        </p:nvPicPr>
        <p:blipFill>
          <a:blip r:embed="rId4"/>
          <a:stretch>
            <a:fillRect/>
          </a:stretch>
        </p:blipFill>
        <p:spPr>
          <a:xfrm>
            <a:off x="8101583" y="1261872"/>
            <a:ext cx="3886200" cy="53949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D7D7"/>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M14 ALOE — Diagnóstico: Búsqueda de Línea Paralizada</a:t>
            </a:r>
          </a:p>
          <a:p>
            <a:pPr algn="l"/>
            <a:r>
              <a:rPr b="0" sz="1300">
                <a:solidFill>
                  <a:srgbClr val="BDD7EE"/>
                </a:solidFill>
              </a:rPr>
              <a:t>Por qué ALOE no mejoró la solución inicial en 30 iteraciones</a:t>
            </a:r>
          </a:p>
        </p:txBody>
      </p:sp>
      <p:sp>
        <p:nvSpPr>
          <p:cNvPr id="3" name="Rectangle 2"/>
          <p:cNvSpPr/>
          <p:nvPr/>
        </p:nvSpPr>
        <p:spPr>
          <a:xfrm>
            <a:off x="320040" y="1307592"/>
            <a:ext cx="64008" cy="47548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61872"/>
            <a:ext cx="11365992" cy="777240"/>
          </a:xfrm>
          <a:prstGeom prst="rect">
            <a:avLst/>
          </a:prstGeom>
          <a:noFill/>
        </p:spPr>
        <p:txBody>
          <a:bodyPr wrap="square">
            <a:spAutoFit/>
          </a:bodyPr>
          <a:lstStyle/>
          <a:p>
            <a:pPr algn="l"/>
            <a:r>
              <a:rPr b="1" sz="1050">
                <a:solidFill>
                  <a:srgbClr val="C00000"/>
                </a:solidFill>
              </a:rPr>
              <a:t>Síntoma observado</a:t>
            </a:r>
          </a:p>
          <a:p>
            <a:pPr algn="l"/>
            <a:r>
              <a:rPr b="0" sz="1000">
                <a:solidFill>
                  <a:srgbClr val="404040"/>
                </a:solidFill>
              </a:rPr>
              <a:t>costo_incumbente = 270.73 días = x0 inicial. Las 30 iteraciones devuelven Armijo=False.
El algoritmo nunca actualiza la solución — queda paralizado en el punto de partida.</a:t>
            </a:r>
          </a:p>
        </p:txBody>
      </p:sp>
      <p:sp>
        <p:nvSpPr>
          <p:cNvPr id="5" name="Rectangle 4"/>
          <p:cNvSpPr/>
          <p:nvPr/>
        </p:nvSpPr>
        <p:spPr>
          <a:xfrm>
            <a:off x="320040" y="2194559"/>
            <a:ext cx="64008" cy="47548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48839"/>
            <a:ext cx="11365992" cy="777240"/>
          </a:xfrm>
          <a:prstGeom prst="rect">
            <a:avLst/>
          </a:prstGeom>
          <a:noFill/>
        </p:spPr>
        <p:txBody>
          <a:bodyPr wrap="square">
            <a:spAutoFit/>
          </a:bodyPr>
          <a:lstStyle/>
          <a:p>
            <a:pPr algn="l"/>
            <a:r>
              <a:rPr b="1" sz="1050">
                <a:solidFill>
                  <a:srgbClr val="C00000"/>
                </a:solidFill>
              </a:rPr>
              <a:t>Criterio de Armijo (búsqueda de línea)</a:t>
            </a:r>
          </a:p>
          <a:p>
            <a:pPr algn="l"/>
            <a:r>
              <a:rPr b="0" sz="1000">
                <a:solidFill>
                  <a:srgbClr val="404040"/>
                </a:solidFill>
              </a:rPr>
              <a:t>Armijo acepta el paso α_k·d_k si: f(x + α_k·d_k) &lt; f(x) − σ·α_k·||∇f||²
Cuando el simulador es ruidoso, f(x + α·d) puede ser MAYOR que f(x) por puro azar,
incluso si la dirección de descenso d_k es correcta.</a:t>
            </a:r>
          </a:p>
        </p:txBody>
      </p:sp>
      <p:sp>
        <p:nvSpPr>
          <p:cNvPr id="7" name="Rectangle 6"/>
          <p:cNvSpPr/>
          <p:nvPr/>
        </p:nvSpPr>
        <p:spPr>
          <a:xfrm>
            <a:off x="320040" y="3081527"/>
            <a:ext cx="64008" cy="47548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3035807"/>
            <a:ext cx="11365992" cy="777240"/>
          </a:xfrm>
          <a:prstGeom prst="rect">
            <a:avLst/>
          </a:prstGeom>
          <a:noFill/>
        </p:spPr>
        <p:txBody>
          <a:bodyPr wrap="square">
            <a:spAutoFit/>
          </a:bodyPr>
          <a:lstStyle/>
          <a:p>
            <a:pPr algn="l"/>
            <a:r>
              <a:rPr b="1" sz="1050">
                <a:solidFill>
                  <a:srgbClr val="C00000"/>
                </a:solidFill>
              </a:rPr>
              <a:t>Causa raíz: relación señal/ruido</a:t>
            </a:r>
          </a:p>
          <a:p>
            <a:pPr algn="l"/>
            <a:r>
              <a:rPr b="0" sz="1000">
                <a:solidFill>
                  <a:srgbClr val="404040"/>
                </a:solidFill>
              </a:rPr>
              <a:t>Ruido del simulador: σ ≈ 20–40 días.  Gradiente estimado: ||∇f|| ≈ 10–20 días/unidad → señal &lt; ruido.
α_k se reduce: 1.0 → 0.8 → ... → 0.0012 → todas rechazadas.</a:t>
            </a:r>
          </a:p>
        </p:txBody>
      </p:sp>
      <p:sp>
        <p:nvSpPr>
          <p:cNvPr id="9" name="Rectangle 8"/>
          <p:cNvSpPr/>
          <p:nvPr/>
        </p:nvSpPr>
        <p:spPr>
          <a:xfrm>
            <a:off x="320040" y="3968495"/>
            <a:ext cx="64008" cy="47548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922775"/>
            <a:ext cx="11365992" cy="777240"/>
          </a:xfrm>
          <a:prstGeom prst="rect">
            <a:avLst/>
          </a:prstGeom>
          <a:noFill/>
        </p:spPr>
        <p:txBody>
          <a:bodyPr wrap="square">
            <a:spAutoFit/>
          </a:bodyPr>
          <a:lstStyle/>
          <a:p>
            <a:pPr algn="l"/>
            <a:r>
              <a:rPr b="1" sz="1050">
                <a:solidFill>
                  <a:srgbClr val="C00000"/>
                </a:solidFill>
              </a:rPr>
              <a:t>Convergencia M13 SPSA vs M14 ALOE</a:t>
            </a:r>
          </a:p>
          <a:p>
            <a:pPr algn="l"/>
            <a:r>
              <a:rPr b="0" sz="1000">
                <a:solidFill>
                  <a:srgbClr val="404040"/>
                </a:solidFill>
              </a:rPr>
              <a:t>SPSA usa perturbaciones aleatorias SIMULTÁNEAS (Bernoulli) → promedia el ruido → converge a 219.4d en 8.65h.
ALOE usa diferencias finitas COORDENADAS → 2d=24 eval/iter, más caro, más expuesto al ruido → 69.5h, sin mejora.</a:t>
            </a:r>
          </a:p>
        </p:txBody>
      </p:sp>
      <p:sp>
        <p:nvSpPr>
          <p:cNvPr id="11" name="Rectangle 10"/>
          <p:cNvSpPr/>
          <p:nvPr/>
        </p:nvSpPr>
        <p:spPr>
          <a:xfrm>
            <a:off x="320040" y="4855463"/>
            <a:ext cx="64008" cy="47548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4809743"/>
            <a:ext cx="11365992" cy="777240"/>
          </a:xfrm>
          <a:prstGeom prst="rect">
            <a:avLst/>
          </a:prstGeom>
          <a:noFill/>
        </p:spPr>
        <p:txBody>
          <a:bodyPr wrap="square">
            <a:spAutoFit/>
          </a:bodyPr>
          <a:lstStyle/>
          <a:p>
            <a:pPr algn="l"/>
            <a:r>
              <a:rPr b="1" sz="1050">
                <a:solidFill>
                  <a:srgbClr val="C00000"/>
                </a:solidFill>
              </a:rPr>
              <a:t>Conclusión y recomendación</a:t>
            </a:r>
          </a:p>
          <a:p>
            <a:pPr algn="l"/>
            <a:r>
              <a:rPr b="0" sz="1000">
                <a:solidFill>
                  <a:srgbClr val="404040"/>
                </a:solidFill>
              </a:rPr>
              <a:t>ALOE requiere ruido bajo para que Armijo funcione. Para DES con alta varianza: preferir SPSA (M13), SK (M7/M8) o KGCP (M10-HPO).
Alternativa: implementar CRN (Common Random Numbers) para reducir σ antes de usar ALOE.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D9EAF7"/>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M4 — SMAC BlackBox — Gaussian Process + EI</a:t>
            </a:r>
          </a:p>
          <a:p>
            <a:pPr algn="l"/>
            <a:r>
              <a:rPr b="0" sz="1300">
                <a:solidFill>
                  <a:srgbClr val="BDD7EE"/>
                </a:solidFill>
              </a:rPr>
              <a:t>Ref: Hutter, Hoos &amp; Leyton-Brown (2011) — Sequential Model-Based Optimization for General Algorithm …</a:t>
            </a:r>
          </a:p>
        </p:txBody>
      </p:sp>
      <p:sp>
        <p:nvSpPr>
          <p:cNvPr id="3" name="TextBox 2"/>
          <p:cNvSpPr txBox="1"/>
          <p:nvPr/>
        </p:nvSpPr>
        <p:spPr>
          <a:xfrm>
            <a:off x="274320" y="1261872"/>
            <a:ext cx="11640312" cy="438912"/>
          </a:xfrm>
          <a:prstGeom prst="rect">
            <a:avLst/>
          </a:prstGeom>
          <a:noFill/>
        </p:spPr>
        <p:txBody>
          <a:bodyPr wrap="none">
            <a:spAutoFit/>
          </a:bodyPr>
          <a:lstStyle/>
          <a:p>
            <a:pPr algn="ctr"/>
            <a:r>
              <a:rPr b="1" sz="1300">
                <a:solidFill>
                  <a:srgbClr val="1F497D"/>
                </a:solidFill>
              </a:rPr>
              <a:t>Analogía: Un sumiller que aprende tus gustos probando pocas botellas</a:t>
            </a:r>
          </a:p>
        </p:txBody>
      </p:sp>
      <p:sp>
        <p:nvSpPr>
          <p:cNvPr id="4" name="TextBox 3"/>
          <p:cNvSpPr txBox="1"/>
          <p:nvPr/>
        </p:nvSpPr>
        <p:spPr>
          <a:xfrm>
            <a:off x="274320" y="1737360"/>
            <a:ext cx="7223760" cy="3017520"/>
          </a:xfrm>
          <a:prstGeom prst="rect">
            <a:avLst/>
          </a:prstGeom>
          <a:noFill/>
        </p:spPr>
        <p:txBody>
          <a:bodyPr wrap="square">
            <a:spAutoFit/>
          </a:bodyPr>
          <a:lstStyle/>
          <a:p>
            <a:pPr algn="l"/>
            <a:r>
              <a:rPr b="1" sz="1100">
                <a:solidFill>
                  <a:srgbClr val="1F497D"/>
                </a:solidFill>
              </a:rPr>
              <a:t>¿Cómo funciona? (versión simple)</a:t>
            </a:r>
          </a:p>
          <a:p>
            <a:pPr algn="l"/>
            <a:r>
              <a:rPr b="0" sz="1050">
                <a:solidFill>
                  <a:srgbClr val="404040"/>
                </a:solidFill>
              </a:rPr>
              <a:t>Quieres encontrar la mejor configuración de la clínica, pero simular es caro.
SMAC prueba 20 configuraciones y construye un 'mapa mental' (modelo GP) que predice
cuántos días de espera generaría cualquier configuración no probada aún.
En cada paso elige la configuración donde la ganancia esperada (EI)
es mayor: balance entre explorar zonas desconocidas y explotar zonas buenas.
El GP es como una superficie curva en 12 dimensiones que se va afinando
con cada nueva evaluación del simulador.</a:t>
            </a:r>
          </a:p>
        </p:txBody>
      </p:sp>
      <p:sp>
        <p:nvSpPr>
          <p:cNvPr id="5" name="Rectangle 4"/>
          <p:cNvSpPr/>
          <p:nvPr/>
        </p:nvSpPr>
        <p:spPr>
          <a:xfrm>
            <a:off x="7543800" y="1737360"/>
            <a:ext cx="36576" cy="4846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737360"/>
            <a:ext cx="4251960" cy="4846320"/>
          </a:xfrm>
          <a:prstGeom prst="rect">
            <a:avLst/>
          </a:prstGeom>
          <a:noFill/>
        </p:spPr>
        <p:txBody>
          <a:bodyPr wrap="square">
            <a:spAutoFit/>
          </a:bodyPr>
          <a:lstStyle/>
          <a:p>
            <a:pPr algn="l"/>
            <a:r>
              <a:rPr b="1" sz="1050">
                <a:solidFill>
                  <a:srgbClr val="1F497D"/>
                </a:solidFill>
              </a:rPr>
              <a:t>¿Cuándo usar?</a:t>
            </a:r>
          </a:p>
          <a:p>
            <a:pPr algn="l"/>
            <a:r>
              <a:rPr b="0" sz="1000">
                <a:solidFill>
                  <a:srgbClr val="404040"/>
                </a:solidFill>
              </a:rPr>
              <a:t>≤30 evaluaciones disponibles, función ruidosa, muchas variables (hasta ~20).</a:t>
            </a:r>
          </a:p>
          <a:p>
            <a:pPr algn="l"/>
            <a:r>
              <a:rPr b="0" sz="500">
                <a:solidFill>
                  <a:srgbClr val="404040"/>
                </a:solidFill>
              </a:rPr>
              <a:t> </a:t>
            </a:r>
          </a:p>
          <a:p>
            <a:pPr algn="l"/>
            <a:r>
              <a:rPr b="1" sz="1050">
                <a:solidFill>
                  <a:srgbClr val="378648"/>
                </a:solidFill>
              </a:rPr>
              <a:t>Fortaleza</a:t>
            </a:r>
          </a:p>
          <a:p>
            <a:pPr algn="l"/>
            <a:r>
              <a:rPr b="0" sz="1000">
                <a:solidFill>
                  <a:srgbClr val="404040"/>
                </a:solidFill>
              </a:rPr>
              <a:t>Máxima eficiencia con mínimas evaluaciones. Robusto al ruido moderado.</a:t>
            </a:r>
          </a:p>
          <a:p>
            <a:pPr algn="l"/>
            <a:r>
              <a:rPr b="0" sz="500">
                <a:solidFill>
                  <a:srgbClr val="404040"/>
                </a:solidFill>
              </a:rPr>
              <a:t> </a:t>
            </a:r>
          </a:p>
          <a:p>
            <a:pPr algn="l"/>
            <a:r>
              <a:rPr b="1" sz="1050">
                <a:solidFill>
                  <a:srgbClr val="C55A11"/>
                </a:solidFill>
              </a:rPr>
              <a:t>Debilidad</a:t>
            </a:r>
          </a:p>
          <a:p>
            <a:pPr algn="l"/>
            <a:r>
              <a:rPr b="0" sz="1000">
                <a:solidFill>
                  <a:srgbClr val="404040"/>
                </a:solidFill>
              </a:rPr>
              <a:t>El GP no modela heterocedasticidad. Con 20 eval no explora suficiente en 12 dims.</a:t>
            </a:r>
          </a:p>
          <a:p>
            <a:pPr algn="l"/>
            <a:r>
              <a:rPr b="0" sz="500">
                <a:solidFill>
                  <a:srgbClr val="404040"/>
                </a:solidFill>
              </a:rPr>
              <a:t> </a:t>
            </a:r>
          </a:p>
          <a:p>
            <a:pPr algn="l"/>
            <a:r>
              <a:rPr b="1" sz="1050">
                <a:solidFill>
                  <a:srgbClr val="404040"/>
                </a:solidFill>
              </a:rPr>
              <a:t>Resultado obtenido</a:t>
            </a:r>
          </a:p>
          <a:p>
            <a:pPr algn="l"/>
            <a:r>
              <a:rPr b="0" sz="1000">
                <a:solidFill>
                  <a:srgbClr val="404040"/>
                </a:solidFill>
              </a:rPr>
              <a:t>230.80 días (PC Raúl) con 20 eval y 3.09 h. [Peor que M7/M8 con más evaluaciones]</a:t>
            </a:r>
          </a:p>
          <a:p>
            <a:pPr algn="l"/>
            <a:r>
              <a:rPr b="0" sz="500">
                <a:solidFill>
                  <a:srgbClr val="404040"/>
                </a:solidFill>
              </a:rPr>
              <a:t> </a:t>
            </a:r>
          </a:p>
        </p:txBody>
      </p:sp>
      <p:sp>
        <p:nvSpPr>
          <p:cNvPr id="7" name="TextBox 6"/>
          <p:cNvSpPr txBox="1"/>
          <p:nvPr/>
        </p:nvSpPr>
        <p:spPr>
          <a:xfrm>
            <a:off x="274320" y="4800600"/>
            <a:ext cx="7223760" cy="594360"/>
          </a:xfrm>
          <a:prstGeom prst="rect">
            <a:avLst/>
          </a:prstGeom>
          <a:noFill/>
        </p:spPr>
        <p:txBody>
          <a:bodyPr wrap="none">
            <a:spAutoFit/>
          </a:bodyPr>
          <a:lstStyle/>
          <a:p>
            <a:pPr algn="l"/>
            <a:r>
              <a:rPr b="0" sz="850">
                <a:solidFill>
                  <a:srgbClr val="808080"/>
                </a:solidFill>
              </a:rPr>
              <a:t>Referencia completa: Hutter, Hoos &amp; Leyton-Brown (2011) — Sequential Model-Based Optimization for General Algorithm Configuration — JAIR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C5DEF2"/>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M7 — SMAC + Stochastic Kriging (EI)</a:t>
            </a:r>
          </a:p>
          <a:p>
            <a:pPr algn="l"/>
            <a:r>
              <a:rPr b="0" sz="1300">
                <a:solidFill>
                  <a:srgbClr val="BDD7EE"/>
                </a:solidFill>
              </a:rPr>
              <a:t>Ref: Ankenman, Nelson &amp; Staum (2010) — Stochastic Kriging for Simulation Metamodeling — Management S…</a:t>
            </a:r>
          </a:p>
        </p:txBody>
      </p:sp>
      <p:sp>
        <p:nvSpPr>
          <p:cNvPr id="3" name="TextBox 2"/>
          <p:cNvSpPr txBox="1"/>
          <p:nvPr/>
        </p:nvSpPr>
        <p:spPr>
          <a:xfrm>
            <a:off x="274320" y="1261872"/>
            <a:ext cx="11640312" cy="438912"/>
          </a:xfrm>
          <a:prstGeom prst="rect">
            <a:avLst/>
          </a:prstGeom>
          <a:noFill/>
        </p:spPr>
        <p:txBody>
          <a:bodyPr wrap="none">
            <a:spAutoFit/>
          </a:bodyPr>
          <a:lstStyle/>
          <a:p>
            <a:pPr algn="ctr"/>
            <a:r>
              <a:rPr b="1" sz="1300">
                <a:solidFill>
                  <a:srgbClr val="1F497D"/>
                </a:solidFill>
              </a:rPr>
              <a:t>Analogía: El sumiller que anota cuánto varía el vino de botella en botella</a:t>
            </a:r>
          </a:p>
        </p:txBody>
      </p:sp>
      <p:sp>
        <p:nvSpPr>
          <p:cNvPr id="4" name="TextBox 3"/>
          <p:cNvSpPr txBox="1"/>
          <p:nvPr/>
        </p:nvSpPr>
        <p:spPr>
          <a:xfrm>
            <a:off x="274320" y="1737360"/>
            <a:ext cx="7223760" cy="3017520"/>
          </a:xfrm>
          <a:prstGeom prst="rect">
            <a:avLst/>
          </a:prstGeom>
          <a:noFill/>
        </p:spPr>
        <p:txBody>
          <a:bodyPr wrap="square">
            <a:spAutoFit/>
          </a:bodyPr>
          <a:lstStyle/>
          <a:p>
            <a:pPr algn="l"/>
            <a:r>
              <a:rPr b="1" sz="1100">
                <a:solidFill>
                  <a:srgbClr val="1F497D"/>
                </a:solidFill>
              </a:rPr>
              <a:t>¿Cómo funciona? (versión simple)</a:t>
            </a:r>
          </a:p>
          <a:p>
            <a:pPr algn="l"/>
            <a:r>
              <a:rPr b="0" sz="1050">
                <a:solidFill>
                  <a:srgbClr val="404040"/>
                </a:solidFill>
              </a:rPr>
              <a:t>Igual que M4 pero el surrogado es un Kriging Estocástico (SK) en lugar de GP.
La diferencia clave: el simulador DES da resultados distintos cada vez (estocástico).
SK modela explícitamente esa variabilidad: en zonas donde el simulador es muy ruidoso,
el surrogado dice 'aquí no me fío' y pondera menos esas observaciones.
Usa Expected Improvement estándar para elegir el siguiente punto.</a:t>
            </a:r>
          </a:p>
        </p:txBody>
      </p:sp>
      <p:sp>
        <p:nvSpPr>
          <p:cNvPr id="5" name="Rectangle 4"/>
          <p:cNvSpPr/>
          <p:nvPr/>
        </p:nvSpPr>
        <p:spPr>
          <a:xfrm>
            <a:off x="7543800" y="1737360"/>
            <a:ext cx="36576" cy="4846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737360"/>
            <a:ext cx="4251960" cy="4846320"/>
          </a:xfrm>
          <a:prstGeom prst="rect">
            <a:avLst/>
          </a:prstGeom>
          <a:noFill/>
        </p:spPr>
        <p:txBody>
          <a:bodyPr wrap="square">
            <a:spAutoFit/>
          </a:bodyPr>
          <a:lstStyle/>
          <a:p>
            <a:pPr algn="l"/>
            <a:r>
              <a:rPr b="1" sz="1050">
                <a:solidFill>
                  <a:srgbClr val="1F497D"/>
                </a:solidFill>
              </a:rPr>
              <a:t>¿Cuándo usar?</a:t>
            </a:r>
          </a:p>
          <a:p>
            <a:pPr algn="l"/>
            <a:r>
              <a:rPr b="0" sz="1000">
                <a:solidFill>
                  <a:srgbClr val="404040"/>
                </a:solidFill>
              </a:rPr>
              <a:t>Simuladores con ruido heteroscedástico. Presupuesto 30–60 evaluaciones.</a:t>
            </a:r>
          </a:p>
          <a:p>
            <a:pPr algn="l"/>
            <a:r>
              <a:rPr b="0" sz="500">
                <a:solidFill>
                  <a:srgbClr val="404040"/>
                </a:solidFill>
              </a:rPr>
              <a:t> </a:t>
            </a:r>
          </a:p>
          <a:p>
            <a:pPr algn="l"/>
            <a:r>
              <a:rPr b="1" sz="1050">
                <a:solidFill>
                  <a:srgbClr val="378648"/>
                </a:solidFill>
              </a:rPr>
              <a:t>Fortaleza</a:t>
            </a:r>
          </a:p>
          <a:p>
            <a:pPr algn="l"/>
            <a:r>
              <a:rPr b="0" sz="1000">
                <a:solidFill>
                  <a:srgbClr val="404040"/>
                </a:solidFill>
              </a:rPr>
              <a:t>Modela la varianza del ruido → más honesto sobre la incertidumbre. Con 40 eval supera a M4.</a:t>
            </a:r>
          </a:p>
          <a:p>
            <a:pPr algn="l"/>
            <a:r>
              <a:rPr b="0" sz="500">
                <a:solidFill>
                  <a:srgbClr val="404040"/>
                </a:solidFill>
              </a:rPr>
              <a:t> </a:t>
            </a:r>
          </a:p>
          <a:p>
            <a:pPr algn="l"/>
            <a:r>
              <a:rPr b="1" sz="1050">
                <a:solidFill>
                  <a:srgbClr val="C55A11"/>
                </a:solidFill>
              </a:rPr>
              <a:t>Debilidad</a:t>
            </a:r>
          </a:p>
          <a:p>
            <a:pPr algn="l"/>
            <a:r>
              <a:rPr b="0" sz="1000">
                <a:solidFill>
                  <a:srgbClr val="404040"/>
                </a:solidFill>
              </a:rPr>
              <a:t>Con solo 20 eval no supera al GP básico — necesita más datos para calibrar el ruido.</a:t>
            </a:r>
          </a:p>
          <a:p>
            <a:pPr algn="l"/>
            <a:r>
              <a:rPr b="0" sz="500">
                <a:solidFill>
                  <a:srgbClr val="404040"/>
                </a:solidFill>
              </a:rPr>
              <a:t> </a:t>
            </a:r>
          </a:p>
          <a:p>
            <a:pPr algn="l"/>
            <a:r>
              <a:rPr b="1" sz="1050">
                <a:solidFill>
                  <a:srgbClr val="404040"/>
                </a:solidFill>
              </a:rPr>
              <a:t>Resultado obtenido</a:t>
            </a:r>
          </a:p>
          <a:p>
            <a:pPr algn="l"/>
            <a:r>
              <a:rPr b="0" sz="1000">
                <a:solidFill>
                  <a:srgbClr val="404040"/>
                </a:solidFill>
              </a:rPr>
              <a:t>219.96 días con 40 eval y 2.73 h. Supera a M4 (230.8d) con el doble de evaluaciones.</a:t>
            </a:r>
          </a:p>
          <a:p>
            <a:pPr algn="l"/>
            <a:r>
              <a:rPr b="0" sz="500">
                <a:solidFill>
                  <a:srgbClr val="404040"/>
                </a:solidFill>
              </a:rPr>
              <a:t> </a:t>
            </a:r>
          </a:p>
        </p:txBody>
      </p:sp>
      <p:sp>
        <p:nvSpPr>
          <p:cNvPr id="7" name="TextBox 6"/>
          <p:cNvSpPr txBox="1"/>
          <p:nvPr/>
        </p:nvSpPr>
        <p:spPr>
          <a:xfrm>
            <a:off x="274320" y="4800600"/>
            <a:ext cx="7223760" cy="594360"/>
          </a:xfrm>
          <a:prstGeom prst="rect">
            <a:avLst/>
          </a:prstGeom>
          <a:noFill/>
        </p:spPr>
        <p:txBody>
          <a:bodyPr wrap="none">
            <a:spAutoFit/>
          </a:bodyPr>
          <a:lstStyle/>
          <a:p>
            <a:pPr algn="l"/>
            <a:r>
              <a:rPr b="0" sz="850">
                <a:solidFill>
                  <a:srgbClr val="808080"/>
                </a:solidFill>
              </a:rPr>
              <a:t>Referencia completa: Ankenman, Nelson &amp; Staum (2010) — Stochastic Kriging for Simulation Metamodeling — Management Science
+ Hutter et al. 2011 (SMAC framework)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B8D8ED"/>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M8 — SK Adaptativo</a:t>
            </a:r>
          </a:p>
          <a:p>
            <a:pPr algn="l"/>
            <a:r>
              <a:rPr b="0" sz="1300">
                <a:solidFill>
                  <a:srgbClr val="BDD7EE"/>
                </a:solidFill>
              </a:rPr>
              <a:t>Ref: Ankenman, Nelson &amp; Staum (2010) — Stochastic Kriging for Simulation Metamodeling — Management S…</a:t>
            </a:r>
          </a:p>
        </p:txBody>
      </p:sp>
      <p:sp>
        <p:nvSpPr>
          <p:cNvPr id="3" name="TextBox 2"/>
          <p:cNvSpPr txBox="1"/>
          <p:nvPr/>
        </p:nvSpPr>
        <p:spPr>
          <a:xfrm>
            <a:off x="274320" y="1261872"/>
            <a:ext cx="11640312" cy="438912"/>
          </a:xfrm>
          <a:prstGeom prst="rect">
            <a:avLst/>
          </a:prstGeom>
          <a:noFill/>
        </p:spPr>
        <p:txBody>
          <a:bodyPr wrap="none">
            <a:spAutoFit/>
          </a:bodyPr>
          <a:lstStyle/>
          <a:p>
            <a:pPr algn="ctr"/>
            <a:r>
              <a:rPr b="1" sz="1300">
                <a:solidFill>
                  <a:srgbClr val="1F497D"/>
                </a:solidFill>
              </a:rPr>
              <a:t>Analogía: El sumiller que pide más muestras cuando el vino es especialmente inconsistente</a:t>
            </a:r>
          </a:p>
        </p:txBody>
      </p:sp>
      <p:sp>
        <p:nvSpPr>
          <p:cNvPr id="4" name="TextBox 3"/>
          <p:cNvSpPr txBox="1"/>
          <p:nvPr/>
        </p:nvSpPr>
        <p:spPr>
          <a:xfrm>
            <a:off x="274320" y="1737360"/>
            <a:ext cx="7223760" cy="3017520"/>
          </a:xfrm>
          <a:prstGeom prst="rect">
            <a:avLst/>
          </a:prstGeom>
          <a:noFill/>
        </p:spPr>
        <p:txBody>
          <a:bodyPr wrap="square">
            <a:spAutoFit/>
          </a:bodyPr>
          <a:lstStyle/>
          <a:p>
            <a:pPr algn="l"/>
            <a:r>
              <a:rPr b="1" sz="1100">
                <a:solidFill>
                  <a:srgbClr val="1F497D"/>
                </a:solidFill>
              </a:rPr>
              <a:t>¿Cómo funciona? (versión simple)</a:t>
            </a:r>
          </a:p>
          <a:p>
            <a:pPr algn="l"/>
            <a:r>
              <a:rPr b="0" sz="1050">
                <a:solidFill>
                  <a:srgbClr val="404040"/>
                </a:solidFill>
              </a:rPr>
              <a:t>Variante de SK donde el número de réplicas por punto se adapta automáticamente
según la varianza local: en zonas muy ruidosas, evalúa más veces el mismo punto
para reducir el error de estimación antes de moverse.
Es como ajustar la 'resolución' del mapa según qué tan irregular es el terreno:
en zonas planas (poco ruido) el mapa es detallado con pocas muestras;
en zonas montañosas (mucho ruido) toma más muestras para estabilizar.
Resultado: 76 evaluaciones totales (vs 40 de M7) pero mejor costo (218.05 vs 219.96 días).</a:t>
            </a:r>
          </a:p>
        </p:txBody>
      </p:sp>
      <p:sp>
        <p:nvSpPr>
          <p:cNvPr id="5" name="Rectangle 4"/>
          <p:cNvSpPr/>
          <p:nvPr/>
        </p:nvSpPr>
        <p:spPr>
          <a:xfrm>
            <a:off x="7543800" y="1737360"/>
            <a:ext cx="36576" cy="4846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737360"/>
            <a:ext cx="4251960" cy="4846320"/>
          </a:xfrm>
          <a:prstGeom prst="rect">
            <a:avLst/>
          </a:prstGeom>
          <a:noFill/>
        </p:spPr>
        <p:txBody>
          <a:bodyPr wrap="square">
            <a:spAutoFit/>
          </a:bodyPr>
          <a:lstStyle/>
          <a:p>
            <a:pPr algn="l"/>
            <a:r>
              <a:rPr b="1" sz="1050">
                <a:solidFill>
                  <a:srgbClr val="1F497D"/>
                </a:solidFill>
              </a:rPr>
              <a:t>¿Cuándo usar?</a:t>
            </a:r>
          </a:p>
          <a:p>
            <a:pPr algn="l"/>
            <a:r>
              <a:rPr b="0" sz="1000">
                <a:solidFill>
                  <a:srgbClr val="404040"/>
                </a:solidFill>
              </a:rPr>
              <a:t>Función con ruido que varía mucho según la región del espacio.</a:t>
            </a:r>
          </a:p>
          <a:p>
            <a:pPr algn="l"/>
            <a:r>
              <a:rPr b="0" sz="500">
                <a:solidFill>
                  <a:srgbClr val="404040"/>
                </a:solidFill>
              </a:rPr>
              <a:t> </a:t>
            </a:r>
          </a:p>
          <a:p>
            <a:pPr algn="l"/>
            <a:r>
              <a:rPr b="1" sz="1050">
                <a:solidFill>
                  <a:srgbClr val="378648"/>
                </a:solidFill>
              </a:rPr>
              <a:t>Fortaleza</a:t>
            </a:r>
          </a:p>
          <a:p>
            <a:pPr algn="l"/>
            <a:r>
              <a:rPr b="0" sz="1000">
                <a:solidFill>
                  <a:srgbClr val="404040"/>
                </a:solidFill>
              </a:rPr>
              <a:t>Más robusto en zonas de alta varianza. Mejor costo que M7 con presupuesto adaptativo.</a:t>
            </a:r>
          </a:p>
          <a:p>
            <a:pPr algn="l"/>
            <a:r>
              <a:rPr b="0" sz="500">
                <a:solidFill>
                  <a:srgbClr val="404040"/>
                </a:solidFill>
              </a:rPr>
              <a:t> </a:t>
            </a:r>
          </a:p>
          <a:p>
            <a:pPr algn="l"/>
            <a:r>
              <a:rPr b="1" sz="1050">
                <a:solidFill>
                  <a:srgbClr val="C55A11"/>
                </a:solidFill>
              </a:rPr>
              <a:t>Debilidad</a:t>
            </a:r>
          </a:p>
          <a:p>
            <a:pPr algn="l"/>
            <a:r>
              <a:rPr b="0" sz="1000">
                <a:solidFill>
                  <a:srgbClr val="404040"/>
                </a:solidFill>
              </a:rPr>
              <a:t>Usa más evaluaciones que M7 (76 vs 40) — mayor costo computacional.</a:t>
            </a:r>
          </a:p>
          <a:p>
            <a:pPr algn="l"/>
            <a:r>
              <a:rPr b="0" sz="500">
                <a:solidFill>
                  <a:srgbClr val="404040"/>
                </a:solidFill>
              </a:rPr>
              <a:t> </a:t>
            </a:r>
          </a:p>
          <a:p>
            <a:pPr algn="l"/>
            <a:r>
              <a:rPr b="1" sz="1050">
                <a:solidFill>
                  <a:srgbClr val="404040"/>
                </a:solidFill>
              </a:rPr>
              <a:t>Resultado obtenido</a:t>
            </a:r>
          </a:p>
          <a:p>
            <a:pPr algn="l"/>
            <a:r>
              <a:rPr b="0" sz="1000">
                <a:solidFill>
                  <a:srgbClr val="404040"/>
                </a:solidFill>
              </a:rPr>
              <a:t>218.05 días con 76 eval y 1.48 h. Mejor resultado entre los SK con ~20 trials.</a:t>
            </a:r>
          </a:p>
          <a:p>
            <a:pPr algn="l"/>
            <a:r>
              <a:rPr b="0" sz="500">
                <a:solidFill>
                  <a:srgbClr val="404040"/>
                </a:solidFill>
              </a:rPr>
              <a:t> </a:t>
            </a:r>
          </a:p>
        </p:txBody>
      </p:sp>
      <p:sp>
        <p:nvSpPr>
          <p:cNvPr id="7" name="TextBox 6"/>
          <p:cNvSpPr txBox="1"/>
          <p:nvPr/>
        </p:nvSpPr>
        <p:spPr>
          <a:xfrm>
            <a:off x="274320" y="4800600"/>
            <a:ext cx="7223760" cy="594360"/>
          </a:xfrm>
          <a:prstGeom prst="rect">
            <a:avLst/>
          </a:prstGeom>
          <a:noFill/>
        </p:spPr>
        <p:txBody>
          <a:bodyPr wrap="none">
            <a:spAutoFit/>
          </a:bodyPr>
          <a:lstStyle/>
          <a:p>
            <a:pPr algn="l"/>
            <a:r>
              <a:rPr b="0" sz="850">
                <a:solidFill>
                  <a:srgbClr val="808080"/>
                </a:solidFill>
              </a:rPr>
              <a:t>Referencia completa: Ankenman, Nelson &amp; Staum (2010) — Stochastic Kriging for Simulation Metamodeling — Management Science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A0CCE3"/>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M9 — SK-REVI — Replicated Expected Value of Information</a:t>
            </a:r>
          </a:p>
          <a:p>
            <a:pPr algn="l"/>
            <a:r>
              <a:rPr b="0" sz="1300">
                <a:solidFill>
                  <a:srgbClr val="BDD7EE"/>
                </a:solidFill>
              </a:rPr>
              <a:t>Ref: Quan, Nelson &amp; Patelis (2013) — Simulation Optimization via Ranking and Selection in Large Samp…</a:t>
            </a:r>
          </a:p>
        </p:txBody>
      </p:sp>
      <p:sp>
        <p:nvSpPr>
          <p:cNvPr id="3" name="TextBox 2"/>
          <p:cNvSpPr txBox="1"/>
          <p:nvPr/>
        </p:nvSpPr>
        <p:spPr>
          <a:xfrm>
            <a:off x="274320" y="1261872"/>
            <a:ext cx="11640312" cy="438912"/>
          </a:xfrm>
          <a:prstGeom prst="rect">
            <a:avLst/>
          </a:prstGeom>
          <a:noFill/>
        </p:spPr>
        <p:txBody>
          <a:bodyPr wrap="none">
            <a:spAutoFit/>
          </a:bodyPr>
          <a:lstStyle/>
          <a:p>
            <a:pPr algn="ctr"/>
            <a:r>
              <a:rPr b="1" sz="1300">
                <a:solidFill>
                  <a:srgbClr val="1F497D"/>
                </a:solidFill>
              </a:rPr>
              <a:t>Analogía: El sumiller que calcula cuánto aprendería pidiendo una botella adicional de cada vino</a:t>
            </a:r>
          </a:p>
        </p:txBody>
      </p:sp>
      <p:sp>
        <p:nvSpPr>
          <p:cNvPr id="4" name="TextBox 3"/>
          <p:cNvSpPr txBox="1"/>
          <p:nvPr/>
        </p:nvSpPr>
        <p:spPr>
          <a:xfrm>
            <a:off x="274320" y="1737360"/>
            <a:ext cx="7223760" cy="3017520"/>
          </a:xfrm>
          <a:prstGeom prst="rect">
            <a:avLst/>
          </a:prstGeom>
          <a:noFill/>
        </p:spPr>
        <p:txBody>
          <a:bodyPr wrap="square">
            <a:spAutoFit/>
          </a:bodyPr>
          <a:lstStyle/>
          <a:p>
            <a:pPr algn="l"/>
            <a:r>
              <a:rPr b="1" sz="1100">
                <a:solidFill>
                  <a:srgbClr val="1F497D"/>
                </a:solidFill>
              </a:rPr>
              <a:t>¿Cómo funciona? (versión simple)</a:t>
            </a:r>
          </a:p>
          <a:p>
            <a:pPr algn="l"/>
            <a:r>
              <a:rPr b="0" sz="1050">
                <a:solidFill>
                  <a:srgbClr val="404040"/>
                </a:solidFill>
              </a:rPr>
              <a:t>REVI cambia la pregunta de adquisición: en vez de '¿dónde está el máximo esperado?'
pregunta '¿dónde aprendería más haciendo UNA evaluación adicional?'
Elige el punto donde el valor esperado de la información nueva
(Value of Information, VOI) es máximo. Si ya sé que una zona es mala,
no aprendo nada evaluando ahí — REVI evita ese desperdicio.
El 'Replicated' significa que puede sugerir repetir un punto ya evaluado
si reducir su varianza es más valioso que explorar uno nuevo.
Resultado en PC Raúl: 41 evaluaciones totales → 219.26 días.</a:t>
            </a:r>
          </a:p>
        </p:txBody>
      </p:sp>
      <p:sp>
        <p:nvSpPr>
          <p:cNvPr id="5" name="Rectangle 4"/>
          <p:cNvSpPr/>
          <p:nvPr/>
        </p:nvSpPr>
        <p:spPr>
          <a:xfrm>
            <a:off x="7543800" y="1737360"/>
            <a:ext cx="36576" cy="4846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737360"/>
            <a:ext cx="4251960" cy="4846320"/>
          </a:xfrm>
          <a:prstGeom prst="rect">
            <a:avLst/>
          </a:prstGeom>
          <a:noFill/>
        </p:spPr>
        <p:txBody>
          <a:bodyPr wrap="square">
            <a:spAutoFit/>
          </a:bodyPr>
          <a:lstStyle/>
          <a:p>
            <a:pPr algn="l"/>
            <a:r>
              <a:rPr b="1" sz="1050">
                <a:solidFill>
                  <a:srgbClr val="1F497D"/>
                </a:solidFill>
              </a:rPr>
              <a:t>¿Cuándo usar?</a:t>
            </a:r>
          </a:p>
          <a:p>
            <a:pPr algn="l"/>
            <a:r>
              <a:rPr b="0" sz="1000">
                <a:solidFill>
                  <a:srgbClr val="404040"/>
                </a:solidFill>
              </a:rPr>
              <a:t>Ruido alto y hay que decidir si replicar o explorar. Presupuesto 30–100 eval.</a:t>
            </a:r>
          </a:p>
          <a:p>
            <a:pPr algn="l"/>
            <a:r>
              <a:rPr b="0" sz="500">
                <a:solidFill>
                  <a:srgbClr val="404040"/>
                </a:solidFill>
              </a:rPr>
              <a:t> </a:t>
            </a:r>
          </a:p>
          <a:p>
            <a:pPr algn="l"/>
            <a:r>
              <a:rPr b="1" sz="1050">
                <a:solidFill>
                  <a:srgbClr val="378648"/>
                </a:solidFill>
              </a:rPr>
              <a:t>Fortaleza</a:t>
            </a:r>
          </a:p>
          <a:p>
            <a:pPr algn="l"/>
            <a:r>
              <a:rPr b="0" sz="1000">
                <a:solidFill>
                  <a:srgbClr val="404040"/>
                </a:solidFill>
              </a:rPr>
              <a:t>Asignación de presupuesto más inteligente: solo replica donde vale la pena.</a:t>
            </a:r>
          </a:p>
          <a:p>
            <a:pPr algn="l"/>
            <a:r>
              <a:rPr b="0" sz="500">
                <a:solidFill>
                  <a:srgbClr val="404040"/>
                </a:solidFill>
              </a:rPr>
              <a:t> </a:t>
            </a:r>
          </a:p>
          <a:p>
            <a:pPr algn="l"/>
            <a:r>
              <a:rPr b="1" sz="1050">
                <a:solidFill>
                  <a:srgbClr val="C55A11"/>
                </a:solidFill>
              </a:rPr>
              <a:t>Debilidad</a:t>
            </a:r>
          </a:p>
          <a:p>
            <a:pPr algn="l"/>
            <a:r>
              <a:rPr b="0" sz="1000">
                <a:solidFill>
                  <a:srgbClr val="404040"/>
                </a:solidFill>
              </a:rPr>
              <a:t>Más costoso computacionalmente que EI básico. Necesita &gt;30 eval para superar a M7.</a:t>
            </a:r>
          </a:p>
          <a:p>
            <a:pPr algn="l"/>
            <a:r>
              <a:rPr b="0" sz="500">
                <a:solidFill>
                  <a:srgbClr val="404040"/>
                </a:solidFill>
              </a:rPr>
              <a:t> </a:t>
            </a:r>
          </a:p>
          <a:p>
            <a:pPr algn="l"/>
            <a:r>
              <a:rPr b="1" sz="1050">
                <a:solidFill>
                  <a:srgbClr val="404040"/>
                </a:solidFill>
              </a:rPr>
              <a:t>Resultado obtenido</a:t>
            </a:r>
          </a:p>
          <a:p>
            <a:pPr algn="l"/>
            <a:r>
              <a:rPr b="0" sz="1000">
                <a:solidFill>
                  <a:srgbClr val="404040"/>
                </a:solidFill>
              </a:rPr>
              <a:t>219.26 días con 41 eval y 1.44 h. Mejor que M7 EI (219.96d) con similar presupuesto.</a:t>
            </a:r>
          </a:p>
          <a:p>
            <a:pPr algn="l"/>
            <a:r>
              <a:rPr b="0" sz="500">
                <a:solidFill>
                  <a:srgbClr val="404040"/>
                </a:solidFill>
              </a:rPr>
              <a:t> </a:t>
            </a:r>
          </a:p>
        </p:txBody>
      </p:sp>
      <p:sp>
        <p:nvSpPr>
          <p:cNvPr id="7" name="TextBox 6"/>
          <p:cNvSpPr txBox="1"/>
          <p:nvPr/>
        </p:nvSpPr>
        <p:spPr>
          <a:xfrm>
            <a:off x="274320" y="4800600"/>
            <a:ext cx="7223760" cy="594360"/>
          </a:xfrm>
          <a:prstGeom prst="rect">
            <a:avLst/>
          </a:prstGeom>
          <a:noFill/>
        </p:spPr>
        <p:txBody>
          <a:bodyPr wrap="none">
            <a:spAutoFit/>
          </a:bodyPr>
          <a:lstStyle/>
          <a:p>
            <a:pPr algn="l"/>
            <a:r>
              <a:rPr b="0" sz="850">
                <a:solidFill>
                  <a:srgbClr val="808080"/>
                </a:solidFill>
              </a:rPr>
              <a:t>Referencia completa: Quan, Nelson &amp; Patelis (2013) — Simulation Optimization via Ranking and Selection in Large Samples — IIE Transactions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ABD2E8"/>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M10-HPO — SK-KGCP — Knowledge Gradient with Correlated Prior (100 eval, HPO)</a:t>
            </a:r>
          </a:p>
          <a:p>
            <a:pPr algn="l"/>
            <a:r>
              <a:rPr b="0" sz="1300">
                <a:solidFill>
                  <a:srgbClr val="BDD7EE"/>
                </a:solidFill>
              </a:rPr>
              <a:t>Ref: Scott, Powell &amp; Frazier (2011) — The Correlated Knowledge Gradient for Simulation Optimization …</a:t>
            </a:r>
          </a:p>
        </p:txBody>
      </p:sp>
      <p:sp>
        <p:nvSpPr>
          <p:cNvPr id="3" name="TextBox 2"/>
          <p:cNvSpPr txBox="1"/>
          <p:nvPr/>
        </p:nvSpPr>
        <p:spPr>
          <a:xfrm>
            <a:off x="274320" y="1261872"/>
            <a:ext cx="11640312" cy="438912"/>
          </a:xfrm>
          <a:prstGeom prst="rect">
            <a:avLst/>
          </a:prstGeom>
          <a:noFill/>
        </p:spPr>
        <p:txBody>
          <a:bodyPr wrap="none">
            <a:spAutoFit/>
          </a:bodyPr>
          <a:lstStyle/>
          <a:p>
            <a:pPr algn="ctr"/>
            <a:r>
              <a:rPr b="1" sz="1300">
                <a:solidFill>
                  <a:srgbClr val="1F497D"/>
                </a:solidFill>
              </a:rPr>
              <a:t>Analogía: El sumiller que, antes de pedir una botella, piensa en cómo cambiaría su ranking completo</a:t>
            </a:r>
          </a:p>
        </p:txBody>
      </p:sp>
      <p:sp>
        <p:nvSpPr>
          <p:cNvPr id="4" name="TextBox 3"/>
          <p:cNvSpPr txBox="1"/>
          <p:nvPr/>
        </p:nvSpPr>
        <p:spPr>
          <a:xfrm>
            <a:off x="274320" y="1737360"/>
            <a:ext cx="7223760" cy="3017520"/>
          </a:xfrm>
          <a:prstGeom prst="rect">
            <a:avLst/>
          </a:prstGeom>
          <a:noFill/>
        </p:spPr>
        <p:txBody>
          <a:bodyPr wrap="square">
            <a:spAutoFit/>
          </a:bodyPr>
          <a:lstStyle/>
          <a:p>
            <a:pPr algn="l"/>
            <a:r>
              <a:rPr b="1" sz="1100">
                <a:solidFill>
                  <a:srgbClr val="1F497D"/>
                </a:solidFill>
              </a:rPr>
              <a:t>¿Cómo funciona? (versión simple)</a:t>
            </a:r>
          </a:p>
          <a:p>
            <a:pPr algn="l"/>
            <a:r>
              <a:rPr b="0" sz="1050">
                <a:solidFill>
                  <a:srgbClr val="404040"/>
                </a:solidFill>
              </a:rPr>
              <a:t>Knowledge Gradient (KG) elige el punto que maximiza el valor esperado del MEJOR
resultado final después de esa evaluación, considerando toda la correlación espacial.
Es como ajedrez: no solo busca la mejor jugada ahora, sino la que deja
la mejor posición para la siguiente. El surrogado es Stochastic Kriging (SK)
que modela la varianza del ruido del simulador.
HPO: los hiperparámetros del surrogado se optimizaron con Bayesian HPO,
dando una calibración más precisa del modelo con 100 evaluaciones totales.</a:t>
            </a:r>
          </a:p>
        </p:txBody>
      </p:sp>
      <p:sp>
        <p:nvSpPr>
          <p:cNvPr id="5" name="Rectangle 4"/>
          <p:cNvSpPr/>
          <p:nvPr/>
        </p:nvSpPr>
        <p:spPr>
          <a:xfrm>
            <a:off x="7543800" y="1737360"/>
            <a:ext cx="36576" cy="4846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737360"/>
            <a:ext cx="4251960" cy="4846320"/>
          </a:xfrm>
          <a:prstGeom prst="rect">
            <a:avLst/>
          </a:prstGeom>
          <a:noFill/>
        </p:spPr>
        <p:txBody>
          <a:bodyPr wrap="square">
            <a:spAutoFit/>
          </a:bodyPr>
          <a:lstStyle/>
          <a:p>
            <a:pPr algn="l"/>
            <a:r>
              <a:rPr b="1" sz="1050">
                <a:solidFill>
                  <a:srgbClr val="1F497D"/>
                </a:solidFill>
              </a:rPr>
              <a:t>¿Cuándo usar?</a:t>
            </a:r>
          </a:p>
          <a:p>
            <a:pPr algn="l"/>
            <a:r>
              <a:rPr b="0" sz="1000">
                <a:solidFill>
                  <a:srgbClr val="404040"/>
                </a:solidFill>
              </a:rPr>
              <a:t>Presupuesto alto (50–200 eval). Función suave con correlación espacial fuerte.</a:t>
            </a:r>
          </a:p>
          <a:p>
            <a:pPr algn="l"/>
            <a:r>
              <a:rPr b="0" sz="500">
                <a:solidFill>
                  <a:srgbClr val="404040"/>
                </a:solidFill>
              </a:rPr>
              <a:t> </a:t>
            </a:r>
          </a:p>
          <a:p>
            <a:pPr algn="l"/>
            <a:r>
              <a:rPr b="1" sz="1050">
                <a:solidFill>
                  <a:srgbClr val="378648"/>
                </a:solidFill>
              </a:rPr>
              <a:t>Fortaleza</a:t>
            </a:r>
          </a:p>
          <a:p>
            <a:pPr algn="l"/>
            <a:r>
              <a:rPr b="0" sz="1000">
                <a:solidFill>
                  <a:srgbClr val="404040"/>
                </a:solidFill>
              </a:rPr>
              <a:t>Teóricamente óptimo en 1 paso look-ahead. Mejor resultado global: 212.03 días.</a:t>
            </a:r>
          </a:p>
          <a:p>
            <a:pPr algn="l"/>
            <a:r>
              <a:rPr b="0" sz="500">
                <a:solidFill>
                  <a:srgbClr val="404040"/>
                </a:solidFill>
              </a:rPr>
              <a:t> </a:t>
            </a:r>
          </a:p>
          <a:p>
            <a:pPr algn="l"/>
            <a:r>
              <a:rPr b="1" sz="1050">
                <a:solidFill>
                  <a:srgbClr val="C55A11"/>
                </a:solidFill>
              </a:rPr>
              <a:t>Debilidad</a:t>
            </a:r>
          </a:p>
          <a:p>
            <a:pPr algn="l"/>
            <a:r>
              <a:rPr b="0" sz="1000">
                <a:solidFill>
                  <a:srgbClr val="404040"/>
                </a:solidFill>
              </a:rPr>
              <a:t>Con ≤30 eval no muestra su ventaja. Costoso computacionalmente.</a:t>
            </a:r>
          </a:p>
          <a:p>
            <a:pPr algn="l"/>
            <a:r>
              <a:rPr b="0" sz="500">
                <a:solidFill>
                  <a:srgbClr val="404040"/>
                </a:solidFill>
              </a:rPr>
              <a:t> </a:t>
            </a:r>
          </a:p>
          <a:p>
            <a:pPr algn="l"/>
            <a:r>
              <a:rPr b="1" sz="1050">
                <a:solidFill>
                  <a:srgbClr val="404040"/>
                </a:solidFill>
              </a:rPr>
              <a:t>Resultado obtenido</a:t>
            </a:r>
          </a:p>
          <a:p>
            <a:pPr algn="l"/>
            <a:r>
              <a:rPr b="0" sz="1000">
                <a:solidFill>
                  <a:srgbClr val="404040"/>
                </a:solidFill>
              </a:rPr>
              <a:t>212.03 días — MEJOR resultado global (PC Raúl) con 100 eval y 12.27 h.</a:t>
            </a:r>
          </a:p>
          <a:p>
            <a:pPr algn="l"/>
            <a:r>
              <a:rPr b="0" sz="500">
                <a:solidFill>
                  <a:srgbClr val="404040"/>
                </a:solidFill>
              </a:rPr>
              <a:t> </a:t>
            </a:r>
          </a:p>
        </p:txBody>
      </p:sp>
      <p:sp>
        <p:nvSpPr>
          <p:cNvPr id="7" name="TextBox 6"/>
          <p:cNvSpPr txBox="1"/>
          <p:nvPr/>
        </p:nvSpPr>
        <p:spPr>
          <a:xfrm>
            <a:off x="274320" y="4800600"/>
            <a:ext cx="7223760" cy="594360"/>
          </a:xfrm>
          <a:prstGeom prst="rect">
            <a:avLst/>
          </a:prstGeom>
          <a:noFill/>
        </p:spPr>
        <p:txBody>
          <a:bodyPr wrap="none">
            <a:spAutoFit/>
          </a:bodyPr>
          <a:lstStyle/>
          <a:p>
            <a:pPr algn="l"/>
            <a:r>
              <a:rPr b="0" sz="850">
                <a:solidFill>
                  <a:srgbClr val="808080"/>
                </a:solidFill>
              </a:rPr>
              <a:t>Referencia completa: Scott, Powell &amp; Frazier (2011) — The Correlated Knowledge Gradient for Simulation Optimization — SIAM Journal on Optimization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2F0D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M13 — SPSA — Simultaneous Perturbation Stochastic Approximation</a:t>
            </a:r>
          </a:p>
          <a:p>
            <a:pPr algn="l"/>
            <a:r>
              <a:rPr b="0" sz="1300">
                <a:solidFill>
                  <a:srgbClr val="BDD7EE"/>
                </a:solidFill>
              </a:rPr>
              <a:t>Ref: Spall, J.C. (1992) — Multivariate Stochastic Approximation Using a Simultaneous Perturbation Gr…</a:t>
            </a:r>
          </a:p>
        </p:txBody>
      </p:sp>
      <p:sp>
        <p:nvSpPr>
          <p:cNvPr id="3" name="TextBox 2"/>
          <p:cNvSpPr txBox="1"/>
          <p:nvPr/>
        </p:nvSpPr>
        <p:spPr>
          <a:xfrm>
            <a:off x="274320" y="1261872"/>
            <a:ext cx="11640312" cy="438912"/>
          </a:xfrm>
          <a:prstGeom prst="rect">
            <a:avLst/>
          </a:prstGeom>
          <a:noFill/>
        </p:spPr>
        <p:txBody>
          <a:bodyPr wrap="none">
            <a:spAutoFit/>
          </a:bodyPr>
          <a:lstStyle/>
          <a:p>
            <a:pPr algn="ctr"/>
            <a:r>
              <a:rPr b="1" sz="1300">
                <a:solidFill>
                  <a:srgbClr val="1F497D"/>
                </a:solidFill>
              </a:rPr>
              <a:t>Analogía: El explorador que sacude todo el mapa a la vez en lugar de moverse un paso a la vez</a:t>
            </a:r>
          </a:p>
        </p:txBody>
      </p:sp>
      <p:sp>
        <p:nvSpPr>
          <p:cNvPr id="4" name="TextBox 3"/>
          <p:cNvSpPr txBox="1"/>
          <p:nvPr/>
        </p:nvSpPr>
        <p:spPr>
          <a:xfrm>
            <a:off x="274320" y="1737360"/>
            <a:ext cx="7223760" cy="3017520"/>
          </a:xfrm>
          <a:prstGeom prst="rect">
            <a:avLst/>
          </a:prstGeom>
          <a:noFill/>
        </p:spPr>
        <p:txBody>
          <a:bodyPr wrap="square">
            <a:spAutoFit/>
          </a:bodyPr>
          <a:lstStyle/>
          <a:p>
            <a:pPr algn="l"/>
            <a:r>
              <a:rPr b="1" sz="1100">
                <a:solidFill>
                  <a:srgbClr val="1F497D"/>
                </a:solidFill>
              </a:rPr>
              <a:t>¿Cómo funciona? (versión simple)</a:t>
            </a:r>
          </a:p>
          <a:p>
            <a:pPr algn="l"/>
            <a:r>
              <a:rPr b="0" sz="1050">
                <a:solidFill>
                  <a:srgbClr val="404040"/>
                </a:solidFill>
              </a:rPr>
              <a:t>SPSA estima el gradiente en 12 dimensiones usando SOLO 2 evaluaciones del simulador
por iteración — sin importar cuántas variables haya.
Genera un vector aleatorio Δ de ±1 (distribución de Bernoulli) y evalúa:
   f(x + c·Δ)  y  f(x − c·Δ)
La diferencia / 2c·Δ estima el gradiente simultáneamente en todas las dimensiones.
Como el gradiente tiene ruido, el paso α_k decrece lentamente según k.
Converge a un mínimo local con alta probabilidad si el ruido es aditivo.</a:t>
            </a:r>
          </a:p>
        </p:txBody>
      </p:sp>
      <p:sp>
        <p:nvSpPr>
          <p:cNvPr id="5" name="Rectangle 4"/>
          <p:cNvSpPr/>
          <p:nvPr/>
        </p:nvSpPr>
        <p:spPr>
          <a:xfrm>
            <a:off x="7543800" y="1737360"/>
            <a:ext cx="36576" cy="4846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737360"/>
            <a:ext cx="4251960" cy="4846320"/>
          </a:xfrm>
          <a:prstGeom prst="rect">
            <a:avLst/>
          </a:prstGeom>
          <a:noFill/>
        </p:spPr>
        <p:txBody>
          <a:bodyPr wrap="square">
            <a:spAutoFit/>
          </a:bodyPr>
          <a:lstStyle/>
          <a:p>
            <a:pPr algn="l"/>
            <a:r>
              <a:rPr b="1" sz="1050">
                <a:solidFill>
                  <a:srgbClr val="1F497D"/>
                </a:solidFill>
              </a:rPr>
              <a:t>¿Cuándo usar?</a:t>
            </a:r>
          </a:p>
          <a:p>
            <a:pPr algn="l"/>
            <a:r>
              <a:rPr b="0" sz="1000">
                <a:solidFill>
                  <a:srgbClr val="404040"/>
                </a:solidFill>
              </a:rPr>
              <a:t>Muchas variables (d&gt;10), presupuesto limitado, función con ruido moderado.</a:t>
            </a:r>
          </a:p>
          <a:p>
            <a:pPr algn="l"/>
            <a:r>
              <a:rPr b="0" sz="500">
                <a:solidFill>
                  <a:srgbClr val="404040"/>
                </a:solidFill>
              </a:rPr>
              <a:t> </a:t>
            </a:r>
          </a:p>
          <a:p>
            <a:pPr algn="l"/>
            <a:r>
              <a:rPr b="1" sz="1050">
                <a:solidFill>
                  <a:srgbClr val="378648"/>
                </a:solidFill>
              </a:rPr>
              <a:t>Fortaleza</a:t>
            </a:r>
          </a:p>
          <a:p>
            <a:pPr algn="l"/>
            <a:r>
              <a:rPr b="0" sz="1000">
                <a:solidFill>
                  <a:srgbClr val="404040"/>
                </a:solidFill>
              </a:rPr>
              <a:t>Solo 2 eval/iter sin importar d. Robusto a ruido moderado. Convergencia probada.</a:t>
            </a:r>
          </a:p>
          <a:p>
            <a:pPr algn="l"/>
            <a:r>
              <a:rPr b="0" sz="500">
                <a:solidFill>
                  <a:srgbClr val="404040"/>
                </a:solidFill>
              </a:rPr>
              <a:t> </a:t>
            </a:r>
          </a:p>
          <a:p>
            <a:pPr algn="l"/>
            <a:r>
              <a:rPr b="1" sz="1050">
                <a:solidFill>
                  <a:srgbClr val="C55A11"/>
                </a:solidFill>
              </a:rPr>
              <a:t>Debilidad</a:t>
            </a:r>
          </a:p>
          <a:p>
            <a:pPr algn="l"/>
            <a:r>
              <a:rPr b="0" sz="1000">
                <a:solidFill>
                  <a:srgbClr val="404040"/>
                </a:solidFill>
              </a:rPr>
              <a:t>Lento en tiempo real: 30 iter × 2 eval = 60 eval pero toma 8.65 h (simulaciones lentas).</a:t>
            </a:r>
          </a:p>
          <a:p>
            <a:pPr algn="l"/>
            <a:r>
              <a:rPr b="0" sz="500">
                <a:solidFill>
                  <a:srgbClr val="404040"/>
                </a:solidFill>
              </a:rPr>
              <a:t> </a:t>
            </a:r>
          </a:p>
          <a:p>
            <a:pPr algn="l"/>
            <a:r>
              <a:rPr b="1" sz="1050">
                <a:solidFill>
                  <a:srgbClr val="404040"/>
                </a:solidFill>
              </a:rPr>
              <a:t>Resultado obtenido</a:t>
            </a:r>
          </a:p>
          <a:p>
            <a:pPr algn="l"/>
            <a:r>
              <a:rPr b="0" sz="1000">
                <a:solidFill>
                  <a:srgbClr val="404040"/>
                </a:solidFill>
              </a:rPr>
              <a:t>219.38 días en 30 iter (8.65 h). Similar a M7/M8 pero con menor costo computacional/eval.</a:t>
            </a:r>
          </a:p>
          <a:p>
            <a:pPr algn="l"/>
            <a:r>
              <a:rPr b="0" sz="500">
                <a:solidFill>
                  <a:srgbClr val="404040"/>
                </a:solidFill>
              </a:rPr>
              <a:t> </a:t>
            </a:r>
          </a:p>
        </p:txBody>
      </p:sp>
      <p:sp>
        <p:nvSpPr>
          <p:cNvPr id="7" name="TextBox 6"/>
          <p:cNvSpPr txBox="1"/>
          <p:nvPr/>
        </p:nvSpPr>
        <p:spPr>
          <a:xfrm>
            <a:off x="274320" y="4800600"/>
            <a:ext cx="7223760" cy="594360"/>
          </a:xfrm>
          <a:prstGeom prst="rect">
            <a:avLst/>
          </a:prstGeom>
          <a:noFill/>
        </p:spPr>
        <p:txBody>
          <a:bodyPr wrap="none">
            <a:spAutoFit/>
          </a:bodyPr>
          <a:lstStyle/>
          <a:p>
            <a:pPr algn="l"/>
            <a:r>
              <a:rPr b="0" sz="850">
                <a:solidFill>
                  <a:srgbClr val="808080"/>
                </a:solidFill>
              </a:rPr>
              <a:t>Referencia completa: Spall, J.C. (1992) — Multivariate Stochastic Approximation Using a Simultaneous Perturbation Gradient Approximation — IEEE Transactions on Automatic Control, 37(3), 332–341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EBCC"/>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M14 — ALOE — Armijo Line-search Optimization with Estimates</a:t>
            </a:r>
          </a:p>
          <a:p>
            <a:pPr algn="l"/>
            <a:r>
              <a:rPr b="0" sz="1300">
                <a:solidFill>
                  <a:srgbClr val="BDD7EE"/>
                </a:solidFill>
              </a:rPr>
              <a:t>Ref: Lim, Cao &amp; Shi (2012) — Simulation Optimization with Noisy Function Evaluations — European Jour…</a:t>
            </a:r>
          </a:p>
        </p:txBody>
      </p:sp>
      <p:sp>
        <p:nvSpPr>
          <p:cNvPr id="3" name="TextBox 2"/>
          <p:cNvSpPr txBox="1"/>
          <p:nvPr/>
        </p:nvSpPr>
        <p:spPr>
          <a:xfrm>
            <a:off x="274320" y="1261872"/>
            <a:ext cx="11640312" cy="438912"/>
          </a:xfrm>
          <a:prstGeom prst="rect">
            <a:avLst/>
          </a:prstGeom>
          <a:noFill/>
        </p:spPr>
        <p:txBody>
          <a:bodyPr wrap="none">
            <a:spAutoFit/>
          </a:bodyPr>
          <a:lstStyle/>
          <a:p>
            <a:pPr algn="ctr"/>
            <a:r>
              <a:rPr b="1" sz="1300">
                <a:solidFill>
                  <a:srgbClr val="1F497D"/>
                </a:solidFill>
              </a:rPr>
              <a:t>Analogía: El excursionista con brújula que verifica dos veces cada paso, pero la niebla lo confunde siempre</a:t>
            </a:r>
          </a:p>
        </p:txBody>
      </p:sp>
      <p:sp>
        <p:nvSpPr>
          <p:cNvPr id="4" name="TextBox 3"/>
          <p:cNvSpPr txBox="1"/>
          <p:nvPr/>
        </p:nvSpPr>
        <p:spPr>
          <a:xfrm>
            <a:off x="274320" y="1737360"/>
            <a:ext cx="7223760" cy="3017520"/>
          </a:xfrm>
          <a:prstGeom prst="rect">
            <a:avLst/>
          </a:prstGeom>
          <a:noFill/>
        </p:spPr>
        <p:txBody>
          <a:bodyPr wrap="square">
            <a:spAutoFit/>
          </a:bodyPr>
          <a:lstStyle/>
          <a:p>
            <a:pPr algn="l"/>
            <a:r>
              <a:rPr b="1" sz="1100">
                <a:solidFill>
                  <a:srgbClr val="1F497D"/>
                </a:solidFill>
              </a:rPr>
              <a:t>¿Cómo funciona? (versión simple)</a:t>
            </a:r>
          </a:p>
          <a:p>
            <a:pPr algn="l"/>
            <a:r>
              <a:rPr b="0" sz="1050">
                <a:solidFill>
                  <a:srgbClr val="404040"/>
                </a:solidFill>
              </a:rPr>
              <a:t>ALOE estima el gradiente con diferencias finitas coordenadas (2d=24 evals/iter)
y hace una búsqueda de línea tipo Armijo para elegir el tamaño del paso.
Armijo comprueba: ¿el paso α me da una mejora real?
f(x + α·d) &lt; f(x) − σ·α·||∇f||²  → acepta.  Si no → reduce α por factor r&lt;1.
El problema: cuando el simulador es muy ruidoso, f(x+α·d) puede parecer peor
que f(x) por puro azar aunque d apunte cuesta abajo → Armijo rechaza → α→0 → parado.</a:t>
            </a:r>
          </a:p>
        </p:txBody>
      </p:sp>
      <p:sp>
        <p:nvSpPr>
          <p:cNvPr id="5" name="Rectangle 4"/>
          <p:cNvSpPr/>
          <p:nvPr/>
        </p:nvSpPr>
        <p:spPr>
          <a:xfrm>
            <a:off x="7543800" y="1737360"/>
            <a:ext cx="36576" cy="4846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737360"/>
            <a:ext cx="4251960" cy="4846320"/>
          </a:xfrm>
          <a:prstGeom prst="rect">
            <a:avLst/>
          </a:prstGeom>
          <a:noFill/>
        </p:spPr>
        <p:txBody>
          <a:bodyPr wrap="square">
            <a:spAutoFit/>
          </a:bodyPr>
          <a:lstStyle/>
          <a:p>
            <a:pPr algn="l"/>
            <a:r>
              <a:rPr b="1" sz="1050">
                <a:solidFill>
                  <a:srgbClr val="1F497D"/>
                </a:solidFill>
              </a:rPr>
              <a:t>¿Cuándo usar?</a:t>
            </a:r>
          </a:p>
          <a:p>
            <a:pPr algn="l"/>
            <a:r>
              <a:rPr b="0" sz="1000">
                <a:solidFill>
                  <a:srgbClr val="404040"/>
                </a:solidFill>
              </a:rPr>
              <a:t>Funciones de bajo ruido con gradiente computado exacto o casi exacto.</a:t>
            </a:r>
          </a:p>
          <a:p>
            <a:pPr algn="l"/>
            <a:r>
              <a:rPr b="0" sz="500">
                <a:solidFill>
                  <a:srgbClr val="404040"/>
                </a:solidFill>
              </a:rPr>
              <a:t> </a:t>
            </a:r>
          </a:p>
          <a:p>
            <a:pPr algn="l"/>
            <a:r>
              <a:rPr b="1" sz="1050">
                <a:solidFill>
                  <a:srgbClr val="378648"/>
                </a:solidFill>
              </a:rPr>
              <a:t>Fortaleza</a:t>
            </a:r>
          </a:p>
          <a:p>
            <a:pPr algn="l"/>
            <a:r>
              <a:rPr b="0" sz="1000">
                <a:solidFill>
                  <a:srgbClr val="404040"/>
                </a:solidFill>
              </a:rPr>
              <a:t>Con ruido bajo, la búsqueda de línea garantiza descenso monotónico y convergencia.</a:t>
            </a:r>
          </a:p>
          <a:p>
            <a:pPr algn="l"/>
            <a:r>
              <a:rPr b="0" sz="500">
                <a:solidFill>
                  <a:srgbClr val="404040"/>
                </a:solidFill>
              </a:rPr>
              <a:t> </a:t>
            </a:r>
          </a:p>
          <a:p>
            <a:pPr algn="l"/>
            <a:r>
              <a:rPr b="1" sz="1050">
                <a:solidFill>
                  <a:srgbClr val="C55A11"/>
                </a:solidFill>
              </a:rPr>
              <a:t>Debilidad</a:t>
            </a:r>
          </a:p>
          <a:p>
            <a:pPr algn="l"/>
            <a:r>
              <a:rPr b="0" sz="1000">
                <a:solidFill>
                  <a:srgbClr val="404040"/>
                </a:solidFill>
              </a:rPr>
              <a:t>Con ruido alto (σ≥20d), Armijo falla 100% de los pasos. 24 eval/iter → 69.5 h sin resultado.</a:t>
            </a:r>
          </a:p>
          <a:p>
            <a:pPr algn="l"/>
            <a:r>
              <a:rPr b="0" sz="500">
                <a:solidFill>
                  <a:srgbClr val="404040"/>
                </a:solidFill>
              </a:rPr>
              <a:t> </a:t>
            </a:r>
          </a:p>
          <a:p>
            <a:pPr algn="l"/>
            <a:r>
              <a:rPr b="1" sz="1050">
                <a:solidFill>
                  <a:srgbClr val="404040"/>
                </a:solidFill>
              </a:rPr>
              <a:t>Resultado obtenido</a:t>
            </a:r>
          </a:p>
          <a:p>
            <a:pPr algn="l"/>
            <a:r>
              <a:rPr b="0" sz="1000">
                <a:solidFill>
                  <a:srgbClr val="404040"/>
                </a:solidFill>
              </a:rPr>
              <a:t>270.73 días — SIN MEJORA. 69.5 h gastadas. x_final = x0 (Armijo rechazado 30/30 iter).</a:t>
            </a:r>
          </a:p>
          <a:p>
            <a:pPr algn="l"/>
            <a:r>
              <a:rPr b="0" sz="500">
                <a:solidFill>
                  <a:srgbClr val="404040"/>
                </a:solidFill>
              </a:rPr>
              <a:t> </a:t>
            </a:r>
          </a:p>
        </p:txBody>
      </p:sp>
      <p:sp>
        <p:nvSpPr>
          <p:cNvPr id="7" name="TextBox 6"/>
          <p:cNvSpPr txBox="1"/>
          <p:nvPr/>
        </p:nvSpPr>
        <p:spPr>
          <a:xfrm>
            <a:off x="274320" y="4800600"/>
            <a:ext cx="7223760" cy="594360"/>
          </a:xfrm>
          <a:prstGeom prst="rect">
            <a:avLst/>
          </a:prstGeom>
          <a:noFill/>
        </p:spPr>
        <p:txBody>
          <a:bodyPr wrap="none">
            <a:spAutoFit/>
          </a:bodyPr>
          <a:lstStyle/>
          <a:p>
            <a:pPr algn="l"/>
            <a:r>
              <a:rPr b="0" sz="850">
                <a:solidFill>
                  <a:srgbClr val="808080"/>
                </a:solidFill>
              </a:rPr>
              <a:t>Referencia completa: Lim, Cao &amp; Shi (2012) — Simulation Optimization with Noisy Function Evaluations — European Journal of Operational Research, 220(3), 684–697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