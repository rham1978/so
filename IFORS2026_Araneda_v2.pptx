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73F8A"/>
                </a:solidFill>
              </a:defRPr>
            </a:pPr>
            <a:r>
              <a:t>A Prescriptive Simulation–Hybrid Optimization Framework for Capacity Planning in Minimally Invasive Gynecology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Raúl H. Araneda, Rodrigo A. Carrasco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Department of Industrial and Systems Engineering — UC Chile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IFORS 2026 — Vienna, Austria   ·   Presented by Raúl H. Araneda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Research partially funded by Fondecyt Regular 1231245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/>
            </a:pPr>
            <a:r>
              <a:t>• Motivation</a:t>
            </a:r>
          </a:p>
          <a:p>
            <a:pPr>
              <a:spcAft>
                <a:spcPts val="800"/>
              </a:spcAft>
              <a:defRPr sz="2000" b="1"/>
            </a:pPr>
            <a:r>
              <a:t>• Research Problem</a:t>
            </a:r>
          </a:p>
          <a:p>
            <a:pPr>
              <a:spcAft>
                <a:spcPts val="800"/>
              </a:spcAft>
              <a:defRPr sz="2000" b="1"/>
            </a:pPr>
            <a:r>
              <a:t>• Literature Review</a:t>
            </a:r>
          </a:p>
          <a:p>
            <a:pPr>
              <a:spcAft>
                <a:spcPts val="800"/>
              </a:spcAft>
              <a:defRPr sz="2000" b="1"/>
            </a:pPr>
            <a:r>
              <a:t>• Objective</a:t>
            </a:r>
          </a:p>
          <a:p>
            <a:pPr>
              <a:spcAft>
                <a:spcPts val="800"/>
              </a:spcAft>
              <a:defRPr sz="2000" b="1"/>
            </a:pPr>
            <a:r>
              <a:t>• Proposed Framework</a:t>
            </a:r>
          </a:p>
          <a:p>
            <a:pPr>
              <a:spcAft>
                <a:spcPts val="800"/>
              </a:spcAft>
              <a:defRPr sz="2000" b="1"/>
            </a:pPr>
            <a:r>
              <a:t>• Results</a:t>
            </a:r>
          </a:p>
          <a:p>
            <a:pPr>
              <a:spcAft>
                <a:spcPts val="800"/>
              </a:spcAft>
              <a:defRPr sz="2000" b="1"/>
            </a:pPr>
            <a:r>
              <a:t>• Discussion</a:t>
            </a:r>
          </a:p>
          <a:p>
            <a:pPr>
              <a:spcAft>
                <a:spcPts val="800"/>
              </a:spcAft>
              <a:defRPr sz="2000" b="1"/>
            </a:pPr>
            <a:r>
              <a:t>•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Waiting kills — and Chile is no exception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/>
            </a:pPr>
            <a:r>
              <a:t>• Prolonged waits deteriorate patient health and increase mortality by 3.4% (Martinez et al., 2019).</a:t>
            </a:r>
          </a:p>
          <a:p>
            <a:pPr>
              <a:spcAft>
                <a:spcPts val="800"/>
              </a:spcAft>
              <a:defRPr sz="1700" b="1"/>
            </a:pPr>
            <a:r>
              <a:t>• Prolonged waits reduce wages and labor productivity (OECD, 2026).</a:t>
            </a:r>
          </a:p>
        </p:txBody>
      </p:sp>
      <p:sp>
        <p:nvSpPr>
          <p:cNvPr id="4" name="Rectangle 3"/>
          <p:cNvSpPr/>
          <p:nvPr/>
        </p:nvSpPr>
        <p:spPr>
          <a:xfrm>
            <a:off x="3520440" y="2880360"/>
            <a:ext cx="5120640" cy="3566160"/>
          </a:xfrm>
          <a:prstGeom prst="rect">
            <a:avLst/>
          </a:prstGeom>
          <a:solidFill>
            <a:srgbClr val="EEF2F7"/>
          </a:solidFill>
          <a:ln>
            <a:solidFill>
              <a:srgbClr val="666666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i="1">
                <a:solidFill>
                  <a:srgbClr val="666666"/>
                </a:solidFill>
              </a:defRPr>
            </a:pPr>
            <a:r>
              <a:t>[FIGURA: listas_espera.png — pegar aquí]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Inside one clinic: where the bottleneck lives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/>
            </a:pPr>
            <a:r>
              <a:t>• Institutional Relevance</a:t>
            </a:r>
          </a:p>
          <a:p>
            <a:pPr lvl="1">
              <a:spcAft>
                <a:spcPts val="800"/>
              </a:spcAft>
              <a:defRPr sz="1400"/>
            </a:pPr>
            <a:r>
              <a:t>– CRSCO is a medium-complexity public ambulatory center, a key referral hub for Macul and Peñalolén.</a:t>
            </a:r>
          </a:p>
          <a:p>
            <a:pPr>
              <a:spcAft>
                <a:spcPts val="800"/>
              </a:spcAft>
              <a:defRPr sz="1700" b="1"/>
            </a:pPr>
            <a:r>
              <a:t>• Demand</a:t>
            </a:r>
          </a:p>
          <a:p>
            <a:pPr lvl="1">
              <a:spcAft>
                <a:spcPts val="800"/>
              </a:spcAft>
              <a:defRPr sz="1400"/>
            </a:pPr>
            <a:r>
              <a:t>– More than 30,000 consultations in 2025 — growing pressure on specialized services.</a:t>
            </a:r>
          </a:p>
          <a:p>
            <a:pPr>
              <a:spcAft>
                <a:spcPts val="800"/>
              </a:spcAft>
              <a:defRPr sz="1700" b="1"/>
            </a:pPr>
            <a:r>
              <a:t>• Gynecology Department Burden</a:t>
            </a:r>
          </a:p>
          <a:p>
            <a:pPr lvl="1">
              <a:spcAft>
                <a:spcPts val="800"/>
              </a:spcAft>
              <a:defRPr sz="1400"/>
            </a:pPr>
            <a:r>
              <a:t>– 30% of the total waiting list; 3,859 pending cases across 11 specialized clinics.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The victim: 318 cases, up to 1,164 days waiting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/>
            </a:pPr>
            <a:r>
              <a:t>• Waiting Time Metrics</a:t>
            </a:r>
          </a:p>
          <a:p>
            <a:pPr lvl="1">
              <a:spcAft>
                <a:spcPts val="800"/>
              </a:spcAft>
              <a:defRPr sz="1400"/>
            </a:pPr>
            <a:r>
              <a:t>– Average waiting time: 205 days; maximum recorded: 1,164 days.</a:t>
            </a:r>
          </a:p>
          <a:p>
            <a:pPr>
              <a:spcAft>
                <a:spcPts val="800"/>
              </a:spcAft>
              <a:defRPr sz="1700" b="1"/>
            </a:pPr>
            <a:r>
              <a:t>• Minimally Invasive Gynecology (CMI)</a:t>
            </a:r>
          </a:p>
          <a:p>
            <a:pPr lvl="1">
              <a:spcAft>
                <a:spcPts val="800"/>
              </a:spcAft>
              <a:defRPr sz="1400"/>
            </a:pPr>
            <a:r>
              <a:t>– Fifth largest subspecialty list — 318 active cases, average wait 81 days.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The question: can we make fewer patients wait?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Problem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1188720"/>
            <a:ext cx="8778240" cy="3566160"/>
          </a:xfrm>
          <a:prstGeom prst="rect">
            <a:avLst/>
          </a:prstGeom>
          <a:solidFill>
            <a:srgbClr val="EEF2F7"/>
          </a:solidFill>
          <a:ln>
            <a:solidFill>
              <a:srgbClr val="666666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i="1">
                <a:solidFill>
                  <a:srgbClr val="666666"/>
                </a:solidFill>
              </a:defRPr>
            </a:pPr>
            <a:r>
              <a:t>[FIGURA: proceso_atencion.png — pegar aquí]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83480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/>
            </a:pPr>
            <a:r>
              <a:t>• Absence of an analytical framework able to represent and support, in an integrated way, capacity-planning decisions under uncertainty.</a:t>
            </a:r>
          </a:p>
          <a:p>
            <a:pPr>
              <a:spcAft>
                <a:spcPts val="800"/>
              </a:spcAft>
              <a:defRPr sz="1500" b="1"/>
            </a:pPr>
            <a:r>
              <a:t>• Research question: how do I optimize this process so fewer patients wait?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The scene: modeling the gynecology macro-process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BPMN model of the system — the source of the five challenges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0332720" cy="4846320"/>
          </a:xfrm>
          <a:prstGeom prst="rect">
            <a:avLst/>
          </a:prstGeom>
          <a:solidFill>
            <a:srgbClr val="EEF2F7"/>
          </a:solidFill>
          <a:ln>
            <a:solidFill>
              <a:srgbClr val="666666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i="1">
                <a:solidFill>
                  <a:srgbClr val="666666"/>
                </a:solidFill>
              </a:defRPr>
            </a:pPr>
            <a:r>
              <a:t>[FIGURA: macro.png — pegar aquí]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The five main pillars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Challenges that emerge from the model — no off-the-shelf method handles all five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/>
            </a:pPr>
            <a:r>
              <a:t>• Stochastic demand: patient arrivals, no-shows, cancellations.</a:t>
            </a:r>
          </a:p>
          <a:p>
            <a:pPr>
              <a:spcAft>
                <a:spcPts val="800"/>
              </a:spcAft>
              <a:defRPr sz="1900" b="1"/>
            </a:pPr>
            <a:r>
              <a:t>• Mixed integer–continuous decision space.</a:t>
            </a:r>
          </a:p>
          <a:p>
            <a:pPr>
              <a:spcAft>
                <a:spcPts val="800"/>
              </a:spcAft>
              <a:defRPr sz="1900" b="1"/>
            </a:pPr>
            <a:r>
              <a:t>• Structural heteroscedastic noise.</a:t>
            </a:r>
          </a:p>
          <a:p>
            <a:pPr>
              <a:spcAft>
                <a:spcPts val="800"/>
              </a:spcAft>
              <a:defRPr sz="1900" b="1"/>
            </a:pPr>
            <a:r>
              <a:t>• Expensive evaluations.</a:t>
            </a:r>
          </a:p>
          <a:p>
            <a:pPr>
              <a:spcAft>
                <a:spcPts val="800"/>
              </a:spcAft>
              <a:defRPr sz="1900" b="1"/>
            </a:pPr>
            <a:r>
              <a:t>• No gradient available.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Fundamental pillars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/>
            </a:pPr>
            <a:r>
              <a:t>• DES is a central tool for representing patient flows, queues, operational rules (Monks &amp; Harper, 2025).</a:t>
            </a:r>
          </a:p>
          <a:p>
            <a:pPr>
              <a:spcAft>
                <a:spcPts val="800"/>
              </a:spcAft>
              <a:defRPr sz="1600" b="1"/>
            </a:pPr>
            <a:r>
              <a:t>• Simulation Optimization (SO): optimize a black-box stochastic objective via simulation (Amaran et al., 2016).</a:t>
            </a:r>
          </a:p>
          <a:p>
            <a:pPr>
              <a:spcAft>
                <a:spcPts val="800"/>
              </a:spcAft>
              <a:defRPr sz="1600" b="1"/>
            </a:pPr>
            <a:r>
              <a:t>• Derivative-Free Optimization (DFO): minimize when the gradient is unavailable (Conn et al., 2009).</a:t>
            </a:r>
          </a:p>
          <a:p>
            <a:pPr>
              <a:spcAft>
                <a:spcPts val="800"/>
              </a:spcAft>
              <a:defRPr sz="1600" b="1"/>
            </a:pPr>
            <a:r>
              <a:t>• Metaheuristics (SA, GA, OptQuest): common in healthcare SO but lack formal guarantees under heteroscedastic noise (Wang &amp; Demeulemeester, 2023; Nazri &amp; Yusoh, 2025).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The gap: nobody covers all five at once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The Methodological Gap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522514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73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Stochastic DES</a:t>
                      </a:r>
                    </a:p>
                  </a:txBody>
                  <a:tcPr>
                    <a:solidFill>
                      <a:srgbClr val="173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Hetero-scedasticity</a:t>
                      </a:r>
                    </a:p>
                  </a:txBody>
                  <a:tcPr>
                    <a:solidFill>
                      <a:srgbClr val="173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Mixed-integer</a:t>
                      </a:r>
                    </a:p>
                  </a:txBody>
                  <a:tcPr>
                    <a:solidFill>
                      <a:srgbClr val="173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Adaptive Repl.</a:t>
                      </a:r>
                    </a:p>
                  </a:txBody>
                  <a:tcPr>
                    <a:solidFill>
                      <a:srgbClr val="173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Conv. Guarantees</a:t>
                      </a:r>
                    </a:p>
                  </a:txBody>
                  <a:tcPr>
                    <a:solidFill>
                      <a:srgbClr val="173F8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DFO continuous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SO 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Surrogate-based (RF/GP)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✗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Surrogate-based (SK)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✗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Metaheuristics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✗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Proposed framework</a:t>
                      </a:r>
                    </a:p>
                  </a:txBody>
                  <a:tcPr>
                    <a:solidFill>
                      <a:srgbClr val="DDE6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DDE6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DDE6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DDE6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DDE6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DDE6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/>
            </a:pPr>
            <a:r>
              <a:t>• ✓ satisfies   ✗ does not satisfy   Partial = partial. The empty space is the gap this work targets.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The suspect: SMAC-SK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/>
            </a:pPr>
            <a:r>
              <a:t>• Design, formulate, and evaluate a prescriptive decision-support framework for capacity planning in Minimally Invasive Gynecology.</a:t>
            </a:r>
          </a:p>
          <a:p>
            <a:pPr>
              <a:spcAft>
                <a:spcPts val="800"/>
              </a:spcAft>
              <a:defRPr sz="1900" b="1"/>
            </a:pPr>
            <a:r>
              <a:t>• Given the methodological gap, the proposed instrument is SMAC-SK (SMAC with a Stochastic-Kriging surrogate) — my workhorse for the rest of the talk.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How SMAC-SK works: simulate → optimize → prescribe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Proposed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88720" y="2377440"/>
            <a:ext cx="2743200" cy="1737360"/>
          </a:xfrm>
          <a:prstGeom prst="roundRect">
            <a:avLst/>
          </a:prstGeom>
          <a:solidFill>
            <a:srgbClr val="EEF2F7"/>
          </a:solidFill>
          <a:ln w="27940">
            <a:solidFill>
              <a:srgbClr val="173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73F8A"/>
                </a:solidFill>
              </a:defRPr>
            </a:pPr>
            <a:r>
              <a:t>DES</a:t>
            </a:r>
            <a:br/>
            <a:r>
              <a:t>Evaluator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41605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</a:defRPr>
            </a:pPr>
            <a:r>
              <a:t>Black-box stochastic</a:t>
            </a:r>
            <a:br/>
            <a:r>
              <a:t>evaluator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2377440"/>
            <a:ext cx="2743200" cy="1737360"/>
          </a:xfrm>
          <a:prstGeom prst="roundRect">
            <a:avLst/>
          </a:prstGeom>
          <a:solidFill>
            <a:srgbClr val="E9F7EE"/>
          </a:solidFill>
          <a:ln w="27940">
            <a:solidFill>
              <a:srgbClr val="1A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A6B1A"/>
                </a:solidFill>
              </a:defRPr>
            </a:pPr>
            <a:r>
              <a:t>SMAC-SK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41605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</a:defRPr>
            </a:pPr>
            <a:r>
              <a:t>Core contribution</a:t>
            </a:r>
            <a:br/>
            <a:r>
              <a:t>(recommended method)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377440"/>
            <a:ext cx="2743200" cy="1737360"/>
          </a:xfrm>
          <a:prstGeom prst="roundRect">
            <a:avLst/>
          </a:prstGeom>
          <a:solidFill>
            <a:srgbClr val="EEF2F7"/>
          </a:solidFill>
          <a:ln w="27940">
            <a:solidFill>
              <a:srgbClr val="173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73F8A"/>
                </a:solidFill>
              </a:defRPr>
            </a:pPr>
            <a:r>
              <a:t>Prescriptive</a:t>
            </a:r>
            <a:br/>
            <a: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605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</a:defRPr>
            </a:pPr>
            <a:r>
              <a:t>Applied to</a:t>
            </a:r>
            <a:br/>
            <a:r>
              <a:t>CRS Cordillera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31920" y="3246120"/>
            <a:ext cx="777240" cy="0"/>
          </a:xfrm>
          <a:prstGeom prst="bentConnector3">
            <a:avLst/>
          </a:prstGeom>
          <a:ln w="38100">
            <a:solidFill>
              <a:srgbClr val="173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452360" y="3246120"/>
            <a:ext cx="777240" cy="0"/>
          </a:xfrm>
          <a:prstGeom prst="bentConnector3">
            <a:avLst/>
          </a:prstGeom>
          <a:ln w="38100">
            <a:solidFill>
              <a:srgbClr val="173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931920" y="27889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f(x) ± σ(x)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7889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optimal x*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Benchmark: 7 algorithms × 15 seeds, ~150 simulator evaluations, Common Random Numbers (CRN); incumbent re-evaluated n=50.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The levers we can actually pull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Specialist hour scheduling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solidFill>
            <a:srgbClr val="EEF2F7"/>
          </a:solidFill>
          <a:ln>
            <a:solidFill>
              <a:srgbClr val="666666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i="1">
                <a:solidFill>
                  <a:srgbClr val="666666"/>
                </a:solidFill>
              </a:defRPr>
            </a:pPr>
            <a:r>
              <a:t>[FIGURA: diagrama_prog.png — pegar aquí]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371600"/>
            <a:ext cx="5486400" cy="4572000"/>
          </a:xfrm>
          <a:prstGeom prst="rect">
            <a:avLst/>
          </a:prstGeom>
          <a:solidFill>
            <a:srgbClr val="EEF2F7"/>
          </a:solidFill>
          <a:ln>
            <a:solidFill>
              <a:srgbClr val="666666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i="1">
                <a:solidFill>
                  <a:srgbClr val="666666"/>
                </a:solidFill>
              </a:defRPr>
            </a:pPr>
            <a:r>
              <a:t>[FIGURA: grafico_dist_por.png — pegar aquí]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Caught: algorithms beat every manual policy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SMAC-SK (green star) is the recommended method</a:t>
            </a:r>
          </a:p>
        </p:txBody>
      </p:sp>
      <p:pic>
        <p:nvPicPr>
          <p:cNvPr id="3" name="Picture 2" descr="fig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37160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Who really differs? All-vs-all tests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Welch t-test, Holm-corrected — top algorithms are statistically tied</a:t>
            </a:r>
          </a:p>
        </p:txBody>
      </p:sp>
      <p:pic>
        <p:nvPicPr>
          <p:cNvPr id="3" name="Picture 2" descr="fig_pairwise_t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417320"/>
            <a:ext cx="921715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What SMAC-SK does differently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Parameter comparison</a:t>
            </a:r>
          </a:p>
        </p:txBody>
      </p:sp>
      <p:pic>
        <p:nvPicPr>
          <p:cNvPr id="3" name="Picture 2" descr="fig_variables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463040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The proof it was not luck: SK earns its place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Green = SMAC-SK; compare against SMAC without SK — the SK term drives the gain</a:t>
            </a:r>
          </a:p>
        </p:txBody>
      </p:sp>
      <p:pic>
        <p:nvPicPr>
          <p:cNvPr id="3" name="Picture 2" descr="fig_converg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613479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The price: why sample-efficiency matters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Computational cost</a:t>
            </a:r>
          </a:p>
        </p:txBody>
      </p:sp>
      <p:pic>
        <p:nvPicPr>
          <p:cNvPr id="3" name="Picture 2" descr="fig_tiempo_ex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1463040"/>
            <a:ext cx="7315200" cy="4064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Case closed — but the guarantees do not transfer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/>
            </a:pPr>
            <a:r>
              <a:t>• Main result: SMAC-SK reduced TTS from 263 to 177 days (−33%) while patients served rose from 1,148 to 2,179 (+90%).</a:t>
            </a:r>
          </a:p>
          <a:p>
            <a:pPr>
              <a:spcAft>
                <a:spcPts val="800"/>
              </a:spcAft>
              <a:defRPr sz="1500" b="1"/>
            </a:pPr>
            <a:r>
              <a:t>• No trade-off: algorithmic optimization Pareto-dominates all manual configurations — wait time and throughput improve simultaneously.</a:t>
            </a:r>
          </a:p>
          <a:p>
            <a:pPr>
              <a:spcAft>
                <a:spcPts val="800"/>
              </a:spcAft>
              <a:defRPr sz="1500" b="1"/>
            </a:pPr>
            <a:r>
              <a:t>• Existing guarantees do not transfer: all methods converge empirically, yet their asymptotic results assume homoscedastic noise and smoothness — both violated by the DES evaluator.</a:t>
            </a:r>
          </a:p>
          <a:p>
            <a:pPr>
              <a:spcAft>
                <a:spcPts val="800"/>
              </a:spcAft>
              <a:defRPr sz="1500" b="1"/>
            </a:pPr>
            <a:r>
              <a:t>• Open problem: no existing method natively handles structural heteroscedasticity with mixed-integer variables and formal convergence guarantees — the gap the doctoral work addresses.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The open case: theory the thesis will build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/>
            </a:pPr>
            <a:r>
              <a:t>• Algorithm design: a DFO method for mixed-integer variables with an adaptive replication-allocation mechanism driven by local variance estimation σ̂²(x).</a:t>
            </a:r>
          </a:p>
          <a:p>
            <a:pPr>
              <a:spcAft>
                <a:spcPts val="800"/>
              </a:spcAft>
              <a:defRPr sz="1800" b="1"/>
            </a:pPr>
            <a:r>
              <a:t>• Convergence theory: sufficient regularity conditions on the heteroscedastic noise structure under which almost-sure convergence to first-order stationary points is establishable.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73F8A"/>
                </a:solidFill>
              </a:defRPr>
            </a:pPr>
            <a:r>
              <a:t>Thank you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Raúl H. Araneda — raul.araneda@uc.cl   ·   IFORS 2026, Vienna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73F8A"/>
                </a:solidFill>
              </a:defRPr>
            </a:pPr>
            <a:r>
              <a:t>Appendix — Benchmark Methods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800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173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Surrogate</a:t>
                      </a:r>
                    </a:p>
                  </a:txBody>
                  <a:tcPr>
                    <a:solidFill>
                      <a:srgbClr val="173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Variables</a:t>
                      </a:r>
                    </a:p>
                  </a:txBody>
                  <a:tcPr>
                    <a:solidFill>
                      <a:srgbClr val="173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Heterosc.</a:t>
                      </a:r>
                    </a:p>
                  </a:txBody>
                  <a:tcPr>
                    <a:solidFill>
                      <a:srgbClr val="173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Adapt. Rep.</a:t>
                      </a:r>
                    </a:p>
                  </a:txBody>
                  <a:tcPr>
                    <a:solidFill>
                      <a:srgbClr val="173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Convergence</a:t>
                      </a:r>
                    </a:p>
                  </a:txBody>
                  <a:tcPr>
                    <a:solidFill>
                      <a:srgbClr val="173F8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SMAC-GP+EI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Gaussian Process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Asymptotic*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SMAC-RF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None (emp.)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SMAC-SK 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Stochastic Kriging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Part.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Asymptotic*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SK-Adaptive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Stochastic Kriging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Cont.†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Part.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Part.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Asymptotic*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SK-KGCP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Stochastic Kriging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Cont.†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Asymptotic*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SPSA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Cont.†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Asymptotic*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ASTRO-DF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Quadratic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Cont.†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Almost sure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/>
            </a:pPr>
            <a:r>
              <a:t>• * assumes homoscedastic noise — not satisfied here.   † integers via continuous relaxation + rounding.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