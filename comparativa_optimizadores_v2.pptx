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Comparativa de Algoritmos de Optimización
de Caja Negra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2000">
                <a:solidFill>
                  <a:srgbClr val="BDD7EE"/>
                </a:solidFill>
              </a:rPr>
              <a:t>Simulador DES Clínica de Ginecología — Módulos M4 a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1300">
                <a:solidFill>
                  <a:srgbClr val="9DC3E6"/>
                </a:solidFill>
              </a:rPr>
              <a:t>Mayo 2026  ·  Raúl Araneda  ·  Resultados combinados: Nube + PC 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Estado de Resultados por Módulo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Datos consolidados: Nube (M4–M10) + PC Raúl (M13, M14)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1325880"/>
          <a:ext cx="8988552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48840"/>
                <a:gridCol w="1143000"/>
                <a:gridCol w="914400"/>
                <a:gridCol w="868680"/>
                <a:gridCol w="1005840"/>
                <a:gridCol w="822960"/>
                <a:gridCol w="153619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Módulo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Algoritmo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Familia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Costo
(días)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Evaluaciones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M4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SMAC BlackBox GP+EI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205.17 ★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1.32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M7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SMAC + SK (EI)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Bayesiana-SK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217.76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2.55 h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M8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 Adaptativo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Bayesiana-SK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218.93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2.17 h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M9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SK-REVI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Bayesiana-SK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215.66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1.65 h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SK-KGCP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Bayesiana-SK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219.96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1.46 h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M11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ASTRO-DF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Trust-Region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✗ Sin datos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M12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STRONG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Trust-Region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✗ Sin datos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M13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SPSA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219.38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8.65 h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~300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M14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ALOE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270.73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69.5 h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~420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✗ Sin mejora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28600" y="6537960"/>
            <a:ext cx="117317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850">
                <a:solidFill>
                  <a:srgbClr val="808080"/>
                </a:solidFill>
              </a:rPr>
              <a:t>★ Mejor resultado global (−24% vs línea base ~270 días)  ·  M11/M12: proceso colapsó por limitación de recursos en nube  ·  M14: no mejoró línea base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Descripción del Problema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Optimización caja negra sobre simulador DES de Clínica de Ginecología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371600"/>
            <a:ext cx="64008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298448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F497D"/>
                </a:solidFill>
              </a:rPr>
              <a:t>Objetivo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Minimizar tts_full_days_mean: tiempo promedio total de espera (días) desde derivación hasta alta.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2697480"/>
            <a:ext cx="64008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624328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F497D"/>
                </a:solidFill>
              </a:rPr>
              <a:t>Variables de decisión (12)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cupos_eco_matrona, cupos_eco_ugd, cupos_lab_ugd, dias_publicacion,
horas_control_post, horas_especialista_1ra, num_agentes_ugd, num_matronas,
pct_bloqueo_1ra, pct_bloqueo_post_control, pct_consultas_vacias, pct_no_contactabilidad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4023360"/>
            <a:ext cx="64008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950208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F497D"/>
                </a:solidFill>
              </a:rPr>
              <a:t>Simulador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simulador_clinica_baseline.py — modelo DES estocástico (simpy). Cada evaluación ejecuta
2–3 réplicas aleatorias → función ruidosa de alta varianza σ²(x).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5349240"/>
            <a:ext cx="64008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5276088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F497D"/>
                </a:solidFill>
              </a:rPr>
              <a:t>Línea base vs mejor encontrado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Configuración real: ~270 días  →  M4 (SMAC GP+EI): 205.17 días  →  mejora del 24%
Hallazgo clave: reducir pct_bloqueo_1ra y pct_vacias de ~30% a ~5% equivale a duplicar capacidad efectiva.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Clasificación de Algoritmos y Referencias Bibliográficas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28600" y="1325880"/>
          <a:ext cx="9445752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011680"/>
                <a:gridCol w="1600200"/>
                <a:gridCol w="3931920"/>
                <a:gridCol w="130759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Módulo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Algoritmo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Familia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Referencia clave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Datos disponibles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M4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SMAC BlackBox (GP+EI)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 — GP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Hutter et al. 2011 (JAIR)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M7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SMAC + SK (EI)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 — 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Ankenman et al. 2010 + Hutter 2011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M8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 Adaptativo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 — 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Ankenman et al. 2010 (Management Sci.)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M9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SK-REVI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 — 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Quan et al. 2013 (IIE Trans.)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M10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SK-KGCP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 — SK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Scott et al. 2011 (Winter Sim.)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Nube</a:t>
                      </a:r>
                    </a:p>
                  </a:txBody>
                  <a:tcPr>
                    <a:solidFill>
                      <a:srgbClr val="C5DEF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M11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ASTRO-DF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Trust-Region (lin.)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Poloczek et al. 2017 (Winter Sim.)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✗ Pendiente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M12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STRONG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Trust-Region (cuad.)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Chang et al. 2013 (ACM TOMACS)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✗ Pendiente</a:t>
                      </a:r>
                    </a:p>
                  </a:txBody>
                  <a:tcPr>
                    <a:solidFill>
                      <a:srgbClr val="E2F0D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M13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SPSA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 estocástico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Spall 1992 (IEEE Trans. Autom. Control)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M14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ALOE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 estocástico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Rojas-Gonzalez &amp; Van Nieuwenhuyse 2020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✓ 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Parámetros de Configuración por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298448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M4 — SMAC BlackBox (GP+EI)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n_trials=20, seed=42
Surrogado: Gaussian Process (Matérn 5/2)
Adquisición: Expected Improvement (EI)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2368296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M7 — SMAC + SK (EI)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n_trials=20, seed=42
Surrogado: Stochastic Kriging heteroscedástico
Adquisición: EI con corrección de 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3438144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M8 — SK Adaptativo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n_trials=20, seed=42
Surrogado: SK con δ adaptativo por región
Adquisición: EI adaptativo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07992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M9 — SK-REVI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n_trials=20, seed=42, β=1.0
Surrogado: SK + Replicated EVI (REVI)
Adquisición: Expected Value of Information replicado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5577840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M10 — SK-KGCP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n_trials=20, seed=42
Surrogado: SK + Knowledge Gradient CP
Adquisición: KG look-ahead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5352" y="1298448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M11 — ASTRO-DF</a:t>
            </a:r>
          </a:p>
          <a:p>
            <a:pPr algn="l"/>
            <a:r>
              <a:rPr b="0" sz="900">
                <a:solidFill>
                  <a:srgbClr val="C55A11"/>
                </a:solidFill>
              </a:rPr>
              <a:t>max_iter=3, seed=42, Δ0=0.30
η1=0.10, γ1=2.0, γ2=0.50, κ=0.10, μ=1.0
n réplicas adaptativas (~30 por punto)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2368296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M12 — STRONG</a:t>
            </a:r>
          </a:p>
          <a:p>
            <a:pPr algn="l"/>
            <a:r>
              <a:rPr b="0" sz="900">
                <a:solidFill>
                  <a:srgbClr val="C55A11"/>
                </a:solidFill>
              </a:rPr>
              <a:t>max_iter=3, seed=42, Δ0=0.30
n0=10, n_r=10, η0=0.01, η1=0.30
Modelo cuadrático local con réplicas adaptativas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3438144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M13 — SPSA</a:t>
            </a:r>
          </a:p>
          <a:p>
            <a:pPr algn="l"/>
            <a:r>
              <a:rPr b="0" sz="900">
                <a:solidFill>
                  <a:srgbClr val="404040"/>
                </a:solidFill>
              </a:rPr>
              <a:t>max_iter=30, n_reps=5, seed=42
α=0.602, γ=0.101, a=0.10, A=10
Gradiente estimado con 2 evaluaciones por 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4507992"/>
            <a:ext cx="5760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497D"/>
                </a:solidFill>
              </a:rPr>
              <a:t>M14 — ALOE</a:t>
            </a:r>
          </a:p>
          <a:p>
            <a:pPr algn="l"/>
            <a:r>
              <a:rPr b="0" sz="900">
                <a:solidFill>
                  <a:srgbClr val="C55A11"/>
                </a:solidFill>
              </a:rPr>
              <a:t>max_iter=30, r=5, seed=42
θ=0.20, γ=0.80, α0=1.0, αmax=10, h=0.01
Gradiente simultáneo + Armijo (2d eval/iter)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Tabla Comparativa — Resultados Consolidados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Mejor costo encontrado por cada algoritmo (línea base: ~270 días)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1325880"/>
          <a:ext cx="8897112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48640"/>
                <a:gridCol w="2011680"/>
                <a:gridCol w="1143000"/>
                <a:gridCol w="1005840"/>
                <a:gridCol w="1005840"/>
                <a:gridCol w="868680"/>
                <a:gridCol w="1005840"/>
                <a:gridCol w="85039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Módulo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Algoritmo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Familia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Mejor Costo
(días)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vs Línea Base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Evaluaciones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M4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378648"/>
                          </a:solidFill>
                        </a:rPr>
                        <a:t>SMAC BlackBox (GP+EI)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205.17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1.32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M9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SK-REVI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215.66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−20.3%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1.65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M7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SMAC + SK (EI)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217.76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−19.6%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2.55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M8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 Adaptativo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218.93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−19.1%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2.17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M13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SPSA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219.38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−19.0%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8.65 h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~300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SK-KGCP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Bayesiana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219.96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−18.8%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1.46 h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Nube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M14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ALOE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Gradiente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270.73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378648"/>
                          </a:solidFill>
                        </a:rPr>
                        <a:t>−0.0%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69.5 h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~420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Raúl PC</a:t>
                      </a:r>
                    </a:p>
                  </a:txBody>
                  <a:tcPr>
                    <a:solidFill>
                      <a:srgbClr val="FDF0D0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M11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C00000"/>
                          </a:solidFill>
                        </a:rPr>
                        <a:t>ASTRO-DF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Trust-Region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M12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C00000"/>
                          </a:solidFill>
                        </a:rPr>
                        <a:t>STRONG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Trust-Region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0000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2880" y="6537960"/>
            <a:ext cx="118231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850">
                <a:solidFill>
                  <a:srgbClr val="808080"/>
                </a:solidFill>
              </a:rPr>
              <a:t>★ M4 mejor resultado global  ·  M11/M12 sin datos (colapso de recursos en nube, timeout)  ·  M14 no mejoró línea base (convergencia prematura)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Parámetros Óptimos (Incumbentes) — Algoritmos Bayesianos M4–M10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Configuración que minimizó tts_full_days_mean en cada módulo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1325880"/>
          <a:ext cx="11823192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920240"/>
                <a:gridCol w="1920240"/>
                <a:gridCol w="1920240"/>
                <a:gridCol w="1920240"/>
                <a:gridCol w="1920240"/>
              </a:tblGrid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</a:rPr>
                        <a:t>Parámetro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M4
(205.17 d)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M7
(217.76 d)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M8
(218.93 d)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M9
(215.66 d)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</a:rPr>
                        <a:t>M10
(219.96 d)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cupos_eco_mat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cupos_eco_ugd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cupos_lab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dias_pub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h_control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h_esp_1ra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agentes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matronas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pct_bloqueo_1ra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378648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pct_bloqueo_post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378648"/>
                          </a:solidFill>
                        </a:rPr>
                        <a:t>0.077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0.103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0.105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0.099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0.105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pct_vacias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378648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4448">
                <a:tc>
                  <a:txBody>
                    <a:bodyPr wrap="square"/>
                    <a:lstStyle/>
                    <a:p>
                      <a:pPr algn="l"/>
                      <a:r>
                        <a:rPr b="0" sz="900">
                          <a:solidFill>
                            <a:srgbClr val="404040"/>
                          </a:solidFill>
                        </a:rPr>
                        <a:t>pct_no_cont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378648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0.059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0.054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0.060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900">
                          <a:solidFill>
                            <a:srgbClr val="404040"/>
                          </a:solidFill>
                        </a:rPr>
                        <a:t>0.054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Parámetros Óptimos (Incumbentes) — Gradiente Estocástico M13/M14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Resultados de PC Raúl — max_iter=30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1371600"/>
          <a:ext cx="92354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108960"/>
                <a:gridCol w="3108960"/>
              </a:tblGrid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Parámetro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M13 SPSA
(219.38 días, Raúl PC)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M14 ALOE
(270.73 días — sin mejora)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cupos_eco_mat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cupos_eco_ugd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cupos_lab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dias_pub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h_control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h_esp_1ra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agentes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matronas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pct_bloqueo_1ra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55A11"/>
                          </a:solidFill>
                        </a:rPr>
                        <a:t>0.275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pct_bloqueo_post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55A11"/>
                          </a:solidFill>
                        </a:rPr>
                        <a:t>0.275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pct_vacias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55A11"/>
                          </a:solidFill>
                        </a:rPr>
                        <a:t>0.275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932">
                <a:tc>
                  <a:txBody>
                    <a:bodyPr wrap="square"/>
                    <a:lstStyle/>
                    <a:p>
                      <a:pPr algn="l"/>
                      <a:r>
                        <a:rPr b="0" sz="1000">
                          <a:solidFill>
                            <a:srgbClr val="404040"/>
                          </a:solidFill>
                        </a:rPr>
                        <a:t>pct_no_cont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404040"/>
                          </a:solidFill>
                        </a:rPr>
                        <a:t>0.050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000">
                          <a:solidFill>
                            <a:srgbClr val="C55A11"/>
                          </a:solidFill>
                        </a:rPr>
                        <a:t>0.275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2880" y="6537960"/>
            <a:ext cx="1182319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900">
                <a:solidFill>
                  <a:srgbClr val="C55A11"/>
                </a:solidFill>
              </a:rPr>
              <a:t>M14 ALOE: pct_bloqueo=27.5% — convergió a valores altos de bloqueo, no redujo ineficiencia. Algoritmo sensible a ruido elevado y alta dimensión.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Análisis de Incumbentes — Patrones Comunes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¿Qué variables mueven todos los algoritmos?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389888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horas_especialista_1ra = 16 h (máximo)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TODOS los módulos con buenos resultados fijan el especialista al máximo.
No es el cuello de botella — la eficiencia de esas horas sí lo 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76856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85415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pct_bloqueo_1ra → mínimo (~5%)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M4–M10 (Bayesianos) y M13 (SPSA) reducen bloqueo de primera consulta al mínimo.
Efecto: capacidad efectiva = 16×(1−0.05)×(1−0.05) = 14.4 h vs baseline 7.7 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163823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72383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pct_consultas_vacias → mínimo (~5%)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Misma lógica: eliminar slots vacíos multiplica la capacidad real disponible.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050791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959351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cupos_lab_ugd = 70–100 (alto)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Laboratorio no es cuello de botella pero requiere holgura para no bloquear flujo.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937759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846319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M14 ALOE: patrón anómalo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pct_bloqueo = 27.5% en todas las variables — convergencia prematura a un punto
de simetría artificial. Algoritmo inadecuado para este espacio de alta dimensión y ruido.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824727"/>
            <a:ext cx="64008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733287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M11/M12 Trust-Region: sin datos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No completaron ninguna iteración tras 4 horas en nube. Requieren ~2h por iteración
(n réplicas adaptativas ~30 por punto). Pendientes de ejecución en entorno más potente.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Gráficas de Convergencia — Módulos Bayesianos Nube (M4, M8, M9, M10)</a:t>
            </a:r>
          </a:p>
        </p:txBody>
      </p:sp>
      <p:pic>
        <p:nvPicPr>
          <p:cNvPr id="3" name="Picture 2" descr="resultado_comparativa_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5760720" cy="2697480"/>
          </a:xfrm>
          <a:prstGeom prst="rect">
            <a:avLst/>
          </a:prstGeom>
        </p:spPr>
      </p:pic>
      <p:pic>
        <p:nvPicPr>
          <p:cNvPr id="4" name="Picture 3" descr="resultado_comparativa_m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760720" cy="2697480"/>
          </a:xfrm>
          <a:prstGeom prst="rect">
            <a:avLst/>
          </a:prstGeom>
        </p:spPr>
      </p:pic>
      <p:pic>
        <p:nvPicPr>
          <p:cNvPr id="5" name="Picture 4" descr="resultado_comparativa_m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069080"/>
            <a:ext cx="5760720" cy="2697480"/>
          </a:xfrm>
          <a:prstGeom prst="rect">
            <a:avLst/>
          </a:prstGeom>
        </p:spPr>
      </p:pic>
      <p:pic>
        <p:nvPicPr>
          <p:cNvPr id="6" name="Picture 5" descr="resultado_comparativa_m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069080"/>
            <a:ext cx="576072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Gráficas de Convergencia — M13 SPSA y M14 ALOE (PC Raúl, max_iter=30)</a:t>
            </a:r>
          </a:p>
        </p:txBody>
      </p:sp>
      <p:pic>
        <p:nvPicPr>
          <p:cNvPr id="3" name="Picture 2" descr="resultado_comparativa_m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577840" cy="5212080"/>
          </a:xfrm>
          <a:prstGeom prst="rect">
            <a:avLst/>
          </a:prstGeom>
        </p:spPr>
      </p:pic>
      <p:pic>
        <p:nvPicPr>
          <p:cNvPr id="4" name="Picture 3" descr="resultado_comparativa_m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325880"/>
            <a:ext cx="5577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Comparativa de Convergencia — PC Raúl (M4 vs M13 vs M14)</a:t>
            </a:r>
          </a:p>
        </p:txBody>
      </p:sp>
      <p:pic>
        <p:nvPicPr>
          <p:cNvPr id="3" name="Picture 2" descr="comparativ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3312"/>
            <a:ext cx="11274552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Comparativa de Configuraciones Óptimas — PC Raúl (M4 vs M13 vs M14)</a:t>
            </a:r>
          </a:p>
        </p:txBody>
      </p:sp>
      <p:pic>
        <p:nvPicPr>
          <p:cNvPr id="3" name="Picture 2" descr="comparativa_configur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3312"/>
            <a:ext cx="11274552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Tabla Resumen — PC Raúl (M4, M13, M14)</a:t>
            </a:r>
          </a:p>
        </p:txBody>
      </p:sp>
      <p:pic>
        <p:nvPicPr>
          <p:cNvPr id="3" name="Picture 2" descr="comparativa_tabla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3312"/>
            <a:ext cx="11274552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Resultado Adicional — M10 HPO KGCP (PC Raúl)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Modo HPO con 100 evaluaciones: segundo mejor resultado global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389888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16736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Algoritmo</a:t>
            </a:r>
          </a:p>
          <a:p>
            <a:pPr algn="l"/>
            <a:r>
              <a:rPr b="0" sz="1050">
                <a:solidFill>
                  <a:srgbClr val="404040"/>
                </a:solidFill>
              </a:rPr>
              <a:t>SK-KGCP en modo HPO (Knowledge Gradient + Correlated Prior)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76856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03704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Costo incumbente</a:t>
            </a:r>
          </a:p>
          <a:p>
            <a:pPr algn="l"/>
            <a:r>
              <a:rPr b="0" sz="1050">
                <a:solidFill>
                  <a:srgbClr val="378648"/>
                </a:solidFill>
              </a:rPr>
              <a:t>212.03 días  ★  (segundo mejor resultado, solo superado por M4=205.17)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163824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90672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Tiempo total</a:t>
            </a:r>
          </a:p>
          <a:p>
            <a:pPr algn="l"/>
            <a:r>
              <a:rPr b="0" sz="1050">
                <a:solidFill>
                  <a:srgbClr val="404040"/>
                </a:solidFill>
              </a:rPr>
              <a:t>12.27 horas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050791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977639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Evaluaciones</a:t>
            </a:r>
          </a:p>
          <a:p>
            <a:pPr algn="l"/>
            <a:r>
              <a:rPr b="0" sz="1050">
                <a:solidFill>
                  <a:srgbClr val="404040"/>
                </a:solidFill>
              </a:rPr>
              <a:t>100 trials (vs 20 del modo estándar)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937759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864607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Diferencia vs M10 estándar (nube)</a:t>
            </a:r>
          </a:p>
          <a:p>
            <a:pPr algn="l"/>
            <a:r>
              <a:rPr b="0" sz="1050">
                <a:solidFill>
                  <a:srgbClr val="404040"/>
                </a:solidFill>
              </a:rPr>
              <a:t>M10 std: 219.96 días (20 eval, 1.46h)  →  HPO: 212.03 días (100 eval, 12.27h)
Más evaluaciones permiten al surrogado SK-KGCP mostrar su ventaja real.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824727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751575"/>
            <a:ext cx="1136599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Incumbente</a:t>
            </a:r>
          </a:p>
          <a:p>
            <a:pPr algn="l"/>
            <a:r>
              <a:rPr b="0" sz="1050">
                <a:solidFill>
                  <a:srgbClr val="404040"/>
                </a:solidFill>
              </a:rPr>
              <a:t>cupos_eco_mat=19, cupos_eco_ugd=21, cupos_lab=81, dias_pub=8
horas_control=50, h_esp_1ra=22, agentes=2, matronas=2
pct_bloqueo_1ra=0.151, pct_bloqueo_post=0.212, pct_vacias=0.215, pct_no_cont=0.446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Convergencia Detallada — M13 SPSA (PC Raúl, max_iter=30)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Historial completo: 31 evaluaciones incumbentes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53312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97280"/>
                <a:gridCol w="1188720"/>
                <a:gridCol w="822960"/>
                <a:gridCol w="731520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Iter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Costo eval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Incumbente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Observación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270.73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270.73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Punto inicial (centro espacio)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378648"/>
                          </a:solidFill>
                        </a:rPr>
                        <a:t>235.39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235.39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0.39h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Primera mejora: −13% de golpe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378648"/>
                          </a:solidFill>
                        </a:rPr>
                        <a:t>222.03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222.03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2.75h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Segunda mejora significativa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224.67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222.03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3.60h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Evaluación ruidosa, incumbente mantiene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378648"/>
                          </a:solidFill>
                        </a:rPr>
                        <a:t>219.38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378648"/>
                          </a:solidFill>
                        </a:rPr>
                        <a:t>219.38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6.28h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MEJOR ENCONTRADO: 219.38 días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242.74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378648"/>
                          </a:solidFill>
                        </a:rPr>
                        <a:t>219.38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1100">
                          <a:solidFill>
                            <a:srgbClr val="404040"/>
                          </a:solidFill>
                        </a:rPr>
                        <a:t>8.65h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b="0" sz="1100">
                          <a:solidFill>
                            <a:srgbClr val="404040"/>
                          </a:solidFill>
                        </a:rPr>
                        <a:t>Fin: evaluación ruidosa, incumbente 219.38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4663440"/>
            <a:ext cx="116403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1F497D"/>
                </a:solidFill>
              </a:rPr>
              <a:t>Análisis de convergencia SPSA: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• Alta varianza entre evaluaciones (rango: 219–320 días) — ruido del simulador domina la señal del gradiente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• El incumbente se actualiza solo en iteraciones 1, 10, 21 (3 de 30) — exploración ineficiente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• Tendencia decreciente del paso αk (0.142 → 0.065): el algoritmo reduce exploración con el tiempo</a:t>
            </a:r>
          </a:p>
          <a:p>
            <a:pPr algn="l"/>
            <a:r>
              <a:rPr b="0" sz="1100">
                <a:solidFill>
                  <a:srgbClr val="378648"/>
                </a:solidFill>
              </a:rPr>
              <a:t>• Resultado final: 219.38 días — mejora del 19% sobre línea base, en 8.65 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Diagnóstico — M14 ALOE: Por qué no mejoró (PC Raúl, max_iter=30)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armijo_ok=False en las 30 iteraciones — Armijo rechazó TODOS los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389888"/>
            <a:ext cx="64008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16736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0000"/>
                </a:solidFill>
              </a:rPr>
              <a:t>Síntoma observado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tts_full_days_mean = 270.73 días en TODAS las 30 iteraciones.
El incumbente nunca mejoró respecto al punto inicial.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468880"/>
            <a:ext cx="64008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395728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0000"/>
                </a:solidFill>
              </a:rPr>
              <a:t>Causa: Armijo siempre rechazado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ALOE usa búsqueda de línea de Armijo para aceptar/rechazar cada paso.
Condición: f(x + α·d) ≤ f(x) − c·α·‖d‖²
En las 30 iteraciones, armijo_ok=False SIEMPRE → α se redujo de 1.0 a 0.0012.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547872"/>
            <a:ext cx="64008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0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0000"/>
                </a:solidFill>
              </a:rPr>
              <a:t>Por qué falla Armijo aquí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El simulador DES es altamente estocástico (σ ≈ 20–40 días).
Cuando el ruido supera la mejora esperada del paso, Armijo lo rechaza por precaución.
Con 12 variables y ruido alto, la dirección de gradiente estimada es poco confiable.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626864"/>
            <a:ext cx="64008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53712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0000"/>
                </a:solidFill>
              </a:rPr>
              <a:t>Comparación: SPSA vs ALOE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SPSA acepta pasos aunque sean ruidosos → explora más, encuentra 219 días.
ALOE es más conservador (Armijo) → queda atrapado en el punto inicial.
Conclusión: en simuladores ruidosos de alta dimensión, SPSA supera a ALOE.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705855"/>
            <a:ext cx="64008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632703"/>
            <a:ext cx="11365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0000"/>
                </a:solidFill>
              </a:rPr>
              <a:t>Recomendación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ALOE es adecuado para funciones deterministas o bajo ruido (σ &lt; 5%).
Para este simulador (σ ≈ 15%), usar SPSA, ASTRO-DF, o métodos Bayesianos.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Módulos Pendientes de Ejecución — M11 y M12</a:t>
            </a:r>
          </a:p>
          <a:p>
            <a:pPr algn="l"/>
            <a:r>
              <a:rPr b="0" sz="1300">
                <a:solidFill>
                  <a:srgbClr val="BDD7EE"/>
                </a:solidFill>
              </a:rPr>
              <a:t>Trust-Region: ASTRO-DF y STRONG requieren entorno con mayor presupuesto de tiempo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371600"/>
            <a:ext cx="114300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1F497D"/>
                </a:solidFill>
              </a:rPr>
              <a:t>M11 — ASTRO-DF  (Poloczek et al. 2017)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Evaluación de x0: ~28 min (n≈30 réplicas adaptativas)
Cada iteración: ~28–40 min → 3 iteraciones ≈ 1.5 h mínimo
Motivo de fallo: pool de workers agotó RAM tras 4h de ejecución continua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0"/>
            <a:ext cx="114300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749039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1F497D"/>
                </a:solidFill>
              </a:rPr>
              <a:t>M12 — STRONG  (Chang et al. 2013)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Evaluación de x0: &gt;2 h (n0=10 puntos × n_r=10 réplicas = 100 evaluaciones)
Cada iteración: ~60–90 min → 3 iteraciones ≈ 4–5 h total
Motivo de fallo: nunca completó x0 en la sesión de nube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98932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C55A11"/>
                </a:solidFill>
              </a:rPr>
              <a:t>Recomendación: ejecutar en GitHub Actions (hasta 6h) o PC local con continuar_comparativa.py</a:t>
            </a:r>
          </a:p>
          <a:p>
            <a:pPr algn="l"/>
            <a:r>
              <a:rPr b="0" sz="1100">
                <a:solidFill>
                  <a:srgbClr val="404040"/>
                </a:solidFill>
              </a:rPr>
              <a:t>El script detecta M4–M10, M13, M14 ya completados y corre solo M11 y M12.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lIns="274320"/>
          <a:lstStyle/>
          <a:p>
            <a:pPr algn="l"/>
            <a:r>
              <a:rPr b="1" sz="240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389888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16736"/>
            <a:ext cx="113659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Mejor resultado: M4 SMAC GP+EI (205.17 días, −24%)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Con solo 20 evaluaciones y ~1.3 h, el algoritmo más simple entregó la mejor solución.
Surrogado GP+EI es el más adecuado para 12 variables con ruido alto.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322576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3659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Algoritmos Bayesianos (M4–M10): todos convergen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Rango 205–220 días. Las variantes SK (M7–M10) no superan a GP básico (M4),
sugeriendo que el ruido del simulador limita la ventaja de modelos más sofisticados.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255264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182112"/>
            <a:ext cx="113659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Gradiente estocástico: SPSA funciona, ALOE no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M13 SPSA: 219.38 días con 30 iteraciones (~8.65 h) — solución razonable.
M14 ALOE: 270.73 días — sin mejora tras 69.5 h. Inadecuado para alta dimensión y ruido.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187952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114800"/>
            <a:ext cx="113659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Trust-Region (M11/M12): pendientes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Requieren 4–6 h por ejecución. No completaron en entorno nube (timeout + OOM).
Pendientes de ejecutar en PC local o GitHub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120640"/>
            <a:ext cx="64008" cy="5486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047488"/>
            <a:ext cx="113659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497D"/>
                </a:solidFill>
              </a:rPr>
              <a:t>Hallazgo clave: eficiencia de slots &gt; dotación</a:t>
            </a:r>
          </a:p>
          <a:p>
            <a:pPr algn="l"/>
            <a:r>
              <a:rPr b="0" sz="1000">
                <a:solidFill>
                  <a:srgbClr val="404040"/>
                </a:solidFill>
              </a:rPr>
              <a:t>La palanca real es pct_bloqueo_1ra y pct_consultas_vacias (0.05 vs 0.30 baseline).
Reducirlos de 30% a 5% equivale a duplicar capacidad efectiva del especialista.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