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600">
                <a:solidFill>
                  <a:srgbClr val="FFFFFF"/>
                </a:solidFill>
              </a:rPr>
              <a:t>Comparativa de Algoritmos de Optimización
de Caja Negra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0" sz="2000">
                <a:solidFill>
                  <a:srgbClr val="BDD7EE"/>
                </a:solidFill>
              </a:rPr>
              <a:t>Simulador DES Clínica de Ginecología — Módulos M4 a M14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0" sz="1400">
                <a:solidFill>
                  <a:srgbClr val="9DC3E6"/>
                </a:solidFill>
              </a:rPr>
              <a:t>Mayo 2026  ·  Raúl Araneda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Contenido de la 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F497D"/>
                </a:solidFill>
              </a:rPr>
              <a:t>1.  Descripción del problema y simulador</a:t>
            </a:r>
          </a:p>
          <a:p>
            <a:pPr algn="l"/>
            <a:r>
              <a:rPr b="0" sz="1500">
                <a:solidFill>
                  <a:srgbClr val="404040"/>
                </a:solidFill>
              </a:rPr>
              <a:t>2.  Clasificación y referencias de algoritmos (M4–M14)</a:t>
            </a:r>
          </a:p>
          <a:p>
            <a:pPr algn="l"/>
            <a:r>
              <a:rPr b="0" sz="1500">
                <a:solidFill>
                  <a:srgbClr val="404040"/>
                </a:solidFill>
              </a:rPr>
              <a:t>3.  Parámetros de configuración por módulo</a:t>
            </a:r>
          </a:p>
          <a:p>
            <a:pPr algn="l"/>
            <a:r>
              <a:rPr b="0" sz="1500">
                <a:solidFill>
                  <a:srgbClr val="404040"/>
                </a:solidFill>
              </a:rPr>
              <a:t>4.  Resultados: métricas de desempeño (costo y tiempo)</a:t>
            </a:r>
          </a:p>
          <a:p>
            <a:pPr algn="l"/>
            <a:r>
              <a:rPr b="0" sz="1500">
                <a:solidFill>
                  <a:srgbClr val="404040"/>
                </a:solidFill>
              </a:rPr>
              <a:t>5.  Parámetros óptimos encontrados (incumbentes)</a:t>
            </a:r>
          </a:p>
          <a:p>
            <a:pPr algn="l"/>
            <a:r>
              <a:rPr b="0" sz="1500">
                <a:solidFill>
                  <a:srgbClr val="404040"/>
                </a:solidFill>
              </a:rPr>
              <a:t>6.  Gráficas de convergencia individuales</a:t>
            </a:r>
          </a:p>
          <a:p>
            <a:pPr algn="l"/>
            <a:r>
              <a:rPr b="0" sz="1500">
                <a:solidFill>
                  <a:srgbClr val="404040"/>
                </a:solidFill>
              </a:rPr>
              <a:t>7.  Gráficas comparativas (resultados Raúl PC)</a:t>
            </a:r>
          </a:p>
          <a:p>
            <a:pPr algn="l"/>
            <a:r>
              <a:rPr b="0" sz="1500">
                <a:solidFill>
                  <a:srgbClr val="404040"/>
                </a:solidFill>
              </a:rPr>
              <a:t>8.  Discusión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Descripción del Problema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Optimización caja negra sobre simulador de eventos discretos (DES)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280160"/>
            <a:ext cx="73152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39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F497D"/>
                </a:solidFill>
              </a:rPr>
              <a:t>Objetivo</a:t>
            </a:r>
          </a:p>
          <a:p>
            <a:pPr algn="l"/>
            <a:r>
              <a:rPr b="0" sz="1100">
                <a:solidFill>
                  <a:srgbClr val="404040"/>
                </a:solidFill>
              </a:rPr>
              <a:t>Minimizar tts_full_days_mean: tiempo promedio total de espera (días) de pacientes
desde derivación hasta alta en la Clínica de Ginecología.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73152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F497D"/>
                </a:solidFill>
              </a:rPr>
              <a:t>Variables de decisión (12)</a:t>
            </a:r>
          </a:p>
          <a:p>
            <a:pPr algn="l"/>
            <a:r>
              <a:rPr b="0" sz="1100">
                <a:solidFill>
                  <a:srgbClr val="404040"/>
                </a:solidFill>
              </a:rPr>
              <a:t>cupos_eco_mat, cupos_eco_ugd, cupos_lab_ugd, dias_publicacion, horas_control_post,
horas_especialista_1ra, num_agentes_ugd, num_matronas,
pct_bloqueo_1ra, pct_bloqueo_post, pct_consultas_vacias, pct_no_contactabilidad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840479"/>
            <a:ext cx="73152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94759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F497D"/>
                </a:solidFill>
              </a:rPr>
              <a:t>Simulador</a:t>
            </a:r>
          </a:p>
          <a:p>
            <a:pPr algn="l"/>
            <a:r>
              <a:rPr b="0" sz="1100">
                <a:solidFill>
                  <a:srgbClr val="404040"/>
                </a:solidFill>
              </a:rPr>
              <a:t>simulador_clinica_baseline.py — modelo DES estocástico (simpy).
Cada evaluación: 2–3 réplicas con semillas aleatorias → ruido alto σ²(x).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120640"/>
            <a:ext cx="73152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F497D"/>
                </a:solidFill>
              </a:rPr>
              <a:t>Línea base</a:t>
            </a:r>
          </a:p>
          <a:p>
            <a:pPr algn="l"/>
            <a:r>
              <a:rPr b="0" sz="1100">
                <a:solidFill>
                  <a:srgbClr val="404040"/>
                </a:solidFill>
              </a:rPr>
              <a:t>Configuración real de la clínica: tts_full_days_mean ≈ 270 días.
Mejora potencial con optimización: hasta ~205 días (M4, −24 %).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Clasificación de Algoritmos y Referencias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Módulos M4–M14 organizados por familia metodológica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25880"/>
          <a:ext cx="94183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103120"/>
                <a:gridCol w="1920240"/>
                <a:gridCol w="4754880"/>
              </a:tblGrid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Módulo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Algoritmo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Referencia clave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M4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SMAC BlackBox (GP+EI)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 — GP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Hutter et al. 2011 (JAIR)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SMAC + SK (EI)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 — SK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Ankenman et al. 2010 + Hutter 2011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SK Adaptativo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 — SK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Ankenman et al. 2010 (Management Sci.)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SK-REVI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 — SK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Quan et al. 2013 (IIE Trans.)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M10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SK-KGCP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 — SK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Scott et al. 2011 (Winter Sim.)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M11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ASTRO-DF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Trust-Region (lineal)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Poloczek et al. 2017 (Winter Sim.)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M12</a:t>
                      </a:r>
                    </a:p>
                  </a:txBody>
                  <a:tcPr>
                    <a:solidFill>
                      <a:srgbClr val="D5E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STRONG</a:t>
                      </a:r>
                    </a:p>
                  </a:txBody>
                  <a:tcPr>
                    <a:solidFill>
                      <a:srgbClr val="D5E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Trust-Region (cuadr.)</a:t>
                      </a:r>
                    </a:p>
                  </a:txBody>
                  <a:tcPr>
                    <a:solidFill>
                      <a:srgbClr val="D5EB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Chang et al. 2013 (ACM TOMACS)</a:t>
                      </a:r>
                    </a:p>
                  </a:txBody>
                  <a:tcPr>
                    <a:solidFill>
                      <a:srgbClr val="D5EBCB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M13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SPSA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Gradiente estocástico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Spall 1992 (IEEE Trans. Autom. Control)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M14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ALOE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Gradiente estocástico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Rojas-Gonzalez &amp; Van Nieuwenhuyse 2020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Parámetros de Configuración por Módulo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Hiperparámetros utilizados en cada algoritmo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5760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497D"/>
                </a:solidFill>
              </a:rPr>
              <a:t>M4 — SMAC BlackBox (GP+EI)</a:t>
            </a:r>
          </a:p>
          <a:p>
            <a:pPr algn="l"/>
            <a:r>
              <a:rPr b="0" sz="900">
                <a:solidFill>
                  <a:srgbClr val="404040"/>
                </a:solidFill>
              </a:rPr>
              <a:t>n_trials=20, seed=42
Surrogado: Gaussian Process (kernel Matérn 5/2)
Adquisición: Expected Improvement (EI)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423160"/>
            <a:ext cx="5760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497D"/>
                </a:solidFill>
              </a:rPr>
              <a:t>M7 — SMAC + SK (EI)</a:t>
            </a:r>
          </a:p>
          <a:p>
            <a:pPr algn="l"/>
            <a:r>
              <a:rPr b="0" sz="900">
                <a:solidFill>
                  <a:srgbClr val="404040"/>
                </a:solidFill>
              </a:rPr>
              <a:t>n_trials=20, seed=42
Surrogado: Stochastic Kriging heteroscedástico
Adquisición: EI con corrección de ruido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5760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497D"/>
                </a:solidFill>
              </a:rPr>
              <a:t>M8 — SK Adaptativo</a:t>
            </a:r>
          </a:p>
          <a:p>
            <a:pPr algn="l"/>
            <a:r>
              <a:rPr b="0" sz="900">
                <a:solidFill>
                  <a:srgbClr val="404040"/>
                </a:solidFill>
              </a:rPr>
              <a:t>n_trials=20, seed=42
Surrogado: SK con δ adaptativo por región
Adquisición: EI adaptativo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26279"/>
            <a:ext cx="5760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497D"/>
                </a:solidFill>
              </a:rPr>
              <a:t>M9 — SK-REVI</a:t>
            </a:r>
          </a:p>
          <a:p>
            <a:pPr algn="l"/>
            <a:r>
              <a:rPr b="0" sz="900">
                <a:solidFill>
                  <a:srgbClr val="404040"/>
                </a:solidFill>
              </a:rPr>
              <a:t>n_trials=20, seed=42, β=1.0
Surrogado: SK + Replicated EVI (REVI)
Adquisición: Expected Value of Information replicado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577840"/>
            <a:ext cx="5760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497D"/>
                </a:solidFill>
              </a:rPr>
              <a:t>M10 — SK-KGCP</a:t>
            </a:r>
          </a:p>
          <a:p>
            <a:pPr algn="l"/>
            <a:r>
              <a:rPr b="0" sz="900">
                <a:solidFill>
                  <a:srgbClr val="404040"/>
                </a:solidFill>
              </a:rPr>
              <a:t>n_trials=20, seed=42
Surrogado: SK + Knowledge Gradient Correlated Prior
Adquisición: KG look-ahead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371600"/>
            <a:ext cx="5760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497D"/>
                </a:solidFill>
              </a:rPr>
              <a:t>M11 — ASTRO-DF</a:t>
            </a:r>
          </a:p>
          <a:p>
            <a:pPr algn="l"/>
            <a:r>
              <a:rPr b="0" sz="900">
                <a:solidFill>
                  <a:srgbClr val="404040"/>
                </a:solidFill>
              </a:rPr>
              <a:t>max_iter=3, seed=42, Δ0=0.30
η1=0.10, γ1=2.0, γ2=0.50, κ=0.10, μ=1.0
n réplicas adaptativas (~30 por punto)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23160"/>
            <a:ext cx="5760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497D"/>
                </a:solidFill>
              </a:rPr>
              <a:t>M12 — STRONG</a:t>
            </a:r>
          </a:p>
          <a:p>
            <a:pPr algn="l"/>
            <a:r>
              <a:rPr b="0" sz="900">
                <a:solidFill>
                  <a:srgbClr val="404040"/>
                </a:solidFill>
              </a:rPr>
              <a:t>max_iter=3, seed=42, Δ0=0.30
n0=10, n_r=10, η0=0.01, η1=0.30
Modelo cuadrático local con réplicas adaptativas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474720"/>
            <a:ext cx="5760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497D"/>
                </a:solidFill>
              </a:rPr>
              <a:t>M13 — SPSA</a:t>
            </a:r>
          </a:p>
          <a:p>
            <a:pPr algn="l"/>
            <a:r>
              <a:rPr b="0" sz="900">
                <a:solidFill>
                  <a:srgbClr val="404040"/>
                </a:solidFill>
              </a:rPr>
              <a:t>max_iter=30, n_reps=5, seed=42
α=0.602, γ=0.101, a=0.10, A=10
Gradiente estimado con 2 evaluaciones por 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526279"/>
            <a:ext cx="5760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>
                <a:solidFill>
                  <a:srgbClr val="1F497D"/>
                </a:solidFill>
              </a:rPr>
              <a:t>M14 — ALOE</a:t>
            </a:r>
          </a:p>
          <a:p>
            <a:pPr algn="l"/>
            <a:r>
              <a:rPr b="0" sz="900">
                <a:solidFill>
                  <a:srgbClr val="404040"/>
                </a:solidFill>
              </a:rPr>
              <a:t>max_iter=30, r=5, seed=42
θ=0.20, γ=0.80, α0=1.0, αmax=10, εf=1.0, h=0.01
Gradiente simultáneo + Armijo (2d eval/iter)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Resultados — Entorno Nube (Servidor Cloud)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n_trials=20, max_iter=3, seed=42, n_corridas=2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25880"/>
          <a:ext cx="84124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1188720"/>
                <a:gridCol w="1280160"/>
                <a:gridCol w="1005840"/>
                <a:gridCol w="731520"/>
                <a:gridCol w="1417320"/>
              </a:tblGrid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Módulo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Algoritmo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Mejor Costo
(días)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Tiempo
(h)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Eval.
(n)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M4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SMAC BlackBox GP+EI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378648"/>
                          </a:solidFill>
                        </a:rPr>
                        <a:t>205.17 ★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1.32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✓ Converge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SMAC + SK (EI)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217.76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2.55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✓ Converge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SK Adaptativo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218.93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2.17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✓ Converge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SK-REVI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215.66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1.65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✓ Converge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M10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SK-KGCP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Bayesiana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219.96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1.46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✓ Converge</a:t>
                      </a:r>
                    </a:p>
                  </a:txBody>
                  <a:tcPr>
                    <a:solidFill>
                      <a:srgbClr val="C5DEF2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M11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ASTRO-DF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Trust-Reg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en curso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⏳ Corriendo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M12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STRONG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Trust-Reg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en curso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⏳ Corriendo</a:t>
                      </a:r>
                    </a:p>
                  </a:txBody>
                  <a:tcPr>
                    <a:solidFill>
                      <a:srgbClr val="E2F0D9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M13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SPSA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Gradiente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en curso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⏳ Corriendo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M14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00">
                          <a:solidFill>
                            <a:srgbClr val="404040"/>
                          </a:solidFill>
                        </a:rPr>
                        <a:t>ALOE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Gradiente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en curso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00">
                          <a:solidFill>
                            <a:srgbClr val="404040"/>
                          </a:solidFill>
                        </a:rPr>
                        <a:t>⏳ Corriendo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>
                <a:solidFill>
                  <a:srgbClr val="404040"/>
                </a:solidFill>
              </a:rPr>
              <a:t>★ Mejor resultado global  ·  Línea base: ~270 días  ·  Módulos M11–M14 en ejecución al momento de esta presentación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Resultados — Máquina Local (PC Raúl)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seed=42, n_corridas=3, max_iter=30 — mayor presupuesto de iteraciones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17320"/>
          <a:ext cx="8686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77440"/>
                <a:gridCol w="1188720"/>
                <a:gridCol w="1371600"/>
                <a:gridCol w="1188720"/>
                <a:gridCol w="192024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Módulo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Algoritmo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Familia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Mejor Costo
(días)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Tiempo (h)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max_iter / n_trials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M4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SMAC BlackBox GP+EI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Bayesiana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230.80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3.09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n_trials=20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M13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SPSA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Gradiente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219.38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8.65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max_iter=30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M14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ALOE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Gradiente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270.73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69.5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max_iter=30</a:t>
                      </a:r>
                    </a:p>
                  </a:txBody>
                  <a:tcPr>
                    <a:solidFill>
                      <a:srgbClr val="FDF0D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0233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1F497D"/>
                </a:solidFill>
              </a:rPr>
              <a:t>¿Por qué difieren con la nube?</a:t>
            </a:r>
          </a:p>
          <a:p>
            <a:pPr algn="l"/>
            <a:r>
              <a:rPr b="0" sz="1100">
                <a:solidFill>
                  <a:srgbClr val="404040"/>
                </a:solidFill>
              </a:rPr>
              <a:t>• Estocástico por diseño: el simulador DES no tiene seed fija → cada réplica genera resultados diferentes</a:t>
            </a:r>
          </a:p>
          <a:p>
            <a:pPr algn="l"/>
            <a:r>
              <a:rPr b="0" sz="1100">
                <a:solidFill>
                  <a:srgbClr val="404040"/>
                </a:solidFill>
              </a:rPr>
              <a:t>• n_corridas distinto: nube=2 réplicas/eval vs Raúl=3 réplicas/eval → estimados de costo distintos</a:t>
            </a:r>
          </a:p>
          <a:p>
            <a:pPr algn="l"/>
            <a:r>
              <a:rPr b="0" sz="1100">
                <a:solidFill>
                  <a:srgbClr val="404040"/>
                </a:solidFill>
              </a:rPr>
              <a:t>• max_iter distinto: nube=3 (demo) vs Raúl=30 (completo) → más exploración del espacio en PC local</a:t>
            </a:r>
          </a:p>
          <a:p>
            <a:pPr algn="l"/>
            <a:r>
              <a:rPr b="0" sz="1100">
                <a:solidFill>
                  <a:srgbClr val="C55A11"/>
                </a:solidFill>
              </a:rPr>
              <a:t>• M14 (ALOE) no mejora la línea base: convergencia prematura en espacio de alta dimensión y ruido elevado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Parámetros Óptimos Encontrados — Módulos SMAC (M4–M10)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Configuración incumbente al finalizar cada algoritmo bayesiano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325880"/>
          <a:ext cx="11731752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552"/>
                <a:gridCol w="1920240"/>
                <a:gridCol w="1920240"/>
                <a:gridCol w="1920240"/>
                <a:gridCol w="1920240"/>
                <a:gridCol w="1920240"/>
              </a:tblGrid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</a:rPr>
                        <a:t>Parámetro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M4
(205.17 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M7
(217.76 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M8
(218.93 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M9
(215.66 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M10
(219.96 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cupos_eco_mat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cupos_eco_ugd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cupos_lab_ugd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dias_pub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h_control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h_esp_1ra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agentes_ugd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matronas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pct_bloqueo_1ra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378648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pct_bloqueo_post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378648"/>
                          </a:solidFill>
                        </a:rPr>
                        <a:t>0.077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0.103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0.105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0.099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0.105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404446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pct_vacias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378648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448">
                <a:tc>
                  <a:txBody>
                    <a:bodyPr wrap="square"/>
                    <a:lstStyle/>
                    <a:p>
                      <a:pPr algn="l"/>
                      <a:r>
                        <a:rPr b="0" sz="900">
                          <a:solidFill>
                            <a:srgbClr val="404040"/>
                          </a:solidFill>
                        </a:rPr>
                        <a:t>pct_no_cont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378648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0.059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0.054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0.060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00">
                          <a:solidFill>
                            <a:srgbClr val="404040"/>
                          </a:solidFill>
                        </a:rPr>
                        <a:t>0.054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Parámetros Óptimos — Módulos Gradiente Estocástico (Raúl PC)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M13 (SPSA) y M14 (ALOE) con max_iter=30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417320"/>
          <a:ext cx="896112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971800"/>
                <a:gridCol w="2971800"/>
              </a:tblGrid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Parámetro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M13 SPSA
(219.38 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M14 ALOE
(270.73 d)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cupos_eco_mat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cupos_eco_ugd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cupos_lab_ugd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dias_pub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h_control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h_esp_1ra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agentes_ugd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matronas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pct_bloqueo_1ra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0.275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pct_bloqueo_post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0.275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  <a:tr h="39741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pct_vacias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0.275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7416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404040"/>
                          </a:solidFill>
                        </a:rPr>
                        <a:t>pct_no_cont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0.050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404040"/>
                          </a:solidFill>
                        </a:rPr>
                        <a:t>0.275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>
                <a:solidFill>
                  <a:srgbClr val="C55A11"/>
                </a:solidFill>
              </a:rPr>
              <a:t>M14 ALOE no mejoró la línea base (~270 días): convergencia prematura por ruido elevado del simulador y alta dimensionalidad.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Gráficas de Convergencia Individuales — Nube (M4, M8, M9, M10)</a:t>
            </a:r>
          </a:p>
        </p:txBody>
      </p:sp>
      <p:pic>
        <p:nvPicPr>
          <p:cNvPr id="3" name="Picture 2" descr="resultado_comparativa_m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25880"/>
            <a:ext cx="5760720" cy="2697480"/>
          </a:xfrm>
          <a:prstGeom prst="rect">
            <a:avLst/>
          </a:prstGeom>
        </p:spPr>
      </p:pic>
      <p:pic>
        <p:nvPicPr>
          <p:cNvPr id="4" name="Picture 3" descr="resultado_comparativa_m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760720" cy="2697480"/>
          </a:xfrm>
          <a:prstGeom prst="rect">
            <a:avLst/>
          </a:prstGeom>
        </p:spPr>
      </p:pic>
      <p:pic>
        <p:nvPicPr>
          <p:cNvPr id="5" name="Picture 4" descr="resultado_comparativa_m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069080"/>
            <a:ext cx="5760720" cy="2697480"/>
          </a:xfrm>
          <a:prstGeom prst="rect">
            <a:avLst/>
          </a:prstGeom>
        </p:spPr>
      </p:pic>
      <p:pic>
        <p:nvPicPr>
          <p:cNvPr id="6" name="Picture 5" descr="resultado_comparativa_m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069080"/>
            <a:ext cx="576072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Gráficas de Convergencia — PC Raúl (M13 SPSA, M14 ALOE)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max_iter=30</a:t>
            </a:r>
          </a:p>
        </p:txBody>
      </p:sp>
      <p:pic>
        <p:nvPicPr>
          <p:cNvPr id="3" name="Picture 2" descr="resultado_comparativa_m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577840" cy="5212080"/>
          </a:xfrm>
          <a:prstGeom prst="rect">
            <a:avLst/>
          </a:prstGeom>
        </p:spPr>
      </p:pic>
      <p:pic>
        <p:nvPicPr>
          <p:cNvPr id="4" name="Picture 3" descr="resultado_comparativa_m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5778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Gráfica Comparativa — Convergencia (PC Raúl)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M4 vs M13 vs M14</a:t>
            </a:r>
          </a:p>
        </p:txBody>
      </p:sp>
      <p:pic>
        <p:nvPicPr>
          <p:cNvPr id="3" name="Picture 2" descr="comparativa_converg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Gráfica Comparativa — Configuraciones Óptimas (PC Raúl)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M4 vs M13 vs M14</a:t>
            </a:r>
          </a:p>
        </p:txBody>
      </p:sp>
      <p:pic>
        <p:nvPicPr>
          <p:cNvPr id="3" name="Picture 2" descr="comparativa_configur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Tabla Resumen Comparativa (PC Raúl)</a:t>
            </a:r>
          </a:p>
          <a:p>
            <a:pPr algn="l"/>
            <a:r>
              <a:rPr b="0" sz="1400">
                <a:solidFill>
                  <a:srgbClr val="BDD7EE"/>
                </a:solidFill>
              </a:rPr>
              <a:t>Resumen visual generado por modulo_comparativa_caja_negra.py</a:t>
            </a:r>
          </a:p>
        </p:txBody>
      </p:sp>
      <p:pic>
        <p:nvPicPr>
          <p:cNvPr id="3" name="Picture 2" descr="comparativa_tabla_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lIns="274320"/>
          <a:lstStyle/>
          <a:p>
            <a:pPr algn="l"/>
            <a:r>
              <a:rPr b="1" sz="2400">
                <a:solidFill>
                  <a:srgbClr val="FFFFFF"/>
                </a:solidFill>
              </a:rPr>
              <a:t>Discusión y Conclusiones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371600"/>
            <a:ext cx="731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497D"/>
                </a:solidFill>
              </a:rPr>
              <a:t>Mejor resultado global</a:t>
            </a:r>
          </a:p>
          <a:p>
            <a:pPr algn="l"/>
            <a:r>
              <a:rPr b="0" sz="1000">
                <a:solidFill>
                  <a:srgbClr val="404040"/>
                </a:solidFill>
              </a:rPr>
              <a:t>M4 (SMAC GP+EI): 205.17 días, reducción del 24% respecto a la línea base (~270 días).
Presupuesto: solo 20 evaluaciones (~1.3 h).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86000"/>
            <a:ext cx="731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497D"/>
                </a:solidFill>
              </a:rPr>
              <a:t>Métodos Bayesianos (M4–M10)</a:t>
            </a:r>
          </a:p>
          <a:p>
            <a:pPr algn="l"/>
            <a:r>
              <a:rPr b="0" sz="1000">
                <a:solidFill>
                  <a:srgbClr val="404040"/>
                </a:solidFill>
              </a:rPr>
              <a:t>Todos convergen con n_trials=20. M4 supera a variantes SK pese a su mayor simplicidad.
M7–M10 muestran desempeño similar (~216–220 días), sugiriendo que el ruido del simulador
limita la ventaja de surrogados más sofisticados.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200400"/>
            <a:ext cx="731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497D"/>
                </a:solidFill>
              </a:rPr>
              <a:t>Trust-Region (M11 ASTRO-DF, M12 STRONG)</a:t>
            </a:r>
          </a:p>
          <a:p>
            <a:pPr algn="l"/>
            <a:r>
              <a:rPr b="0" sz="1000">
                <a:solidFill>
                  <a:srgbClr val="404040"/>
                </a:solidFill>
              </a:rPr>
              <a:t>Costo computacional alto: ~2 h solo para evaluar x₀ (n≈30 réplicas adaptativas).
Adecuados para problemas con menor ruido o mayor presupuesto de simulación.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114800"/>
            <a:ext cx="731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0690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497D"/>
                </a:solidFill>
              </a:rPr>
              <a:t>Gradiente estocástico (M13 SPSA, M14 ALOE)</a:t>
            </a:r>
          </a:p>
          <a:p>
            <a:pPr algn="l"/>
            <a:r>
              <a:rPr b="0" sz="1000">
                <a:solidFill>
                  <a:srgbClr val="404040"/>
                </a:solidFill>
              </a:rPr>
              <a:t>SPSA converge a ~219 días con 30 iteraciones (~8.65 h). ALOE no mejora la línea
base (270 días, 69.5 h): sensible al ruido alto y alta dimensión (12 variables).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731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497D"/>
                </a:solidFill>
              </a:rPr>
              <a:t>Hallazgo clave — variables de decisión</a:t>
            </a:r>
          </a:p>
          <a:p>
            <a:pPr algn="l"/>
            <a:r>
              <a:rPr b="0" sz="1000">
                <a:solidFill>
                  <a:srgbClr val="404040"/>
                </a:solidFill>
              </a:rPr>
              <a:t>La palanca principal no es horas_especialista_1ra sino la eficiencia de las horas:
reducir pct_bloqueo_1ra y pct_consultas_vacias de ~30% a ~5% equivale
a duplicar la capacidad efectiva del especialista sin cambiar dotación.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943600"/>
            <a:ext cx="73152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497D"/>
                </a:solidFill>
              </a:rPr>
              <a:t>Próximos pasos</a:t>
            </a:r>
          </a:p>
          <a:p>
            <a:pPr algn="l"/>
            <a:r>
              <a:rPr b="0" sz="1000">
                <a:solidFill>
                  <a:srgbClr val="404040"/>
                </a:solidFill>
              </a:rPr>
              <a:t>Completar M11–M14 en la nube (max_iter=3 → resultados preliminares).
Generar gráficas comparativas finales con los 9 módulos juntos.
Validar incumbentes con 30 réplicas independientes.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