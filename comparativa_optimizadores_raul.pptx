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914400" y="1371600"/>
            <a:ext cx="10332720" cy="2377440"/>
          </a:xfrm>
          <a:prstGeom prst="rect">
            <a:avLst/>
          </a:prstGeom>
          <a:noFill/>
        </p:spPr>
        <p:txBody>
          <a:bodyPr wrap="none">
            <a:spAutoFit/>
          </a:bodyPr>
          <a:lstStyle/>
          <a:p>
            <a:pPr algn="ctr"/>
            <a:r>
              <a:rPr b="1" sz="3600">
                <a:solidFill>
                  <a:srgbClr val="FFFFFF"/>
                </a:solidFill>
              </a:rPr>
              <a:t>Comparativa de Algoritmos de Optimización
de Caja Negra — PC Raúl</a:t>
            </a:r>
          </a:p>
        </p:txBody>
      </p:sp>
      <p:sp>
        <p:nvSpPr>
          <p:cNvPr id="3" name="TextBox 2"/>
          <p:cNvSpPr txBox="1"/>
          <p:nvPr/>
        </p:nvSpPr>
        <p:spPr>
          <a:xfrm>
            <a:off x="914400" y="3749039"/>
            <a:ext cx="10332720" cy="731520"/>
          </a:xfrm>
          <a:prstGeom prst="rect">
            <a:avLst/>
          </a:prstGeom>
          <a:noFill/>
        </p:spPr>
        <p:txBody>
          <a:bodyPr wrap="none">
            <a:spAutoFit/>
          </a:bodyPr>
          <a:lstStyle/>
          <a:p>
            <a:pPr algn="ctr"/>
            <a:r>
              <a:rPr b="0" sz="2000">
                <a:solidFill>
                  <a:srgbClr val="BDD7EE"/>
                </a:solidFill>
              </a:rPr>
              <a:t>Simulador DES Clínica de Ginecología — Módulos M4, M10-HPO, M13, M14</a:t>
            </a:r>
          </a:p>
        </p:txBody>
      </p:sp>
      <p:sp>
        <p:nvSpPr>
          <p:cNvPr id="4" name="TextBox 3"/>
          <p:cNvSpPr txBox="1"/>
          <p:nvPr/>
        </p:nvSpPr>
        <p:spPr>
          <a:xfrm>
            <a:off x="914400" y="4754880"/>
            <a:ext cx="10332720" cy="640080"/>
          </a:xfrm>
          <a:prstGeom prst="rect">
            <a:avLst/>
          </a:prstGeom>
          <a:noFill/>
        </p:spPr>
        <p:txBody>
          <a:bodyPr wrap="none">
            <a:spAutoFit/>
          </a:bodyPr>
          <a:lstStyle/>
          <a:p>
            <a:pPr algn="ctr"/>
            <a:r>
              <a:rPr b="0" sz="1300">
                <a:solidFill>
                  <a:srgbClr val="9DC3E6"/>
                </a:solidFill>
              </a:rPr>
              <a:t>Mayo 2026  ·  Raúl Araneda  ·  Entorno: PC local  ·  seed=42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Descripción del Problema</a:t>
            </a:r>
          </a:p>
          <a:p>
            <a:pPr algn="l"/>
            <a:r>
              <a:rPr b="0" sz="1300">
                <a:solidFill>
                  <a:srgbClr val="BDD7EE"/>
                </a:solidFill>
              </a:rPr>
              <a:t>Optimización caja negra sobre simulador DES de Clínica de Ginecología</a:t>
            </a:r>
          </a:p>
        </p:txBody>
      </p:sp>
      <p:sp>
        <p:nvSpPr>
          <p:cNvPr id="3" name="Rectangle 2"/>
          <p:cNvSpPr/>
          <p:nvPr/>
        </p:nvSpPr>
        <p:spPr>
          <a:xfrm>
            <a:off x="347472" y="1389888"/>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316736"/>
            <a:ext cx="11338560" cy="1051560"/>
          </a:xfrm>
          <a:prstGeom prst="rect">
            <a:avLst/>
          </a:prstGeom>
          <a:noFill/>
        </p:spPr>
        <p:txBody>
          <a:bodyPr wrap="square">
            <a:spAutoFit/>
          </a:bodyPr>
          <a:lstStyle/>
          <a:p>
            <a:pPr algn="l"/>
            <a:r>
              <a:rPr b="1" sz="1200">
                <a:solidFill>
                  <a:srgbClr val="1F497D"/>
                </a:solidFill>
              </a:rPr>
              <a:t>Objetivo</a:t>
            </a:r>
          </a:p>
          <a:p>
            <a:pPr algn="l"/>
            <a:r>
              <a:rPr b="0" sz="1050">
                <a:solidFill>
                  <a:srgbClr val="404040"/>
                </a:solidFill>
              </a:rPr>
              <a:t>Minimizar tts_full_days_mean: tiempo promedio total de espera (días)
desde derivación hasta alta en Clínica de Ginecología.</a:t>
            </a:r>
          </a:p>
        </p:txBody>
      </p:sp>
      <p:sp>
        <p:nvSpPr>
          <p:cNvPr id="5" name="Rectangle 4"/>
          <p:cNvSpPr/>
          <p:nvPr/>
        </p:nvSpPr>
        <p:spPr>
          <a:xfrm>
            <a:off x="347472" y="2688336"/>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2615184"/>
            <a:ext cx="11338560" cy="1051560"/>
          </a:xfrm>
          <a:prstGeom prst="rect">
            <a:avLst/>
          </a:prstGeom>
          <a:noFill/>
        </p:spPr>
        <p:txBody>
          <a:bodyPr wrap="square">
            <a:spAutoFit/>
          </a:bodyPr>
          <a:lstStyle/>
          <a:p>
            <a:pPr algn="l"/>
            <a:r>
              <a:rPr b="1" sz="1200">
                <a:solidFill>
                  <a:srgbClr val="1F497D"/>
                </a:solidFill>
              </a:rPr>
              <a:t>Variables de decisión (12)</a:t>
            </a:r>
          </a:p>
          <a:p>
            <a:pPr algn="l"/>
            <a:r>
              <a:rPr b="0" sz="1050">
                <a:solidFill>
                  <a:srgbClr val="404040"/>
                </a:solidFill>
              </a:rPr>
              <a:t>cupos_eco_matrona, cupos_eco_ugd, cupos_lab_ugd, dias_publicacion,
horas_control_post, horas_especialista_1ra, num_agentes_ugd, num_matronas,
pct_bloqueo_1ra, pct_bloqueo_post_control, pct_consultas_vacias, pct_no_contactabilidad</a:t>
            </a:r>
          </a:p>
        </p:txBody>
      </p:sp>
      <p:sp>
        <p:nvSpPr>
          <p:cNvPr id="7" name="Rectangle 6"/>
          <p:cNvSpPr/>
          <p:nvPr/>
        </p:nvSpPr>
        <p:spPr>
          <a:xfrm>
            <a:off x="347472" y="3986783"/>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3913631"/>
            <a:ext cx="11338560" cy="1051560"/>
          </a:xfrm>
          <a:prstGeom prst="rect">
            <a:avLst/>
          </a:prstGeom>
          <a:noFill/>
        </p:spPr>
        <p:txBody>
          <a:bodyPr wrap="square">
            <a:spAutoFit/>
          </a:bodyPr>
          <a:lstStyle/>
          <a:p>
            <a:pPr algn="l"/>
            <a:r>
              <a:rPr b="1" sz="1200">
                <a:solidFill>
                  <a:srgbClr val="1F497D"/>
                </a:solidFill>
              </a:rPr>
              <a:t>Simulador</a:t>
            </a:r>
          </a:p>
          <a:p>
            <a:pPr algn="l"/>
            <a:r>
              <a:rPr b="0" sz="1050">
                <a:solidFill>
                  <a:srgbClr val="404040"/>
                </a:solidFill>
              </a:rPr>
              <a:t>simulador_clinica_baseline.py — modelo de eventos discretos (DES) estocástico con simpy.
Cada evaluación ejecuta 2 réplicas con semillas aleatorias → función ruidosa σ≈20–40 días.</a:t>
            </a:r>
          </a:p>
        </p:txBody>
      </p:sp>
      <p:sp>
        <p:nvSpPr>
          <p:cNvPr id="9" name="Rectangle 8"/>
          <p:cNvSpPr/>
          <p:nvPr/>
        </p:nvSpPr>
        <p:spPr>
          <a:xfrm>
            <a:off x="347472" y="5285231"/>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5212079"/>
            <a:ext cx="11338560" cy="1051560"/>
          </a:xfrm>
          <a:prstGeom prst="rect">
            <a:avLst/>
          </a:prstGeom>
          <a:noFill/>
        </p:spPr>
        <p:txBody>
          <a:bodyPr wrap="square">
            <a:spAutoFit/>
          </a:bodyPr>
          <a:lstStyle/>
          <a:p>
            <a:pPr algn="l"/>
            <a:r>
              <a:rPr b="1" sz="1200">
                <a:solidFill>
                  <a:srgbClr val="1F497D"/>
                </a:solidFill>
              </a:rPr>
              <a:t>Línea base vs mejor encontrado (datos Raúl)</a:t>
            </a:r>
          </a:p>
          <a:p>
            <a:pPr algn="l"/>
            <a:r>
              <a:rPr b="0" sz="1050">
                <a:solidFill>
                  <a:srgbClr val="404040"/>
                </a:solidFill>
              </a:rPr>
              <a:t>Configuración real: ~270 días  →  M10-HPO (SK-KGCP, 100 eval): 212.03 días  (−21.7%)
M4 (GP+EI, 20 eval): 230.80 días  |  M13 (SPSA, 30 iter): 219.38 días
M14 (ALOE, 30 iter): 270.73 días — sin mejora (búsqueda de línea Armijo rechazada siempre)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Algoritmos Evaluados — Clasificación y Referencias</a:t>
            </a:r>
          </a:p>
        </p:txBody>
      </p:sp>
      <p:graphicFrame>
        <p:nvGraphicFramePr>
          <p:cNvPr id="3" name="Table 2"/>
          <p:cNvGraphicFramePr>
            <a:graphicFrameLocks noGrp="1"/>
          </p:cNvGraphicFramePr>
          <p:nvPr/>
        </p:nvGraphicFramePr>
        <p:xfrm>
          <a:off x="457200" y="1353312"/>
          <a:ext cx="10360152" cy="3291840"/>
        </p:xfrm>
        <a:graphic>
          <a:graphicData uri="http://schemas.openxmlformats.org/drawingml/2006/table">
            <a:tbl>
              <a:tblPr firstRow="1" bandRow="1">
                <a:tableStyleId>{5C22544A-7EE6-4342-B048-85BDC9FD1C3A}</a:tableStyleId>
              </a:tblPr>
              <a:tblGrid>
                <a:gridCol w="822960"/>
                <a:gridCol w="2286000"/>
                <a:gridCol w="1554480"/>
                <a:gridCol w="5696712"/>
              </a:tblGrid>
              <a:tr h="658368">
                <a:tc>
                  <a:txBody>
                    <a:bodyPr wrap="square"/>
                    <a:lstStyle/>
                    <a:p>
                      <a:pPr algn="ctr"/>
                      <a:r>
                        <a:rPr b="1" sz="1200">
                          <a:solidFill>
                            <a:srgbClr val="FFFFFF"/>
                          </a:solidFill>
                        </a:rPr>
                        <a:t>Módulo</a:t>
                      </a:r>
                    </a:p>
                  </a:txBody>
                  <a:tcPr>
                    <a:solidFill>
                      <a:srgbClr val="1F497D"/>
                    </a:solidFill>
                  </a:tcPr>
                </a:tc>
                <a:tc>
                  <a:txBody>
                    <a:bodyPr wrap="square"/>
                    <a:lstStyle/>
                    <a:p>
                      <a:pPr algn="ctr"/>
                      <a:r>
                        <a:rPr b="1" sz="1200">
                          <a:solidFill>
                            <a:srgbClr val="FFFFFF"/>
                          </a:solidFill>
                        </a:rPr>
                        <a:t>Algoritmo</a:t>
                      </a:r>
                    </a:p>
                  </a:txBody>
                  <a:tcPr>
                    <a:solidFill>
                      <a:srgbClr val="1F497D"/>
                    </a:solidFill>
                  </a:tcPr>
                </a:tc>
                <a:tc>
                  <a:txBody>
                    <a:bodyPr wrap="square"/>
                    <a:lstStyle/>
                    <a:p>
                      <a:pPr algn="ctr"/>
                      <a:r>
                        <a:rPr b="1" sz="1200">
                          <a:solidFill>
                            <a:srgbClr val="FFFFFF"/>
                          </a:solidFill>
                        </a:rPr>
                        <a:t>Familia</a:t>
                      </a:r>
                    </a:p>
                  </a:txBody>
                  <a:tcPr>
                    <a:solidFill>
                      <a:srgbClr val="1F497D"/>
                    </a:solidFill>
                  </a:tcPr>
                </a:tc>
                <a:tc>
                  <a:txBody>
                    <a:bodyPr wrap="square"/>
                    <a:lstStyle/>
                    <a:p>
                      <a:pPr algn="ctr"/>
                      <a:r>
                        <a:rPr b="1" sz="1200">
                          <a:solidFill>
                            <a:srgbClr val="FFFFFF"/>
                          </a:solidFill>
                        </a:rPr>
                        <a:t>Referencia clave</a:t>
                      </a:r>
                    </a:p>
                  </a:txBody>
                  <a:tcPr>
                    <a:solidFill>
                      <a:srgbClr val="1F497D"/>
                    </a:solidFill>
                  </a:tcPr>
                </a:tc>
              </a:tr>
              <a:tr h="658368">
                <a:tc>
                  <a:txBody>
                    <a:bodyPr wrap="square"/>
                    <a:lstStyle/>
                    <a:p>
                      <a:pPr algn="ctr"/>
                      <a:r>
                        <a:rPr b="0" sz="1200">
                          <a:solidFill>
                            <a:srgbClr val="404040"/>
                          </a:solidFill>
                        </a:rPr>
                        <a:t>M4</a:t>
                      </a:r>
                    </a:p>
                  </a:txBody>
                  <a:tcPr>
                    <a:solidFill>
                      <a:srgbClr val="D9EAF7"/>
                    </a:solidFill>
                  </a:tcPr>
                </a:tc>
                <a:tc>
                  <a:txBody>
                    <a:bodyPr wrap="square"/>
                    <a:lstStyle/>
                    <a:p>
                      <a:pPr algn="l"/>
                      <a:r>
                        <a:rPr b="0" sz="1200">
                          <a:solidFill>
                            <a:srgbClr val="404040"/>
                          </a:solidFill>
                        </a:rPr>
                        <a:t>SMAC BlackBox (GP+EI)</a:t>
                      </a:r>
                    </a:p>
                  </a:txBody>
                  <a:tcPr>
                    <a:solidFill>
                      <a:srgbClr val="D9EAF7"/>
                    </a:solidFill>
                  </a:tcPr>
                </a:tc>
                <a:tc>
                  <a:txBody>
                    <a:bodyPr wrap="square"/>
                    <a:lstStyle/>
                    <a:p>
                      <a:pPr algn="ctr"/>
                      <a:r>
                        <a:rPr b="0" sz="1200">
                          <a:solidFill>
                            <a:srgbClr val="404040"/>
                          </a:solidFill>
                        </a:rPr>
                        <a:t>Bayesiana — GP</a:t>
                      </a:r>
                    </a:p>
                  </a:txBody>
                  <a:tcPr>
                    <a:solidFill>
                      <a:srgbClr val="D9EAF7"/>
                    </a:solidFill>
                  </a:tcPr>
                </a:tc>
                <a:tc>
                  <a:txBody>
                    <a:bodyPr wrap="square"/>
                    <a:lstStyle/>
                    <a:p>
                      <a:pPr algn="l"/>
                      <a:r>
                        <a:rPr b="0" sz="1200">
                          <a:solidFill>
                            <a:srgbClr val="404040"/>
                          </a:solidFill>
                        </a:rPr>
                        <a:t>Hutter et al. 2011 (JAIR)</a:t>
                      </a:r>
                    </a:p>
                  </a:txBody>
                  <a:tcPr>
                    <a:solidFill>
                      <a:srgbClr val="D9EAF7"/>
                    </a:solidFill>
                  </a:tcPr>
                </a:tc>
              </a:tr>
              <a:tr h="658368">
                <a:tc>
                  <a:txBody>
                    <a:bodyPr wrap="square"/>
                    <a:lstStyle/>
                    <a:p>
                      <a:pPr algn="ctr"/>
                      <a:r>
                        <a:rPr b="0" sz="1200">
                          <a:solidFill>
                            <a:srgbClr val="404040"/>
                          </a:solidFill>
                        </a:rPr>
                        <a:t>M10-HPO</a:t>
                      </a:r>
                    </a:p>
                  </a:txBody>
                  <a:tcPr>
                    <a:solidFill>
                      <a:srgbClr val="C5DEF2"/>
                    </a:solidFill>
                  </a:tcPr>
                </a:tc>
                <a:tc>
                  <a:txBody>
                    <a:bodyPr wrap="square"/>
                    <a:lstStyle/>
                    <a:p>
                      <a:pPr algn="l"/>
                      <a:r>
                        <a:rPr b="0" sz="1200">
                          <a:solidFill>
                            <a:srgbClr val="404040"/>
                          </a:solidFill>
                        </a:rPr>
                        <a:t>SK-KGCP (100 eval)</a:t>
                      </a:r>
                    </a:p>
                  </a:txBody>
                  <a:tcPr>
                    <a:solidFill>
                      <a:srgbClr val="C5DEF2"/>
                    </a:solidFill>
                  </a:tcPr>
                </a:tc>
                <a:tc>
                  <a:txBody>
                    <a:bodyPr wrap="square"/>
                    <a:lstStyle/>
                    <a:p>
                      <a:pPr algn="ctr"/>
                      <a:r>
                        <a:rPr b="0" sz="1200">
                          <a:solidFill>
                            <a:srgbClr val="404040"/>
                          </a:solidFill>
                        </a:rPr>
                        <a:t>Bayesiana — SK</a:t>
                      </a:r>
                    </a:p>
                  </a:txBody>
                  <a:tcPr>
                    <a:solidFill>
                      <a:srgbClr val="C5DEF2"/>
                    </a:solidFill>
                  </a:tcPr>
                </a:tc>
                <a:tc>
                  <a:txBody>
                    <a:bodyPr wrap="square"/>
                    <a:lstStyle/>
                    <a:p>
                      <a:pPr algn="l"/>
                      <a:r>
                        <a:rPr b="0" sz="1200">
                          <a:solidFill>
                            <a:srgbClr val="404040"/>
                          </a:solidFill>
                        </a:rPr>
                        <a:t>Scott, Powell &amp; Frazier 2011 (SIAM J. Optim.)</a:t>
                      </a:r>
                    </a:p>
                  </a:txBody>
                  <a:tcPr>
                    <a:solidFill>
                      <a:srgbClr val="C5DEF2"/>
                    </a:solidFill>
                  </a:tcPr>
                </a:tc>
              </a:tr>
              <a:tr h="658368">
                <a:tc>
                  <a:txBody>
                    <a:bodyPr wrap="square"/>
                    <a:lstStyle/>
                    <a:p>
                      <a:pPr algn="ctr"/>
                      <a:r>
                        <a:rPr b="0" sz="1200">
                          <a:solidFill>
                            <a:srgbClr val="404040"/>
                          </a:solidFill>
                        </a:rPr>
                        <a:t>M13</a:t>
                      </a:r>
                    </a:p>
                  </a:txBody>
                  <a:tcPr>
                    <a:solidFill>
                      <a:srgbClr val="E2F0D9"/>
                    </a:solidFill>
                  </a:tcPr>
                </a:tc>
                <a:tc>
                  <a:txBody>
                    <a:bodyPr wrap="square"/>
                    <a:lstStyle/>
                    <a:p>
                      <a:pPr algn="l"/>
                      <a:r>
                        <a:rPr b="0" sz="1200">
                          <a:solidFill>
                            <a:srgbClr val="404040"/>
                          </a:solidFill>
                        </a:rPr>
                        <a:t>SPSA</a:t>
                      </a:r>
                    </a:p>
                  </a:txBody>
                  <a:tcPr>
                    <a:solidFill>
                      <a:srgbClr val="E2F0D9"/>
                    </a:solidFill>
                  </a:tcPr>
                </a:tc>
                <a:tc>
                  <a:txBody>
                    <a:bodyPr wrap="square"/>
                    <a:lstStyle/>
                    <a:p>
                      <a:pPr algn="ctr"/>
                      <a:r>
                        <a:rPr b="0" sz="1200">
                          <a:solidFill>
                            <a:srgbClr val="404040"/>
                          </a:solidFill>
                        </a:rPr>
                        <a:t>Grad. Estocástico</a:t>
                      </a:r>
                    </a:p>
                  </a:txBody>
                  <a:tcPr>
                    <a:solidFill>
                      <a:srgbClr val="E2F0D9"/>
                    </a:solidFill>
                  </a:tcPr>
                </a:tc>
                <a:tc>
                  <a:txBody>
                    <a:bodyPr wrap="square"/>
                    <a:lstStyle/>
                    <a:p>
                      <a:pPr algn="l"/>
                      <a:r>
                        <a:rPr b="0" sz="1200">
                          <a:solidFill>
                            <a:srgbClr val="404040"/>
                          </a:solidFill>
                        </a:rPr>
                        <a:t>Spall 1992 (IEEE Trans. Autom. Control)</a:t>
                      </a:r>
                    </a:p>
                  </a:txBody>
                  <a:tcPr>
                    <a:solidFill>
                      <a:srgbClr val="E2F0D9"/>
                    </a:solidFill>
                  </a:tcPr>
                </a:tc>
              </a:tr>
              <a:tr h="658368">
                <a:tc>
                  <a:txBody>
                    <a:bodyPr wrap="square"/>
                    <a:lstStyle/>
                    <a:p>
                      <a:pPr algn="ctr"/>
                      <a:r>
                        <a:rPr b="0" sz="1200">
                          <a:solidFill>
                            <a:srgbClr val="404040"/>
                          </a:solidFill>
                        </a:rPr>
                        <a:t>M14</a:t>
                      </a:r>
                    </a:p>
                  </a:txBody>
                  <a:tcPr>
                    <a:solidFill>
                      <a:srgbClr val="FFEBCC"/>
                    </a:solidFill>
                  </a:tcPr>
                </a:tc>
                <a:tc>
                  <a:txBody>
                    <a:bodyPr wrap="square"/>
                    <a:lstStyle/>
                    <a:p>
                      <a:pPr algn="l"/>
                      <a:r>
                        <a:rPr b="0" sz="1200">
                          <a:solidFill>
                            <a:srgbClr val="404040"/>
                          </a:solidFill>
                        </a:rPr>
                        <a:t>ALOE</a:t>
                      </a:r>
                    </a:p>
                  </a:txBody>
                  <a:tcPr>
                    <a:solidFill>
                      <a:srgbClr val="FFEBCC"/>
                    </a:solidFill>
                  </a:tcPr>
                </a:tc>
                <a:tc>
                  <a:txBody>
                    <a:bodyPr wrap="square"/>
                    <a:lstStyle/>
                    <a:p>
                      <a:pPr algn="ctr"/>
                      <a:r>
                        <a:rPr b="0" sz="1200">
                          <a:solidFill>
                            <a:srgbClr val="404040"/>
                          </a:solidFill>
                        </a:rPr>
                        <a:t>Grad. Estocástico</a:t>
                      </a:r>
                    </a:p>
                  </a:txBody>
                  <a:tcPr>
                    <a:solidFill>
                      <a:srgbClr val="FFEBCC"/>
                    </a:solidFill>
                  </a:tcPr>
                </a:tc>
                <a:tc>
                  <a:txBody>
                    <a:bodyPr wrap="square"/>
                    <a:lstStyle/>
                    <a:p>
                      <a:pPr algn="l"/>
                      <a:r>
                        <a:rPr b="0" sz="1200">
                          <a:solidFill>
                            <a:srgbClr val="404040"/>
                          </a:solidFill>
                        </a:rPr>
                        <a:t>Lim et al. 2012 (European J. Oper. Research)</a:t>
                      </a:r>
                    </a:p>
                  </a:txBody>
                  <a:tcPr>
                    <a:solidFill>
                      <a:srgbClr val="FFEBCC"/>
                    </a:solidFill>
                  </a:tcPr>
                </a:tc>
              </a:tr>
            </a:tbl>
          </a:graphicData>
        </a:graphic>
      </p:graphicFrame>
      <p:sp>
        <p:nvSpPr>
          <p:cNvPr id="4" name="TextBox 3"/>
          <p:cNvSpPr txBox="1"/>
          <p:nvPr/>
        </p:nvSpPr>
        <p:spPr>
          <a:xfrm>
            <a:off x="457200" y="4800600"/>
            <a:ext cx="11274552" cy="411480"/>
          </a:xfrm>
          <a:prstGeom prst="rect">
            <a:avLst/>
          </a:prstGeom>
          <a:noFill/>
        </p:spPr>
        <p:txBody>
          <a:bodyPr wrap="square">
            <a:spAutoFit/>
          </a:bodyPr>
          <a:lstStyle/>
          <a:p>
            <a:pPr algn="l"/>
            <a:r>
              <a:rPr b="1" sz="1000">
                <a:solidFill>
                  <a:srgbClr val="1F497D"/>
                </a:solidFill>
              </a:rPr>
              <a:t>Familia Bayesiana — GP:</a:t>
            </a:r>
          </a:p>
          <a:p>
            <a:pPr algn="l"/>
            <a:r>
              <a:rPr b="0" sz="950">
                <a:solidFill>
                  <a:srgbClr val="404040"/>
                </a:solidFill>
              </a:rPr>
              <a:t>Proceso Gaussiano como surrogado. Predice costo en zonas no exploradas y elige el punto con mayor ganancia esperada (EI).</a:t>
            </a:r>
          </a:p>
        </p:txBody>
      </p:sp>
      <p:sp>
        <p:nvSpPr>
          <p:cNvPr id="5" name="TextBox 4"/>
          <p:cNvSpPr txBox="1"/>
          <p:nvPr/>
        </p:nvSpPr>
        <p:spPr>
          <a:xfrm>
            <a:off x="457200" y="5276088"/>
            <a:ext cx="11274552" cy="411480"/>
          </a:xfrm>
          <a:prstGeom prst="rect">
            <a:avLst/>
          </a:prstGeom>
          <a:noFill/>
        </p:spPr>
        <p:txBody>
          <a:bodyPr wrap="square">
            <a:spAutoFit/>
          </a:bodyPr>
          <a:lstStyle/>
          <a:p>
            <a:pPr algn="l"/>
            <a:r>
              <a:rPr b="1" sz="1000">
                <a:solidFill>
                  <a:srgbClr val="1F497D"/>
                </a:solidFill>
              </a:rPr>
              <a:t>Familia Bayesiana — SK:</a:t>
            </a:r>
          </a:p>
          <a:p>
            <a:pPr algn="l"/>
            <a:r>
              <a:rPr b="0" sz="950">
                <a:solidFill>
                  <a:srgbClr val="404040"/>
                </a:solidFill>
              </a:rPr>
              <a:t>Stochastic Kriging: modela explícitamente la varianza del ruido del simulador. Con más evaluaciones supera al GP.</a:t>
            </a:r>
          </a:p>
        </p:txBody>
      </p:sp>
      <p:sp>
        <p:nvSpPr>
          <p:cNvPr id="6" name="TextBox 5"/>
          <p:cNvSpPr txBox="1"/>
          <p:nvPr/>
        </p:nvSpPr>
        <p:spPr>
          <a:xfrm>
            <a:off x="457200" y="5751575"/>
            <a:ext cx="11274552" cy="411480"/>
          </a:xfrm>
          <a:prstGeom prst="rect">
            <a:avLst/>
          </a:prstGeom>
          <a:noFill/>
        </p:spPr>
        <p:txBody>
          <a:bodyPr wrap="square">
            <a:spAutoFit/>
          </a:bodyPr>
          <a:lstStyle/>
          <a:p>
            <a:pPr algn="l"/>
            <a:r>
              <a:rPr b="1" sz="1000">
                <a:solidFill>
                  <a:srgbClr val="1F497D"/>
                </a:solidFill>
              </a:rPr>
              <a:t>Familia Grad. Estocástico:</a:t>
            </a:r>
          </a:p>
          <a:p>
            <a:pPr algn="l"/>
            <a:r>
              <a:rPr b="0" sz="950">
                <a:solidFill>
                  <a:srgbClr val="404040"/>
                </a:solidFill>
              </a:rPr>
              <a:t>Estima gradientes usando evaluaciones del simulador y sigue su descenso. Paralizable pero sensible al ruido del simulador.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de Configuración por Módulo</a:t>
            </a:r>
          </a:p>
          <a:p>
            <a:pPr algn="l"/>
            <a:r>
              <a:rPr b="0" sz="1300">
                <a:solidFill>
                  <a:srgbClr val="BDD7EE"/>
                </a:solidFill>
              </a:rPr>
              <a:t>Entorno: PC Raúl — seed=42 — simulador DES con 2 réplicas por evaluación</a:t>
            </a:r>
          </a:p>
        </p:txBody>
      </p:sp>
      <p:sp>
        <p:nvSpPr>
          <p:cNvPr id="3" name="Rectangle 2"/>
          <p:cNvSpPr/>
          <p:nvPr/>
        </p:nvSpPr>
        <p:spPr>
          <a:xfrm>
            <a:off x="256032" y="1353312"/>
            <a:ext cx="3931920" cy="2377440"/>
          </a:xfrm>
          <a:prstGeom prst="rect">
            <a:avLst/>
          </a:prstGeom>
          <a:solidFill>
            <a:srgbClr val="D9EAF7"/>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44752"/>
            <a:ext cx="3712463" cy="2176272"/>
          </a:xfrm>
          <a:prstGeom prst="rect">
            <a:avLst/>
          </a:prstGeom>
          <a:noFill/>
        </p:spPr>
        <p:txBody>
          <a:bodyPr wrap="square">
            <a:spAutoFit/>
          </a:bodyPr>
          <a:lstStyle/>
          <a:p>
            <a:pPr algn="l"/>
            <a:r>
              <a:rPr b="1" sz="1100">
                <a:solidFill>
                  <a:srgbClr val="1F497D"/>
                </a:solidFill>
              </a:rPr>
              <a:t>M4 — SMAC BlackBox (GP+EI)</a:t>
            </a:r>
          </a:p>
          <a:p>
            <a:pPr algn="l"/>
            <a:r>
              <a:rPr b="0" sz="1000">
                <a:solidFill>
                  <a:srgbClr val="404040"/>
                </a:solidFill>
              </a:rPr>
              <a:t>n_trials=20, seed=42
Surrogado: Gaussian Process (Matérn 5/2)
Adquisición: Expected Improvement (EI)</a:t>
            </a:r>
          </a:p>
          <a:p>
            <a:pPr algn="l"/>
            <a:r>
              <a:rPr b="0" sz="850">
                <a:solidFill>
                  <a:srgbClr val="808080"/>
                </a:solidFill>
              </a:rPr>
              <a:t>
Ref: Hutter et al. 2011 (JAIR)</a:t>
            </a:r>
          </a:p>
        </p:txBody>
      </p:sp>
      <p:sp>
        <p:nvSpPr>
          <p:cNvPr id="5" name="Rectangle 4"/>
          <p:cNvSpPr/>
          <p:nvPr/>
        </p:nvSpPr>
        <p:spPr>
          <a:xfrm>
            <a:off x="4352544" y="1353312"/>
            <a:ext cx="3931920" cy="2377440"/>
          </a:xfrm>
          <a:prstGeom prst="rect">
            <a:avLst/>
          </a:prstGeom>
          <a:solidFill>
            <a:srgbClr val="C5DEF2"/>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62272" y="1444752"/>
            <a:ext cx="3712463" cy="2176272"/>
          </a:xfrm>
          <a:prstGeom prst="rect">
            <a:avLst/>
          </a:prstGeom>
          <a:noFill/>
        </p:spPr>
        <p:txBody>
          <a:bodyPr wrap="square">
            <a:spAutoFit/>
          </a:bodyPr>
          <a:lstStyle/>
          <a:p>
            <a:pPr algn="l"/>
            <a:r>
              <a:rPr b="1" sz="1100">
                <a:solidFill>
                  <a:srgbClr val="1F497D"/>
                </a:solidFill>
              </a:rPr>
              <a:t>M10-HPO — SK-KGCP (100 eval)</a:t>
            </a:r>
          </a:p>
          <a:p>
            <a:pPr algn="l"/>
            <a:r>
              <a:rPr b="0" sz="1000">
                <a:solidFill>
                  <a:srgbClr val="404040"/>
                </a:solidFill>
              </a:rPr>
              <a:t>n_trials=100, seed=42
Surrogado: SK + Knowledge Gradient CP
Adquisición: KG look-ahead (HPO: hyperparáms optimizados)</a:t>
            </a:r>
          </a:p>
          <a:p>
            <a:pPr algn="l"/>
            <a:r>
              <a:rPr b="0" sz="850">
                <a:solidFill>
                  <a:srgbClr val="808080"/>
                </a:solidFill>
              </a:rPr>
              <a:t>
Ref: Scott, Powell &amp; Frazier 2011 (SIAM)</a:t>
            </a:r>
          </a:p>
        </p:txBody>
      </p:sp>
      <p:sp>
        <p:nvSpPr>
          <p:cNvPr id="7" name="Rectangle 6"/>
          <p:cNvSpPr/>
          <p:nvPr/>
        </p:nvSpPr>
        <p:spPr>
          <a:xfrm>
            <a:off x="256032" y="3913632"/>
            <a:ext cx="3931920" cy="2377440"/>
          </a:xfrm>
          <a:prstGeom prst="rect">
            <a:avLst/>
          </a:prstGeom>
          <a:solidFill>
            <a:srgbClr val="E2F0D9"/>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4005072"/>
            <a:ext cx="3712463" cy="2176272"/>
          </a:xfrm>
          <a:prstGeom prst="rect">
            <a:avLst/>
          </a:prstGeom>
          <a:noFill/>
        </p:spPr>
        <p:txBody>
          <a:bodyPr wrap="square">
            <a:spAutoFit/>
          </a:bodyPr>
          <a:lstStyle/>
          <a:p>
            <a:pPr algn="l"/>
            <a:r>
              <a:rPr b="1" sz="1100">
                <a:solidFill>
                  <a:srgbClr val="1F497D"/>
                </a:solidFill>
              </a:rPr>
              <a:t>M13 — SPSA</a:t>
            </a:r>
          </a:p>
          <a:p>
            <a:pPr algn="l"/>
            <a:r>
              <a:rPr b="0" sz="1000">
                <a:solidFill>
                  <a:srgbClr val="404040"/>
                </a:solidFill>
              </a:rPr>
              <a:t>max_iter=30, seed=42
Gradiente: estimación simultánea (SPSA, 2 eval/iter)
Paso: α_k=a/(A+k)^0.602, ck=c/k^0.101</a:t>
            </a:r>
          </a:p>
          <a:p>
            <a:pPr algn="l"/>
            <a:r>
              <a:rPr b="0" sz="850">
                <a:solidFill>
                  <a:srgbClr val="808080"/>
                </a:solidFill>
              </a:rPr>
              <a:t>
Ref: Spall 1992 (IEEE Trans. Autom. Control)</a:t>
            </a:r>
          </a:p>
        </p:txBody>
      </p:sp>
      <p:sp>
        <p:nvSpPr>
          <p:cNvPr id="9" name="Rectangle 8"/>
          <p:cNvSpPr/>
          <p:nvPr/>
        </p:nvSpPr>
        <p:spPr>
          <a:xfrm>
            <a:off x="4352544" y="3913632"/>
            <a:ext cx="3931920" cy="2377440"/>
          </a:xfrm>
          <a:prstGeom prst="rect">
            <a:avLst/>
          </a:prstGeom>
          <a:solidFill>
            <a:srgbClr val="FFEBCC"/>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2" y="4005072"/>
            <a:ext cx="3712463" cy="2176272"/>
          </a:xfrm>
          <a:prstGeom prst="rect">
            <a:avLst/>
          </a:prstGeom>
          <a:noFill/>
        </p:spPr>
        <p:txBody>
          <a:bodyPr wrap="square">
            <a:spAutoFit/>
          </a:bodyPr>
          <a:lstStyle/>
          <a:p>
            <a:pPr algn="l"/>
            <a:r>
              <a:rPr b="1" sz="1100">
                <a:solidFill>
                  <a:srgbClr val="1F497D"/>
                </a:solidFill>
              </a:rPr>
              <a:t>M14 — ALOE</a:t>
            </a:r>
          </a:p>
          <a:p>
            <a:pPr algn="l"/>
            <a:r>
              <a:rPr b="0" sz="1000">
                <a:solidFill>
                  <a:srgbClr val="404040"/>
                </a:solidFill>
              </a:rPr>
              <a:t>max_iter=30, seed=42
Gradiente: diferencias finitas (2d eval/iter)
Búsqueda de línea: Armijo con reducción exponencial</a:t>
            </a:r>
          </a:p>
          <a:p>
            <a:pPr algn="l"/>
            <a:r>
              <a:rPr b="0" sz="850">
                <a:solidFill>
                  <a:srgbClr val="808080"/>
                </a:solidFill>
              </a:rPr>
              <a:t>
Ref: Lim et al. 2012 (European J. Oper. Research)</a:t>
            </a:r>
          </a:p>
        </p:txBody>
      </p:sp>
      <p:sp>
        <p:nvSpPr>
          <p:cNvPr id="11" name="Rectangle 10"/>
          <p:cNvSpPr/>
          <p:nvPr/>
        </p:nvSpPr>
        <p:spPr>
          <a:xfrm>
            <a:off x="8641080" y="1353312"/>
            <a:ext cx="3291840" cy="1234440"/>
          </a:xfrm>
          <a:prstGeom prst="rect">
            <a:avLst/>
          </a:prstGeom>
          <a:solidFill>
            <a:srgbClr val="D9EAF7"/>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19" y="1426464"/>
            <a:ext cx="3090672" cy="1097280"/>
          </a:xfrm>
          <a:prstGeom prst="rect">
            <a:avLst/>
          </a:prstGeom>
          <a:noFill/>
        </p:spPr>
        <p:txBody>
          <a:bodyPr wrap="square">
            <a:spAutoFit/>
          </a:bodyPr>
          <a:lstStyle/>
          <a:p>
            <a:pPr algn="l"/>
            <a:r>
              <a:rPr b="1" sz="1100">
                <a:solidFill>
                  <a:srgbClr val="1F497D"/>
                </a:solidFill>
              </a:rPr>
              <a:t>M4</a:t>
            </a:r>
          </a:p>
          <a:p>
            <a:pPr algn="l"/>
            <a:r>
              <a:rPr b="1" sz="1300">
                <a:solidFill>
                  <a:srgbClr val="404040"/>
                </a:solidFill>
              </a:rPr>
              <a:t>Costo: 230.80 días</a:t>
            </a:r>
          </a:p>
          <a:p>
            <a:pPr algn="l"/>
            <a:r>
              <a:rPr b="0" sz="1000">
                <a:solidFill>
                  <a:srgbClr val="404040"/>
                </a:solidFill>
              </a:rPr>
              <a:t>Tiempo: 3.09 h</a:t>
            </a:r>
          </a:p>
        </p:txBody>
      </p:sp>
      <p:sp>
        <p:nvSpPr>
          <p:cNvPr id="13" name="Rectangle 12"/>
          <p:cNvSpPr/>
          <p:nvPr/>
        </p:nvSpPr>
        <p:spPr>
          <a:xfrm>
            <a:off x="8641080" y="2715768"/>
            <a:ext cx="3291840" cy="1234440"/>
          </a:xfrm>
          <a:prstGeom prst="rect">
            <a:avLst/>
          </a:prstGeom>
          <a:solidFill>
            <a:srgbClr val="C5DEF2"/>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19" y="2788920"/>
            <a:ext cx="3090672" cy="1097280"/>
          </a:xfrm>
          <a:prstGeom prst="rect">
            <a:avLst/>
          </a:prstGeom>
          <a:noFill/>
        </p:spPr>
        <p:txBody>
          <a:bodyPr wrap="square">
            <a:spAutoFit/>
          </a:bodyPr>
          <a:lstStyle/>
          <a:p>
            <a:pPr algn="l"/>
            <a:r>
              <a:rPr b="1" sz="1100">
                <a:solidFill>
                  <a:srgbClr val="1F497D"/>
                </a:solidFill>
              </a:rPr>
              <a:t>M10-HPO</a:t>
            </a:r>
          </a:p>
          <a:p>
            <a:pPr algn="l"/>
            <a:r>
              <a:rPr b="1" sz="1300">
                <a:solidFill>
                  <a:srgbClr val="378648"/>
                </a:solidFill>
              </a:rPr>
              <a:t>Costo: 212.03 días</a:t>
            </a:r>
          </a:p>
          <a:p>
            <a:pPr algn="l"/>
            <a:r>
              <a:rPr b="0" sz="1000">
                <a:solidFill>
                  <a:srgbClr val="404040"/>
                </a:solidFill>
              </a:rPr>
              <a:t>Tiempo: 12.27 h</a:t>
            </a:r>
          </a:p>
        </p:txBody>
      </p:sp>
      <p:sp>
        <p:nvSpPr>
          <p:cNvPr id="15" name="Rectangle 14"/>
          <p:cNvSpPr/>
          <p:nvPr/>
        </p:nvSpPr>
        <p:spPr>
          <a:xfrm>
            <a:off x="8641080" y="4078224"/>
            <a:ext cx="3291840" cy="1234440"/>
          </a:xfrm>
          <a:prstGeom prst="rect">
            <a:avLst/>
          </a:prstGeom>
          <a:solidFill>
            <a:srgbClr val="E2F0D9"/>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19" y="4151376"/>
            <a:ext cx="3090672" cy="1097280"/>
          </a:xfrm>
          <a:prstGeom prst="rect">
            <a:avLst/>
          </a:prstGeom>
          <a:noFill/>
        </p:spPr>
        <p:txBody>
          <a:bodyPr wrap="square">
            <a:spAutoFit/>
          </a:bodyPr>
          <a:lstStyle/>
          <a:p>
            <a:pPr algn="l"/>
            <a:r>
              <a:rPr b="1" sz="1100">
                <a:solidFill>
                  <a:srgbClr val="1F497D"/>
                </a:solidFill>
              </a:rPr>
              <a:t>M13</a:t>
            </a:r>
          </a:p>
          <a:p>
            <a:pPr algn="l"/>
            <a:r>
              <a:rPr b="1" sz="1300">
                <a:solidFill>
                  <a:srgbClr val="378648"/>
                </a:solidFill>
              </a:rPr>
              <a:t>Costo: 219.38 días</a:t>
            </a:r>
          </a:p>
          <a:p>
            <a:pPr algn="l"/>
            <a:r>
              <a:rPr b="0" sz="1000">
                <a:solidFill>
                  <a:srgbClr val="404040"/>
                </a:solidFill>
              </a:rPr>
              <a:t>Tiempo: 8.65 h</a:t>
            </a:r>
          </a:p>
        </p:txBody>
      </p:sp>
      <p:sp>
        <p:nvSpPr>
          <p:cNvPr id="17" name="Rectangle 16"/>
          <p:cNvSpPr/>
          <p:nvPr/>
        </p:nvSpPr>
        <p:spPr>
          <a:xfrm>
            <a:off x="8641080" y="5440679"/>
            <a:ext cx="3291840" cy="1234440"/>
          </a:xfrm>
          <a:prstGeom prst="rect">
            <a:avLst/>
          </a:prstGeom>
          <a:solidFill>
            <a:srgbClr val="FFEBCC"/>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5513831"/>
            <a:ext cx="3090672" cy="1097280"/>
          </a:xfrm>
          <a:prstGeom prst="rect">
            <a:avLst/>
          </a:prstGeom>
          <a:noFill/>
        </p:spPr>
        <p:txBody>
          <a:bodyPr wrap="square">
            <a:spAutoFit/>
          </a:bodyPr>
          <a:lstStyle/>
          <a:p>
            <a:pPr algn="l"/>
            <a:r>
              <a:rPr b="1" sz="1100">
                <a:solidFill>
                  <a:srgbClr val="1F497D"/>
                </a:solidFill>
              </a:rPr>
              <a:t>M14</a:t>
            </a:r>
          </a:p>
          <a:p>
            <a:pPr algn="l"/>
            <a:r>
              <a:rPr b="1" sz="1300">
                <a:solidFill>
                  <a:srgbClr val="C00000"/>
                </a:solidFill>
              </a:rPr>
              <a:t>Costo: 270.73 días</a:t>
            </a:r>
          </a:p>
          <a:p>
            <a:pPr algn="l"/>
            <a:r>
              <a:rPr b="0" sz="1000">
                <a:solidFill>
                  <a:srgbClr val="404040"/>
                </a:solidFill>
              </a:rPr>
              <a:t>Tiempo: 69.50 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Resultados — Mejor Costo Encontrado por Módulo</a:t>
            </a:r>
          </a:p>
          <a:p>
            <a:pPr algn="l"/>
            <a:r>
              <a:rPr b="0" sz="1300">
                <a:solidFill>
                  <a:srgbClr val="BDD7EE"/>
                </a:solidFill>
              </a:rPr>
              <a:t>Línea base: ~270 días  ·  Entorno: PC Raúl  ·  seed=42</a:t>
            </a:r>
          </a:p>
        </p:txBody>
      </p:sp>
      <p:graphicFrame>
        <p:nvGraphicFramePr>
          <p:cNvPr id="3" name="Table 2"/>
          <p:cNvGraphicFramePr>
            <a:graphicFrameLocks noGrp="1"/>
          </p:cNvGraphicFramePr>
          <p:nvPr/>
        </p:nvGraphicFramePr>
        <p:xfrm>
          <a:off x="228600" y="1353312"/>
          <a:ext cx="9189720" cy="4114800"/>
        </p:xfrm>
        <a:graphic>
          <a:graphicData uri="http://schemas.openxmlformats.org/drawingml/2006/table">
            <a:tbl>
              <a:tblPr firstRow="1" bandRow="1">
                <a:tableStyleId>{5C22544A-7EE6-4342-B048-85BDC9FD1C3A}</a:tableStyleId>
              </a:tblPr>
              <a:tblGrid>
                <a:gridCol w="457200"/>
                <a:gridCol w="777240"/>
                <a:gridCol w="1920240"/>
                <a:gridCol w="1280160"/>
                <a:gridCol w="914400"/>
                <a:gridCol w="1005840"/>
                <a:gridCol w="777240"/>
                <a:gridCol w="685800"/>
                <a:gridCol w="1371600"/>
              </a:tblGrid>
              <a:tr h="822960">
                <a:tc>
                  <a:txBody>
                    <a:bodyPr wrap="square"/>
                    <a:lstStyle/>
                    <a:p>
                      <a:pPr algn="ctr"/>
                      <a:r>
                        <a:rPr b="1" sz="1050">
                          <a:solidFill>
                            <a:srgbClr val="FFFFFF"/>
                          </a:solidFill>
                        </a:rPr>
                        <a:t>Rank</a:t>
                      </a:r>
                    </a:p>
                  </a:txBody>
                  <a:tcPr>
                    <a:solidFill>
                      <a:srgbClr val="1F497D"/>
                    </a:solidFill>
                  </a:tcPr>
                </a:tc>
                <a:tc>
                  <a:txBody>
                    <a:bodyPr wrap="square"/>
                    <a:lstStyle/>
                    <a:p>
                      <a:pPr algn="ctr"/>
                      <a:r>
                        <a:rPr b="1" sz="1050">
                          <a:solidFill>
                            <a:srgbClr val="FFFFFF"/>
                          </a:solidFill>
                        </a:rPr>
                        <a:t>Módulo</a:t>
                      </a:r>
                    </a:p>
                  </a:txBody>
                  <a:tcPr>
                    <a:solidFill>
                      <a:srgbClr val="1F497D"/>
                    </a:solidFill>
                  </a:tcPr>
                </a:tc>
                <a:tc>
                  <a:txBody>
                    <a:bodyPr wrap="square"/>
                    <a:lstStyle/>
                    <a:p>
                      <a:pPr algn="ctr"/>
                      <a:r>
                        <a:rPr b="1" sz="1050">
                          <a:solidFill>
                            <a:srgbClr val="FFFFFF"/>
                          </a:solidFill>
                        </a:rPr>
                        <a:t>Algoritmo</a:t>
                      </a:r>
                    </a:p>
                  </a:txBody>
                  <a:tcPr>
                    <a:solidFill>
                      <a:srgbClr val="1F497D"/>
                    </a:solidFill>
                  </a:tcPr>
                </a:tc>
                <a:tc>
                  <a:txBody>
                    <a:bodyPr wrap="square"/>
                    <a:lstStyle/>
                    <a:p>
                      <a:pPr algn="ctr"/>
                      <a:r>
                        <a:rPr b="1" sz="1050">
                          <a:solidFill>
                            <a:srgbClr val="FFFFFF"/>
                          </a:solidFill>
                        </a:rPr>
                        <a:t>Familia</a:t>
                      </a:r>
                    </a:p>
                  </a:txBody>
                  <a:tcPr>
                    <a:solidFill>
                      <a:srgbClr val="1F497D"/>
                    </a:solidFill>
                  </a:tcPr>
                </a:tc>
                <a:tc>
                  <a:txBody>
                    <a:bodyPr wrap="square"/>
                    <a:lstStyle/>
                    <a:p>
                      <a:pPr algn="ctr"/>
                      <a:r>
                        <a:rPr b="1" sz="1050">
                          <a:solidFill>
                            <a:srgbClr val="FFFFFF"/>
                          </a:solidFill>
                        </a:rPr>
                        <a:t>Costo
(días)</a:t>
                      </a:r>
                    </a:p>
                  </a:txBody>
                  <a:tcPr>
                    <a:solidFill>
                      <a:srgbClr val="1F497D"/>
                    </a:solidFill>
                  </a:tcPr>
                </a:tc>
                <a:tc>
                  <a:txBody>
                    <a:bodyPr wrap="square"/>
                    <a:lstStyle/>
                    <a:p>
                      <a:pPr algn="ctr"/>
                      <a:r>
                        <a:rPr b="1" sz="1050">
                          <a:solidFill>
                            <a:srgbClr val="FFFFFF"/>
                          </a:solidFill>
                        </a:rPr>
                        <a:t>vs Línea Base</a:t>
                      </a:r>
                    </a:p>
                  </a:txBody>
                  <a:tcPr>
                    <a:solidFill>
                      <a:srgbClr val="1F497D"/>
                    </a:solidFill>
                  </a:tcPr>
                </a:tc>
                <a:tc>
                  <a:txBody>
                    <a:bodyPr wrap="square"/>
                    <a:lstStyle/>
                    <a:p>
                      <a:pPr algn="ctr"/>
                      <a:r>
                        <a:rPr b="1" sz="1050">
                          <a:solidFill>
                            <a:srgbClr val="FFFFFF"/>
                          </a:solidFill>
                        </a:rPr>
                        <a:t>Tiempo
(h)</a:t>
                      </a:r>
                    </a:p>
                  </a:txBody>
                  <a:tcPr>
                    <a:solidFill>
                      <a:srgbClr val="1F497D"/>
                    </a:solidFill>
                  </a:tcPr>
                </a:tc>
                <a:tc>
                  <a:txBody>
                    <a:bodyPr wrap="square"/>
                    <a:lstStyle/>
                    <a:p>
                      <a:pPr algn="ctr"/>
                      <a:r>
                        <a:rPr b="1" sz="1050">
                          <a:solidFill>
                            <a:srgbClr val="FFFFFF"/>
                          </a:solidFill>
                        </a:rPr>
                        <a:t>Eval.
(n)</a:t>
                      </a:r>
                    </a:p>
                  </a:txBody>
                  <a:tcPr>
                    <a:solidFill>
                      <a:srgbClr val="1F497D"/>
                    </a:solidFill>
                  </a:tcPr>
                </a:tc>
                <a:tc>
                  <a:txBody>
                    <a:bodyPr wrap="square"/>
                    <a:lstStyle/>
                    <a:p>
                      <a:pPr algn="ctr"/>
                      <a:r>
                        <a:rPr b="1" sz="1050">
                          <a:solidFill>
                            <a:srgbClr val="FFFFFF"/>
                          </a:solidFill>
                        </a:rPr>
                        <a:t>Converge</a:t>
                      </a:r>
                    </a:p>
                  </a:txBody>
                  <a:tcPr>
                    <a:solidFill>
                      <a:srgbClr val="1F497D"/>
                    </a:solidFill>
                  </a:tcPr>
                </a:tc>
              </a:tr>
              <a:tr h="822960">
                <a:tc>
                  <a:txBody>
                    <a:bodyPr wrap="square"/>
                    <a:lstStyle/>
                    <a:p>
                      <a:pPr algn="ctr"/>
                      <a:r>
                        <a:rPr b="0" sz="1050">
                          <a:solidFill>
                            <a:srgbClr val="404040"/>
                          </a:solidFill>
                        </a:rPr>
                        <a:t>1</a:t>
                      </a:r>
                    </a:p>
                  </a:txBody>
                  <a:tcPr>
                    <a:solidFill>
                      <a:srgbClr val="C5DEF2"/>
                    </a:solidFill>
                  </a:tcPr>
                </a:tc>
                <a:tc>
                  <a:txBody>
                    <a:bodyPr wrap="square"/>
                    <a:lstStyle/>
                    <a:p>
                      <a:pPr algn="ctr"/>
                      <a:r>
                        <a:rPr b="0" sz="1050">
                          <a:solidFill>
                            <a:srgbClr val="404040"/>
                          </a:solidFill>
                        </a:rPr>
                        <a:t>M10-HPO</a:t>
                      </a:r>
                    </a:p>
                  </a:txBody>
                  <a:tcPr>
                    <a:solidFill>
                      <a:srgbClr val="C5DEF2"/>
                    </a:solidFill>
                  </a:tcPr>
                </a:tc>
                <a:tc>
                  <a:txBody>
                    <a:bodyPr wrap="square"/>
                    <a:lstStyle/>
                    <a:p>
                      <a:pPr algn="l"/>
                      <a:r>
                        <a:rPr b="0" sz="1050">
                          <a:solidFill>
                            <a:srgbClr val="404040"/>
                          </a:solidFill>
                        </a:rPr>
                        <a:t>SK-KGCP (100 eval)</a:t>
                      </a:r>
                    </a:p>
                  </a:txBody>
                  <a:tcPr>
                    <a:solidFill>
                      <a:srgbClr val="C5DEF2"/>
                    </a:solidFill>
                  </a:tcPr>
                </a:tc>
                <a:tc>
                  <a:txBody>
                    <a:bodyPr wrap="square"/>
                    <a:lstStyle/>
                    <a:p>
                      <a:pPr algn="l"/>
                      <a:r>
                        <a:rPr b="0" sz="1050">
                          <a:solidFill>
                            <a:srgbClr val="404040"/>
                          </a:solidFill>
                        </a:rPr>
                        <a:t>Bayesiana — SK</a:t>
                      </a:r>
                    </a:p>
                  </a:txBody>
                  <a:tcPr>
                    <a:solidFill>
                      <a:srgbClr val="C5DEF2"/>
                    </a:solidFill>
                  </a:tcPr>
                </a:tc>
                <a:tc>
                  <a:txBody>
                    <a:bodyPr wrap="square"/>
                    <a:lstStyle/>
                    <a:p>
                      <a:pPr algn="ctr"/>
                      <a:r>
                        <a:rPr b="0" sz="1050">
                          <a:solidFill>
                            <a:srgbClr val="378648"/>
                          </a:solidFill>
                        </a:rPr>
                        <a:t>212.03</a:t>
                      </a:r>
                    </a:p>
                  </a:txBody>
                  <a:tcPr>
                    <a:solidFill>
                      <a:srgbClr val="C5DEF2"/>
                    </a:solidFill>
                  </a:tcPr>
                </a:tc>
                <a:tc>
                  <a:txBody>
                    <a:bodyPr wrap="square"/>
                    <a:lstStyle/>
                    <a:p>
                      <a:pPr algn="ctr"/>
                      <a:r>
                        <a:rPr b="0" sz="1050">
                          <a:solidFill>
                            <a:srgbClr val="404040"/>
                          </a:solidFill>
                        </a:rPr>
                        <a:t>−21.7%</a:t>
                      </a:r>
                    </a:p>
                  </a:txBody>
                  <a:tcPr>
                    <a:solidFill>
                      <a:srgbClr val="C5DEF2"/>
                    </a:solidFill>
                  </a:tcPr>
                </a:tc>
                <a:tc>
                  <a:txBody>
                    <a:bodyPr wrap="square"/>
                    <a:lstStyle/>
                    <a:p>
                      <a:pPr algn="ctr"/>
                      <a:r>
                        <a:rPr b="0" sz="1050">
                          <a:solidFill>
                            <a:srgbClr val="404040"/>
                          </a:solidFill>
                        </a:rPr>
                        <a:t>12.27</a:t>
                      </a:r>
                    </a:p>
                  </a:txBody>
                  <a:tcPr>
                    <a:solidFill>
                      <a:srgbClr val="C5DEF2"/>
                    </a:solidFill>
                  </a:tcPr>
                </a:tc>
                <a:tc>
                  <a:txBody>
                    <a:bodyPr wrap="square"/>
                    <a:lstStyle/>
                    <a:p>
                      <a:pPr algn="ctr"/>
                      <a:r>
                        <a:rPr b="0" sz="1050">
                          <a:solidFill>
                            <a:srgbClr val="404040"/>
                          </a:solidFill>
                        </a:rPr>
                        <a:t>100</a:t>
                      </a:r>
                    </a:p>
                  </a:txBody>
                  <a:tcPr>
                    <a:solidFill>
                      <a:srgbClr val="C5DEF2"/>
                    </a:solidFill>
                  </a:tcPr>
                </a:tc>
                <a:tc>
                  <a:txBody>
                    <a:bodyPr wrap="square"/>
                    <a:lstStyle/>
                    <a:p>
                      <a:pPr algn="l"/>
                      <a:r>
                        <a:rPr b="0" sz="1050">
                          <a:solidFill>
                            <a:srgbClr val="404040"/>
                          </a:solidFill>
                        </a:rPr>
                        <a:t>Sí (SK)</a:t>
                      </a:r>
                    </a:p>
                  </a:txBody>
                  <a:tcPr>
                    <a:solidFill>
                      <a:srgbClr val="C5DEF2"/>
                    </a:solidFill>
                  </a:tcPr>
                </a:tc>
              </a:tr>
              <a:tr h="822960">
                <a:tc>
                  <a:txBody>
                    <a:bodyPr wrap="square"/>
                    <a:lstStyle/>
                    <a:p>
                      <a:pPr algn="ctr"/>
                      <a:r>
                        <a:rPr b="0" sz="1050">
                          <a:solidFill>
                            <a:srgbClr val="404040"/>
                          </a:solidFill>
                        </a:rPr>
                        <a:t>2</a:t>
                      </a:r>
                    </a:p>
                  </a:txBody>
                  <a:tcPr>
                    <a:solidFill>
                      <a:srgbClr val="E2F0D9"/>
                    </a:solidFill>
                  </a:tcPr>
                </a:tc>
                <a:tc>
                  <a:txBody>
                    <a:bodyPr wrap="square"/>
                    <a:lstStyle/>
                    <a:p>
                      <a:pPr algn="ctr"/>
                      <a:r>
                        <a:rPr b="0" sz="1050">
                          <a:solidFill>
                            <a:srgbClr val="404040"/>
                          </a:solidFill>
                        </a:rPr>
                        <a:t>M13</a:t>
                      </a:r>
                    </a:p>
                  </a:txBody>
                  <a:tcPr>
                    <a:solidFill>
                      <a:srgbClr val="E2F0D9"/>
                    </a:solidFill>
                  </a:tcPr>
                </a:tc>
                <a:tc>
                  <a:txBody>
                    <a:bodyPr wrap="square"/>
                    <a:lstStyle/>
                    <a:p>
                      <a:pPr algn="l"/>
                      <a:r>
                        <a:rPr b="0" sz="1050">
                          <a:solidFill>
                            <a:srgbClr val="404040"/>
                          </a:solidFill>
                        </a:rPr>
                        <a:t>SPSA</a:t>
                      </a:r>
                    </a:p>
                  </a:txBody>
                  <a:tcPr>
                    <a:solidFill>
                      <a:srgbClr val="E2F0D9"/>
                    </a:solidFill>
                  </a:tcPr>
                </a:tc>
                <a:tc>
                  <a:txBody>
                    <a:bodyPr wrap="square"/>
                    <a:lstStyle/>
                    <a:p>
                      <a:pPr algn="l"/>
                      <a:r>
                        <a:rPr b="0" sz="1050">
                          <a:solidFill>
                            <a:srgbClr val="404040"/>
                          </a:solidFill>
                        </a:rPr>
                        <a:t>Gradiente Estoc.</a:t>
                      </a:r>
                    </a:p>
                  </a:txBody>
                  <a:tcPr>
                    <a:solidFill>
                      <a:srgbClr val="E2F0D9"/>
                    </a:solidFill>
                  </a:tcPr>
                </a:tc>
                <a:tc>
                  <a:txBody>
                    <a:bodyPr wrap="square"/>
                    <a:lstStyle/>
                    <a:p>
                      <a:pPr algn="ctr"/>
                      <a:r>
                        <a:rPr b="0" sz="1050">
                          <a:solidFill>
                            <a:srgbClr val="404040"/>
                          </a:solidFill>
                        </a:rPr>
                        <a:t>219.38</a:t>
                      </a:r>
                    </a:p>
                  </a:txBody>
                  <a:tcPr>
                    <a:solidFill>
                      <a:srgbClr val="E2F0D9"/>
                    </a:solidFill>
                  </a:tcPr>
                </a:tc>
                <a:tc>
                  <a:txBody>
                    <a:bodyPr wrap="square"/>
                    <a:lstStyle/>
                    <a:p>
                      <a:pPr algn="ctr"/>
                      <a:r>
                        <a:rPr b="0" sz="1050">
                          <a:solidFill>
                            <a:srgbClr val="404040"/>
                          </a:solidFill>
                        </a:rPr>
                        <a:t>−19.0%</a:t>
                      </a:r>
                    </a:p>
                  </a:txBody>
                  <a:tcPr>
                    <a:solidFill>
                      <a:srgbClr val="E2F0D9"/>
                    </a:solidFill>
                  </a:tcPr>
                </a:tc>
                <a:tc>
                  <a:txBody>
                    <a:bodyPr wrap="square"/>
                    <a:lstStyle/>
                    <a:p>
                      <a:pPr algn="ctr"/>
                      <a:r>
                        <a:rPr b="0" sz="1050">
                          <a:solidFill>
                            <a:srgbClr val="404040"/>
                          </a:solidFill>
                        </a:rPr>
                        <a:t>8.65</a:t>
                      </a:r>
                    </a:p>
                  </a:txBody>
                  <a:tcPr>
                    <a:solidFill>
                      <a:srgbClr val="E2F0D9"/>
                    </a:solidFill>
                  </a:tcPr>
                </a:tc>
                <a:tc>
                  <a:txBody>
                    <a:bodyPr wrap="square"/>
                    <a:lstStyle/>
                    <a:p>
                      <a:pPr algn="ctr"/>
                      <a:r>
                        <a:rPr b="0" sz="1050">
                          <a:solidFill>
                            <a:srgbClr val="404040"/>
                          </a:solidFill>
                        </a:rPr>
                        <a:t>60</a:t>
                      </a:r>
                    </a:p>
                  </a:txBody>
                  <a:tcPr>
                    <a:solidFill>
                      <a:srgbClr val="E2F0D9"/>
                    </a:solidFill>
                  </a:tcPr>
                </a:tc>
                <a:tc>
                  <a:txBody>
                    <a:bodyPr wrap="square"/>
                    <a:lstStyle/>
                    <a:p>
                      <a:pPr algn="l"/>
                      <a:r>
                        <a:rPr b="0" sz="1050">
                          <a:solidFill>
                            <a:srgbClr val="404040"/>
                          </a:solidFill>
                        </a:rPr>
                        <a:t>Sí (parcial)</a:t>
                      </a:r>
                    </a:p>
                  </a:txBody>
                  <a:tcPr>
                    <a:solidFill>
                      <a:srgbClr val="E2F0D9"/>
                    </a:solidFill>
                  </a:tcPr>
                </a:tc>
              </a:tr>
              <a:tr h="822960">
                <a:tc>
                  <a:txBody>
                    <a:bodyPr wrap="square"/>
                    <a:lstStyle/>
                    <a:p>
                      <a:pPr algn="ctr"/>
                      <a:r>
                        <a:rPr b="0" sz="1050">
                          <a:solidFill>
                            <a:srgbClr val="404040"/>
                          </a:solidFill>
                        </a:rPr>
                        <a:t>3</a:t>
                      </a:r>
                    </a:p>
                  </a:txBody>
                  <a:tcPr>
                    <a:solidFill>
                      <a:srgbClr val="D9EAF7"/>
                    </a:solidFill>
                  </a:tcPr>
                </a:tc>
                <a:tc>
                  <a:txBody>
                    <a:bodyPr wrap="square"/>
                    <a:lstStyle/>
                    <a:p>
                      <a:pPr algn="ctr"/>
                      <a:r>
                        <a:rPr b="0" sz="1050">
                          <a:solidFill>
                            <a:srgbClr val="404040"/>
                          </a:solidFill>
                        </a:rPr>
                        <a:t>M4</a:t>
                      </a:r>
                    </a:p>
                  </a:txBody>
                  <a:tcPr>
                    <a:solidFill>
                      <a:srgbClr val="D9EAF7"/>
                    </a:solidFill>
                  </a:tcPr>
                </a:tc>
                <a:tc>
                  <a:txBody>
                    <a:bodyPr wrap="square"/>
                    <a:lstStyle/>
                    <a:p>
                      <a:pPr algn="l"/>
                      <a:r>
                        <a:rPr b="0" sz="1050">
                          <a:solidFill>
                            <a:srgbClr val="404040"/>
                          </a:solidFill>
                        </a:rPr>
                        <a:t>SMAC BlackBox (GP+EI)</a:t>
                      </a:r>
                    </a:p>
                  </a:txBody>
                  <a:tcPr>
                    <a:solidFill>
                      <a:srgbClr val="D9EAF7"/>
                    </a:solidFill>
                  </a:tcPr>
                </a:tc>
                <a:tc>
                  <a:txBody>
                    <a:bodyPr wrap="square"/>
                    <a:lstStyle/>
                    <a:p>
                      <a:pPr algn="l"/>
                      <a:r>
                        <a:rPr b="0" sz="1050">
                          <a:solidFill>
                            <a:srgbClr val="404040"/>
                          </a:solidFill>
                        </a:rPr>
                        <a:t>Bayesiana — GP</a:t>
                      </a:r>
                    </a:p>
                  </a:txBody>
                  <a:tcPr>
                    <a:solidFill>
                      <a:srgbClr val="D9EAF7"/>
                    </a:solidFill>
                  </a:tcPr>
                </a:tc>
                <a:tc>
                  <a:txBody>
                    <a:bodyPr wrap="square"/>
                    <a:lstStyle/>
                    <a:p>
                      <a:pPr algn="ctr"/>
                      <a:r>
                        <a:rPr b="0" sz="1050">
                          <a:solidFill>
                            <a:srgbClr val="404040"/>
                          </a:solidFill>
                        </a:rPr>
                        <a:t>230.80</a:t>
                      </a:r>
                    </a:p>
                  </a:txBody>
                  <a:tcPr>
                    <a:solidFill>
                      <a:srgbClr val="D9EAF7"/>
                    </a:solidFill>
                  </a:tcPr>
                </a:tc>
                <a:tc>
                  <a:txBody>
                    <a:bodyPr wrap="square"/>
                    <a:lstStyle/>
                    <a:p>
                      <a:pPr algn="ctr"/>
                      <a:r>
                        <a:rPr b="0" sz="1050">
                          <a:solidFill>
                            <a:srgbClr val="404040"/>
                          </a:solidFill>
                        </a:rPr>
                        <a:t>−14.8%</a:t>
                      </a:r>
                    </a:p>
                  </a:txBody>
                  <a:tcPr>
                    <a:solidFill>
                      <a:srgbClr val="D9EAF7"/>
                    </a:solidFill>
                  </a:tcPr>
                </a:tc>
                <a:tc>
                  <a:txBody>
                    <a:bodyPr wrap="square"/>
                    <a:lstStyle/>
                    <a:p>
                      <a:pPr algn="ctr"/>
                      <a:r>
                        <a:rPr b="0" sz="1050">
                          <a:solidFill>
                            <a:srgbClr val="404040"/>
                          </a:solidFill>
                        </a:rPr>
                        <a:t>3.09</a:t>
                      </a:r>
                    </a:p>
                  </a:txBody>
                  <a:tcPr>
                    <a:solidFill>
                      <a:srgbClr val="D9EAF7"/>
                    </a:solidFill>
                  </a:tcPr>
                </a:tc>
                <a:tc>
                  <a:txBody>
                    <a:bodyPr wrap="square"/>
                    <a:lstStyle/>
                    <a:p>
                      <a:pPr algn="ctr"/>
                      <a:r>
                        <a:rPr b="0" sz="1050">
                          <a:solidFill>
                            <a:srgbClr val="404040"/>
                          </a:solidFill>
                        </a:rPr>
                        <a:t>20</a:t>
                      </a:r>
                    </a:p>
                  </a:txBody>
                  <a:tcPr>
                    <a:solidFill>
                      <a:srgbClr val="D9EAF7"/>
                    </a:solidFill>
                  </a:tcPr>
                </a:tc>
                <a:tc>
                  <a:txBody>
                    <a:bodyPr wrap="square"/>
                    <a:lstStyle/>
                    <a:p>
                      <a:pPr algn="l"/>
                      <a:r>
                        <a:rPr b="0" sz="1050">
                          <a:solidFill>
                            <a:srgbClr val="404040"/>
                          </a:solidFill>
                        </a:rPr>
                        <a:t>Sí (GP)</a:t>
                      </a:r>
                    </a:p>
                  </a:txBody>
                  <a:tcPr>
                    <a:solidFill>
                      <a:srgbClr val="D9EAF7"/>
                    </a:solidFill>
                  </a:tcPr>
                </a:tc>
              </a:tr>
              <a:tr h="822960">
                <a:tc>
                  <a:txBody>
                    <a:bodyPr wrap="square"/>
                    <a:lstStyle/>
                    <a:p>
                      <a:pPr algn="ctr"/>
                      <a:r>
                        <a:rPr b="0" sz="1050">
                          <a:solidFill>
                            <a:srgbClr val="404040"/>
                          </a:solidFill>
                        </a:rPr>
                        <a:t>4</a:t>
                      </a:r>
                    </a:p>
                  </a:txBody>
                  <a:tcPr>
                    <a:solidFill>
                      <a:srgbClr val="FFEBCC"/>
                    </a:solidFill>
                  </a:tcPr>
                </a:tc>
                <a:tc>
                  <a:txBody>
                    <a:bodyPr wrap="square"/>
                    <a:lstStyle/>
                    <a:p>
                      <a:pPr algn="ctr"/>
                      <a:r>
                        <a:rPr b="0" sz="1050">
                          <a:solidFill>
                            <a:srgbClr val="404040"/>
                          </a:solidFill>
                        </a:rPr>
                        <a:t>M14</a:t>
                      </a:r>
                    </a:p>
                  </a:txBody>
                  <a:tcPr>
                    <a:solidFill>
                      <a:srgbClr val="FFEBCC"/>
                    </a:solidFill>
                  </a:tcPr>
                </a:tc>
                <a:tc>
                  <a:txBody>
                    <a:bodyPr wrap="square"/>
                    <a:lstStyle/>
                    <a:p>
                      <a:pPr algn="l"/>
                      <a:r>
                        <a:rPr b="0" sz="1050">
                          <a:solidFill>
                            <a:srgbClr val="404040"/>
                          </a:solidFill>
                        </a:rPr>
                        <a:t>ALOE</a:t>
                      </a:r>
                    </a:p>
                  </a:txBody>
                  <a:tcPr>
                    <a:solidFill>
                      <a:srgbClr val="FFEBCC"/>
                    </a:solidFill>
                  </a:tcPr>
                </a:tc>
                <a:tc>
                  <a:txBody>
                    <a:bodyPr wrap="square"/>
                    <a:lstStyle/>
                    <a:p>
                      <a:pPr algn="l"/>
                      <a:r>
                        <a:rPr b="0" sz="1050">
                          <a:solidFill>
                            <a:srgbClr val="404040"/>
                          </a:solidFill>
                        </a:rPr>
                        <a:t>Gradiente Estoc.</a:t>
                      </a:r>
                    </a:p>
                  </a:txBody>
                  <a:tcPr>
                    <a:solidFill>
                      <a:srgbClr val="FFEBCC"/>
                    </a:solidFill>
                  </a:tcPr>
                </a:tc>
                <a:tc>
                  <a:txBody>
                    <a:bodyPr wrap="square"/>
                    <a:lstStyle/>
                    <a:p>
                      <a:pPr algn="ctr"/>
                      <a:r>
                        <a:rPr b="0" sz="1050">
                          <a:solidFill>
                            <a:srgbClr val="C00000"/>
                          </a:solidFill>
                        </a:rPr>
                        <a:t>270.73</a:t>
                      </a:r>
                    </a:p>
                  </a:txBody>
                  <a:tcPr>
                    <a:solidFill>
                      <a:srgbClr val="FFEBCC"/>
                    </a:solidFill>
                  </a:tcPr>
                </a:tc>
                <a:tc>
                  <a:txBody>
                    <a:bodyPr wrap="square"/>
                    <a:lstStyle/>
                    <a:p>
                      <a:pPr algn="ctr"/>
                      <a:r>
                        <a:rPr b="0" sz="1050">
                          <a:solidFill>
                            <a:srgbClr val="404040"/>
                          </a:solidFill>
                        </a:rPr>
                        <a:t>−0.0%</a:t>
                      </a:r>
                    </a:p>
                  </a:txBody>
                  <a:tcPr>
                    <a:solidFill>
                      <a:srgbClr val="FFEBCC"/>
                    </a:solidFill>
                  </a:tcPr>
                </a:tc>
                <a:tc>
                  <a:txBody>
                    <a:bodyPr wrap="square"/>
                    <a:lstStyle/>
                    <a:p>
                      <a:pPr algn="ctr"/>
                      <a:r>
                        <a:rPr b="0" sz="1050">
                          <a:solidFill>
                            <a:srgbClr val="404040"/>
                          </a:solidFill>
                        </a:rPr>
                        <a:t>69.5</a:t>
                      </a:r>
                    </a:p>
                  </a:txBody>
                  <a:tcPr>
                    <a:solidFill>
                      <a:srgbClr val="FFEBCC"/>
                    </a:solidFill>
                  </a:tcPr>
                </a:tc>
                <a:tc>
                  <a:txBody>
                    <a:bodyPr wrap="square"/>
                    <a:lstStyle/>
                    <a:p>
                      <a:pPr algn="ctr"/>
                      <a:r>
                        <a:rPr b="0" sz="1050">
                          <a:solidFill>
                            <a:srgbClr val="404040"/>
                          </a:solidFill>
                        </a:rPr>
                        <a:t>60</a:t>
                      </a:r>
                    </a:p>
                  </a:txBody>
                  <a:tcPr>
                    <a:solidFill>
                      <a:srgbClr val="FFEBCC"/>
                    </a:solidFill>
                  </a:tcPr>
                </a:tc>
                <a:tc>
                  <a:txBody>
                    <a:bodyPr wrap="square"/>
                    <a:lstStyle/>
                    <a:p>
                      <a:pPr algn="l"/>
                      <a:r>
                        <a:rPr b="0" sz="1050">
                          <a:solidFill>
                            <a:srgbClr val="404040"/>
                          </a:solidFill>
                        </a:rPr>
                        <a:t>No (Armijo=False)</a:t>
                      </a:r>
                    </a:p>
                  </a:txBody>
                  <a:tcPr>
                    <a:solidFill>
                      <a:srgbClr val="FFEBCC"/>
                    </a:solidFill>
                  </a:tcPr>
                </a:tc>
              </a:tr>
            </a:tbl>
          </a:graphicData>
        </a:graphic>
      </p:graphicFrame>
      <p:sp>
        <p:nvSpPr>
          <p:cNvPr id="4" name="TextBox 3"/>
          <p:cNvSpPr txBox="1"/>
          <p:nvPr/>
        </p:nvSpPr>
        <p:spPr>
          <a:xfrm>
            <a:off x="228600" y="5577840"/>
            <a:ext cx="11731752" cy="594360"/>
          </a:xfrm>
          <a:prstGeom prst="rect">
            <a:avLst/>
          </a:prstGeom>
          <a:noFill/>
        </p:spPr>
        <p:txBody>
          <a:bodyPr wrap="square">
            <a:spAutoFit/>
          </a:bodyPr>
          <a:lstStyle/>
          <a:p>
            <a:pPr algn="l"/>
            <a:r>
              <a:rPr b="1" sz="1050">
                <a:solidFill>
                  <a:srgbClr val="378648"/>
                </a:solidFill>
              </a:rPr>
              <a:t>★ Mejor resultado: M10-HPO SK-KGCP con 100 evaluaciones → 212.03 días (−21.7% vs línea base).</a:t>
            </a:r>
          </a:p>
          <a:p>
            <a:pPr algn="l"/>
            <a:r>
              <a:rPr b="0" sz="1000">
                <a:solidFill>
                  <a:srgbClr val="C00000"/>
                </a:solidFill>
              </a:rPr>
              <a:t>M14 ALOE no convergió: búsqueda de línea Armijo rechazada en todos los 30 pasos → quedó en x0=270.73 días.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Óptimos (Incumbentes) por Módulo</a:t>
            </a:r>
          </a:p>
          <a:p>
            <a:pPr algn="l"/>
            <a:r>
              <a:rPr b="0" sz="1300">
                <a:solidFill>
                  <a:srgbClr val="BDD7EE"/>
                </a:solidFill>
              </a:rPr>
              <a:t>Configuración que minimizó tts_full_days_mean en cada algoritmo</a:t>
            </a:r>
          </a:p>
        </p:txBody>
      </p:sp>
      <p:graphicFrame>
        <p:nvGraphicFramePr>
          <p:cNvPr id="3" name="Table 2"/>
          <p:cNvGraphicFramePr>
            <a:graphicFrameLocks noGrp="1"/>
          </p:cNvGraphicFramePr>
          <p:nvPr/>
        </p:nvGraphicFramePr>
        <p:xfrm>
          <a:off x="137160" y="1325880"/>
          <a:ext cx="11887200" cy="5257800"/>
        </p:xfrm>
        <a:graphic>
          <a:graphicData uri="http://schemas.openxmlformats.org/drawingml/2006/table">
            <a:tbl>
              <a:tblPr firstRow="1" bandRow="1">
                <a:tableStyleId>{5C22544A-7EE6-4342-B048-85BDC9FD1C3A}</a:tableStyleId>
              </a:tblPr>
              <a:tblGrid>
                <a:gridCol w="2194560"/>
                <a:gridCol w="2423160"/>
                <a:gridCol w="2423160"/>
                <a:gridCol w="2423160"/>
                <a:gridCol w="2423160"/>
              </a:tblGrid>
              <a:tr h="404446">
                <a:tc>
                  <a:txBody>
                    <a:bodyPr wrap="square"/>
                    <a:lstStyle/>
                    <a:p>
                      <a:pPr algn="l"/>
                      <a:r>
                        <a:rPr b="1" sz="1100">
                          <a:solidFill>
                            <a:srgbClr val="FFFFFF"/>
                          </a:solidFill>
                        </a:rPr>
                        <a:t>Parámetro</a:t>
                      </a:r>
                    </a:p>
                  </a:txBody>
                  <a:tcPr>
                    <a:solidFill>
                      <a:srgbClr val="1F497D"/>
                    </a:solidFill>
                  </a:tcPr>
                </a:tc>
                <a:tc>
                  <a:txBody>
                    <a:bodyPr wrap="square"/>
                    <a:lstStyle/>
                    <a:p>
                      <a:pPr algn="ctr"/>
                      <a:r>
                        <a:rPr b="1" sz="1100">
                          <a:solidFill>
                            <a:srgbClr val="FFFFFF"/>
                          </a:solidFill>
                        </a:rPr>
                        <a:t>M4
(230.80 días)</a:t>
                      </a:r>
                    </a:p>
                  </a:txBody>
                  <a:tcPr>
                    <a:solidFill>
                      <a:srgbClr val="1F497D"/>
                    </a:solidFill>
                  </a:tcPr>
                </a:tc>
                <a:tc>
                  <a:txBody>
                    <a:bodyPr wrap="square"/>
                    <a:lstStyle/>
                    <a:p>
                      <a:pPr algn="ctr"/>
                      <a:r>
                        <a:rPr b="1" sz="1100">
                          <a:solidFill>
                            <a:srgbClr val="FFFFFF"/>
                          </a:solidFill>
                        </a:rPr>
                        <a:t>M10-HPO
(212.03 días)</a:t>
                      </a:r>
                    </a:p>
                  </a:txBody>
                  <a:tcPr>
                    <a:solidFill>
                      <a:srgbClr val="1F497D"/>
                    </a:solidFill>
                  </a:tcPr>
                </a:tc>
                <a:tc>
                  <a:txBody>
                    <a:bodyPr wrap="square"/>
                    <a:lstStyle/>
                    <a:p>
                      <a:pPr algn="ctr"/>
                      <a:r>
                        <a:rPr b="1" sz="1100">
                          <a:solidFill>
                            <a:srgbClr val="FFFFFF"/>
                          </a:solidFill>
                        </a:rPr>
                        <a:t>M13
(219.38 días)</a:t>
                      </a:r>
                    </a:p>
                  </a:txBody>
                  <a:tcPr>
                    <a:solidFill>
                      <a:srgbClr val="1F497D"/>
                    </a:solidFill>
                  </a:tcPr>
                </a:tc>
                <a:tc>
                  <a:txBody>
                    <a:bodyPr wrap="square"/>
                    <a:lstStyle/>
                    <a:p>
                      <a:pPr algn="ctr"/>
                      <a:r>
                        <a:rPr b="1" sz="1100">
                          <a:solidFill>
                            <a:srgbClr val="FFFFFF"/>
                          </a:solidFill>
                        </a:rPr>
                        <a:t>M14
(270.73 días)</a:t>
                      </a:r>
                    </a:p>
                  </a:txBody>
                  <a:tcPr>
                    <a:solidFill>
                      <a:srgbClr val="1F497D"/>
                    </a:solidFill>
                  </a:tcPr>
                </a:tc>
              </a:tr>
              <a:tr h="404446">
                <a:tc>
                  <a:txBody>
                    <a:bodyPr wrap="square"/>
                    <a:lstStyle/>
                    <a:p>
                      <a:pPr algn="l"/>
                      <a:r>
                        <a:rPr b="0" sz="1000">
                          <a:solidFill>
                            <a:srgbClr val="404040"/>
                          </a:solidFill>
                        </a:rPr>
                        <a:t>cupos_eco_matrona</a:t>
                      </a:r>
                    </a:p>
                  </a:txBody>
                  <a:tcPr>
                    <a:solidFill>
                      <a:srgbClr val="FFFFFF"/>
                    </a:solidFill>
                  </a:tcPr>
                </a:tc>
                <a:tc>
                  <a:txBody>
                    <a:bodyPr wrap="square"/>
                    <a:lstStyle/>
                    <a:p>
                      <a:pPr algn="ctr"/>
                      <a:r>
                        <a:rPr b="0" sz="1000">
                          <a:solidFill>
                            <a:srgbClr val="404040"/>
                          </a:solidFill>
                        </a:rPr>
                        <a:t>25</a:t>
                      </a:r>
                    </a:p>
                  </a:txBody>
                  <a:tcPr>
                    <a:solidFill>
                      <a:srgbClr val="FFFFFF"/>
                    </a:solidFill>
                  </a:tcPr>
                </a:tc>
                <a:tc>
                  <a:txBody>
                    <a:bodyPr wrap="square"/>
                    <a:lstStyle/>
                    <a:p>
                      <a:pPr algn="ctr"/>
                      <a:r>
                        <a:rPr b="0" sz="1000">
                          <a:solidFill>
                            <a:srgbClr val="404040"/>
                          </a:solidFill>
                        </a:rPr>
                        <a:t>19</a:t>
                      </a:r>
                    </a:p>
                  </a:txBody>
                  <a:tcPr>
                    <a:solidFill>
                      <a:srgbClr val="FFFFFF"/>
                    </a:solidFill>
                  </a:tcPr>
                </a:tc>
                <a:tc>
                  <a:txBody>
                    <a:bodyPr wrap="square"/>
                    <a:lstStyle/>
                    <a:p>
                      <a:pPr algn="ctr"/>
                      <a:r>
                        <a:rPr b="0" sz="1000">
                          <a:solidFill>
                            <a:srgbClr val="404040"/>
                          </a:solidFill>
                        </a:rPr>
                        <a:t>50</a:t>
                      </a:r>
                    </a:p>
                  </a:txBody>
                  <a:tcPr>
                    <a:solidFill>
                      <a:srgbClr val="FFFFFF"/>
                    </a:solidFill>
                  </a:tcPr>
                </a:tc>
                <a:tc>
                  <a:txBody>
                    <a:bodyPr wrap="square"/>
                    <a:lstStyle/>
                    <a:p>
                      <a:pPr algn="ctr"/>
                      <a:r>
                        <a:rPr b="0" sz="1000">
                          <a:solidFill>
                            <a:srgbClr val="404040"/>
                          </a:solidFill>
                        </a:rPr>
                        <a:t>30</a:t>
                      </a:r>
                    </a:p>
                  </a:txBody>
                  <a:tcPr>
                    <a:solidFill>
                      <a:srgbClr val="FFFFFF"/>
                    </a:solidFill>
                  </a:tcPr>
                </a:tc>
              </a:tr>
              <a:tr h="404446">
                <a:tc>
                  <a:txBody>
                    <a:bodyPr wrap="square"/>
                    <a:lstStyle/>
                    <a:p>
                      <a:pPr algn="l"/>
                      <a:r>
                        <a:rPr b="0" sz="1000">
                          <a:solidFill>
                            <a:srgbClr val="404040"/>
                          </a:solidFill>
                        </a:rPr>
                        <a:t>cupos_eco_ugd</a:t>
                      </a:r>
                    </a:p>
                  </a:txBody>
                  <a:tcPr>
                    <a:solidFill>
                      <a:srgbClr val="BDD7EE"/>
                    </a:solidFill>
                  </a:tcPr>
                </a:tc>
                <a:tc>
                  <a:txBody>
                    <a:bodyPr wrap="square"/>
                    <a:lstStyle/>
                    <a:p>
                      <a:pPr algn="ctr"/>
                      <a:r>
                        <a:rPr b="0" sz="1000">
                          <a:solidFill>
                            <a:srgbClr val="404040"/>
                          </a:solidFill>
                        </a:rPr>
                        <a:t>23</a:t>
                      </a:r>
                    </a:p>
                  </a:txBody>
                  <a:tcPr>
                    <a:solidFill>
                      <a:srgbClr val="BDD7EE"/>
                    </a:solidFill>
                  </a:tcPr>
                </a:tc>
                <a:tc>
                  <a:txBody>
                    <a:bodyPr wrap="square"/>
                    <a:lstStyle/>
                    <a:p>
                      <a:pPr algn="ctr"/>
                      <a:r>
                        <a:rPr b="0" sz="1000">
                          <a:solidFill>
                            <a:srgbClr val="404040"/>
                          </a:solidFill>
                        </a:rPr>
                        <a:t>21</a:t>
                      </a:r>
                    </a:p>
                  </a:txBody>
                  <a:tcPr>
                    <a:solidFill>
                      <a:srgbClr val="BDD7EE"/>
                    </a:solidFill>
                  </a:tcPr>
                </a:tc>
                <a:tc>
                  <a:txBody>
                    <a:bodyPr wrap="square"/>
                    <a:lstStyle/>
                    <a:p>
                      <a:pPr algn="ctr"/>
                      <a:r>
                        <a:rPr b="0" sz="1000">
                          <a:solidFill>
                            <a:srgbClr val="404040"/>
                          </a:solidFill>
                        </a:rPr>
                        <a:t>10</a:t>
                      </a:r>
                    </a:p>
                  </a:txBody>
                  <a:tcPr>
                    <a:solidFill>
                      <a:srgbClr val="BDD7EE"/>
                    </a:solidFill>
                  </a:tcPr>
                </a:tc>
                <a:tc>
                  <a:txBody>
                    <a:bodyPr wrap="square"/>
                    <a:lstStyle/>
                    <a:p>
                      <a:pPr algn="ctr"/>
                      <a:r>
                        <a:rPr b="0" sz="1000">
                          <a:solidFill>
                            <a:srgbClr val="404040"/>
                          </a:solidFill>
                        </a:rPr>
                        <a:t>30</a:t>
                      </a:r>
                    </a:p>
                  </a:txBody>
                  <a:tcPr>
                    <a:solidFill>
                      <a:srgbClr val="BDD7EE"/>
                    </a:solidFill>
                  </a:tcPr>
                </a:tc>
              </a:tr>
              <a:tr h="404446">
                <a:tc>
                  <a:txBody>
                    <a:bodyPr wrap="square"/>
                    <a:lstStyle/>
                    <a:p>
                      <a:pPr algn="l"/>
                      <a:r>
                        <a:rPr b="0" sz="1000">
                          <a:solidFill>
                            <a:srgbClr val="404040"/>
                          </a:solidFill>
                        </a:rPr>
                        <a:t>cupos_lab_ugd</a:t>
                      </a:r>
                    </a:p>
                  </a:txBody>
                  <a:tcPr>
                    <a:solidFill>
                      <a:srgbClr val="FFFFFF"/>
                    </a:solidFill>
                  </a:tcPr>
                </a:tc>
                <a:tc>
                  <a:txBody>
                    <a:bodyPr wrap="square"/>
                    <a:lstStyle/>
                    <a:p>
                      <a:pPr algn="ctr"/>
                      <a:r>
                        <a:rPr b="0" sz="1000">
                          <a:solidFill>
                            <a:srgbClr val="404040"/>
                          </a:solidFill>
                        </a:rPr>
                        <a:t>67</a:t>
                      </a:r>
                    </a:p>
                  </a:txBody>
                  <a:tcPr>
                    <a:solidFill>
                      <a:srgbClr val="FFFFFF"/>
                    </a:solidFill>
                  </a:tcPr>
                </a:tc>
                <a:tc>
                  <a:txBody>
                    <a:bodyPr wrap="square"/>
                    <a:lstStyle/>
                    <a:p>
                      <a:pPr algn="ctr"/>
                      <a:r>
                        <a:rPr b="0" sz="1000">
                          <a:solidFill>
                            <a:srgbClr val="404040"/>
                          </a:solidFill>
                        </a:rPr>
                        <a:t>81</a:t>
                      </a:r>
                    </a:p>
                  </a:txBody>
                  <a:tcPr>
                    <a:solidFill>
                      <a:srgbClr val="FFFFFF"/>
                    </a:solidFill>
                  </a:tcPr>
                </a:tc>
                <a:tc>
                  <a:txBody>
                    <a:bodyPr wrap="square"/>
                    <a:lstStyle/>
                    <a:p>
                      <a:pPr algn="ctr"/>
                      <a:r>
                        <a:rPr b="0" sz="1000">
                          <a:solidFill>
                            <a:srgbClr val="404040"/>
                          </a:solidFill>
                        </a:rPr>
                        <a:t>100</a:t>
                      </a:r>
                    </a:p>
                  </a:txBody>
                  <a:tcPr>
                    <a:solidFill>
                      <a:srgbClr val="FFFFFF"/>
                    </a:solidFill>
                  </a:tcPr>
                </a:tc>
                <a:tc>
                  <a:txBody>
                    <a:bodyPr wrap="square"/>
                    <a:lstStyle/>
                    <a:p>
                      <a:pPr algn="ctr"/>
                      <a:r>
                        <a:rPr b="0" sz="1000">
                          <a:solidFill>
                            <a:srgbClr val="404040"/>
                          </a:solidFill>
                        </a:rPr>
                        <a:t>60</a:t>
                      </a:r>
                    </a:p>
                  </a:txBody>
                  <a:tcPr>
                    <a:solidFill>
                      <a:srgbClr val="FFFFFF"/>
                    </a:solidFill>
                  </a:tcPr>
                </a:tc>
              </a:tr>
              <a:tr h="404446">
                <a:tc>
                  <a:txBody>
                    <a:bodyPr wrap="square"/>
                    <a:lstStyle/>
                    <a:p>
                      <a:pPr algn="l"/>
                      <a:r>
                        <a:rPr b="0" sz="1000">
                          <a:solidFill>
                            <a:srgbClr val="404040"/>
                          </a:solidFill>
                        </a:rPr>
                        <a:t>dias_publicacion</a:t>
                      </a:r>
                    </a:p>
                  </a:txBody>
                  <a:tcPr>
                    <a:solidFill>
                      <a:srgbClr val="BDD7EE"/>
                    </a:solidFill>
                  </a:tcPr>
                </a:tc>
                <a:tc>
                  <a:txBody>
                    <a:bodyPr wrap="square"/>
                    <a:lstStyle/>
                    <a:p>
                      <a:pPr algn="ctr"/>
                      <a:r>
                        <a:rPr b="0" sz="1000">
                          <a:solidFill>
                            <a:srgbClr val="404040"/>
                          </a:solidFill>
                        </a:rPr>
                        <a:t>2</a:t>
                      </a:r>
                    </a:p>
                  </a:txBody>
                  <a:tcPr>
                    <a:solidFill>
                      <a:srgbClr val="BDD7EE"/>
                    </a:solidFill>
                  </a:tcPr>
                </a:tc>
                <a:tc>
                  <a:txBody>
                    <a:bodyPr wrap="square"/>
                    <a:lstStyle/>
                    <a:p>
                      <a:pPr algn="ctr"/>
                      <a:r>
                        <a:rPr b="0" sz="1000">
                          <a:solidFill>
                            <a:srgbClr val="404040"/>
                          </a:solidFill>
                        </a:rPr>
                        <a:t>8</a:t>
                      </a:r>
                    </a:p>
                  </a:txBody>
                  <a:tcPr>
                    <a:solidFill>
                      <a:srgbClr val="BDD7EE"/>
                    </a:solidFill>
                  </a:tcPr>
                </a:tc>
                <a:tc>
                  <a:txBody>
                    <a:bodyPr wrap="square"/>
                    <a:lstStyle/>
                    <a:p>
                      <a:pPr algn="ctr"/>
                      <a:r>
                        <a:rPr b="0" sz="1000">
                          <a:solidFill>
                            <a:srgbClr val="404040"/>
                          </a:solidFill>
                        </a:rPr>
                        <a:t>1</a:t>
                      </a:r>
                    </a:p>
                  </a:txBody>
                  <a:tcPr>
                    <a:solidFill>
                      <a:srgbClr val="BDD7EE"/>
                    </a:solidFill>
                  </a:tcPr>
                </a:tc>
                <a:tc>
                  <a:txBody>
                    <a:bodyPr wrap="square"/>
                    <a:lstStyle/>
                    <a:p>
                      <a:pPr algn="ctr"/>
                      <a:r>
                        <a:rPr b="0" sz="1000">
                          <a:solidFill>
                            <a:srgbClr val="404040"/>
                          </a:solidFill>
                        </a:rPr>
                        <a:t>6</a:t>
                      </a:r>
                    </a:p>
                  </a:txBody>
                  <a:tcPr>
                    <a:solidFill>
                      <a:srgbClr val="BDD7EE"/>
                    </a:solidFill>
                  </a:tcPr>
                </a:tc>
              </a:tr>
              <a:tr h="404446">
                <a:tc>
                  <a:txBody>
                    <a:bodyPr wrap="square"/>
                    <a:lstStyle/>
                    <a:p>
                      <a:pPr algn="l"/>
                      <a:r>
                        <a:rPr b="0" sz="1000">
                          <a:solidFill>
                            <a:srgbClr val="404040"/>
                          </a:solidFill>
                        </a:rPr>
                        <a:t>horas_control_post</a:t>
                      </a:r>
                    </a:p>
                  </a:txBody>
                  <a:tcPr>
                    <a:solidFill>
                      <a:srgbClr val="FFFFFF"/>
                    </a:solidFill>
                  </a:tcPr>
                </a:tc>
                <a:tc>
                  <a:txBody>
                    <a:bodyPr wrap="square"/>
                    <a:lstStyle/>
                    <a:p>
                      <a:pPr algn="ctr"/>
                      <a:r>
                        <a:rPr b="0" sz="1000">
                          <a:solidFill>
                            <a:srgbClr val="404040"/>
                          </a:solidFill>
                        </a:rPr>
                        <a:t>51</a:t>
                      </a:r>
                    </a:p>
                  </a:txBody>
                  <a:tcPr>
                    <a:solidFill>
                      <a:srgbClr val="FFFFFF"/>
                    </a:solidFill>
                  </a:tcPr>
                </a:tc>
                <a:tc>
                  <a:txBody>
                    <a:bodyPr wrap="square"/>
                    <a:lstStyle/>
                    <a:p>
                      <a:pPr algn="ctr"/>
                      <a:r>
                        <a:rPr b="0" sz="1000">
                          <a:solidFill>
                            <a:srgbClr val="404040"/>
                          </a:solidFill>
                        </a:rPr>
                        <a:t>50</a:t>
                      </a:r>
                    </a:p>
                  </a:txBody>
                  <a:tcPr>
                    <a:solidFill>
                      <a:srgbClr val="FFFFFF"/>
                    </a:solidFill>
                  </a:tcPr>
                </a:tc>
                <a:tc>
                  <a:txBody>
                    <a:bodyPr wrap="square"/>
                    <a:lstStyle/>
                    <a:p>
                      <a:pPr algn="ctr"/>
                      <a:r>
                        <a:rPr b="0" sz="1000">
                          <a:solidFill>
                            <a:srgbClr val="404040"/>
                          </a:solidFill>
                        </a:rPr>
                        <a:t>20</a:t>
                      </a:r>
                    </a:p>
                  </a:txBody>
                  <a:tcPr>
                    <a:solidFill>
                      <a:srgbClr val="FFFFFF"/>
                    </a:solidFill>
                  </a:tcPr>
                </a:tc>
                <a:tc>
                  <a:txBody>
                    <a:bodyPr wrap="square"/>
                    <a:lstStyle/>
                    <a:p>
                      <a:pPr algn="ctr"/>
                      <a:r>
                        <a:rPr b="0" sz="1000">
                          <a:solidFill>
                            <a:srgbClr val="404040"/>
                          </a:solidFill>
                        </a:rPr>
                        <a:t>45</a:t>
                      </a:r>
                    </a:p>
                  </a:txBody>
                  <a:tcPr>
                    <a:solidFill>
                      <a:srgbClr val="FFFFFF"/>
                    </a:solidFill>
                  </a:tcPr>
                </a:tc>
              </a:tr>
              <a:tr h="404446">
                <a:tc>
                  <a:txBody>
                    <a:bodyPr wrap="square"/>
                    <a:lstStyle/>
                    <a:p>
                      <a:pPr algn="l"/>
                      <a:r>
                        <a:rPr b="0" sz="1000">
                          <a:solidFill>
                            <a:srgbClr val="404040"/>
                          </a:solidFill>
                        </a:rPr>
                        <a:t>horas_especialista_1ra</a:t>
                      </a:r>
                    </a:p>
                  </a:txBody>
                  <a:tcPr>
                    <a:solidFill>
                      <a:srgbClr val="BDD7EE"/>
                    </a:solidFill>
                  </a:tcPr>
                </a:tc>
                <a:tc>
                  <a:txBody>
                    <a:bodyPr wrap="square"/>
                    <a:lstStyle/>
                    <a:p>
                      <a:pPr algn="ctr"/>
                      <a:r>
                        <a:rPr b="0" sz="1000">
                          <a:solidFill>
                            <a:srgbClr val="404040"/>
                          </a:solidFill>
                        </a:rPr>
                        <a:t>19</a:t>
                      </a:r>
                    </a:p>
                  </a:txBody>
                  <a:tcPr>
                    <a:solidFill>
                      <a:srgbClr val="BDD7EE"/>
                    </a:solidFill>
                  </a:tcPr>
                </a:tc>
                <a:tc>
                  <a:txBody>
                    <a:bodyPr wrap="square"/>
                    <a:lstStyle/>
                    <a:p>
                      <a:pPr algn="ctr"/>
                      <a:r>
                        <a:rPr b="0" sz="1000">
                          <a:solidFill>
                            <a:srgbClr val="404040"/>
                          </a:solidFill>
                        </a:rPr>
                        <a:t>22</a:t>
                      </a:r>
                    </a:p>
                  </a:txBody>
                  <a:tcPr>
                    <a:solidFill>
                      <a:srgbClr val="BDD7EE"/>
                    </a:solidFill>
                  </a:tcPr>
                </a:tc>
                <a:tc>
                  <a:txBody>
                    <a:bodyPr wrap="square"/>
                    <a:lstStyle/>
                    <a:p>
                      <a:pPr algn="ctr"/>
                      <a:r>
                        <a:rPr b="0" sz="1000">
                          <a:solidFill>
                            <a:srgbClr val="404040"/>
                          </a:solidFill>
                        </a:rPr>
                        <a:t>30</a:t>
                      </a:r>
                    </a:p>
                  </a:txBody>
                  <a:tcPr>
                    <a:solidFill>
                      <a:srgbClr val="BDD7EE"/>
                    </a:solidFill>
                  </a:tcPr>
                </a:tc>
                <a:tc>
                  <a:txBody>
                    <a:bodyPr wrap="square"/>
                    <a:lstStyle/>
                    <a:p>
                      <a:pPr algn="ctr"/>
                      <a:r>
                        <a:rPr b="0" sz="1000">
                          <a:solidFill>
                            <a:srgbClr val="404040"/>
                          </a:solidFill>
                        </a:rPr>
                        <a:t>19</a:t>
                      </a:r>
                    </a:p>
                  </a:txBody>
                  <a:tcPr>
                    <a:solidFill>
                      <a:srgbClr val="BDD7EE"/>
                    </a:solidFill>
                  </a:tcPr>
                </a:tc>
              </a:tr>
              <a:tr h="404446">
                <a:tc>
                  <a:txBody>
                    <a:bodyPr wrap="square"/>
                    <a:lstStyle/>
                    <a:p>
                      <a:pPr algn="l"/>
                      <a:r>
                        <a:rPr b="0" sz="1000">
                          <a:solidFill>
                            <a:srgbClr val="404040"/>
                          </a:solidFill>
                        </a:rPr>
                        <a:t>num_agentes_ugd</a:t>
                      </a:r>
                    </a:p>
                  </a:txBody>
                  <a:tcPr>
                    <a:solidFill>
                      <a:srgbClr val="FFFFFF"/>
                    </a:solidFill>
                  </a:tcPr>
                </a:tc>
                <a:tc>
                  <a:txBody>
                    <a:bodyPr wrap="square"/>
                    <a:lstStyle/>
                    <a:p>
                      <a:pPr algn="ctr"/>
                      <a:r>
                        <a:rPr b="0" sz="1000">
                          <a:solidFill>
                            <a:srgbClr val="404040"/>
                          </a:solidFill>
                        </a:rPr>
                        <a:t>1</a:t>
                      </a:r>
                    </a:p>
                  </a:txBody>
                  <a:tcPr>
                    <a:solidFill>
                      <a:srgbClr val="FFFFFF"/>
                    </a:solidFill>
                  </a:tcPr>
                </a:tc>
                <a:tc>
                  <a:txBody>
                    <a:bodyPr wrap="square"/>
                    <a:lstStyle/>
                    <a:p>
                      <a:pPr algn="ctr"/>
                      <a:r>
                        <a:rPr b="0" sz="1000">
                          <a:solidFill>
                            <a:srgbClr val="404040"/>
                          </a:solidFill>
                        </a:rPr>
                        <a:t>2</a:t>
                      </a:r>
                    </a:p>
                  </a:txBody>
                  <a:tcPr>
                    <a:solidFill>
                      <a:srgbClr val="FFFFFF"/>
                    </a:solidFill>
                  </a:tcPr>
                </a:tc>
                <a:tc>
                  <a:txBody>
                    <a:bodyPr wrap="square"/>
                    <a:lstStyle/>
                    <a:p>
                      <a:pPr algn="ctr"/>
                      <a:r>
                        <a:rPr b="0" sz="1000">
                          <a:solidFill>
                            <a:srgbClr val="404040"/>
                          </a:solidFill>
                        </a:rPr>
                        <a:t>1</a:t>
                      </a:r>
                    </a:p>
                  </a:txBody>
                  <a:tcPr>
                    <a:solidFill>
                      <a:srgbClr val="FFFFFF"/>
                    </a:solidFill>
                  </a:tcPr>
                </a:tc>
                <a:tc>
                  <a:txBody>
                    <a:bodyPr wrap="square"/>
                    <a:lstStyle/>
                    <a:p>
                      <a:pPr algn="ctr"/>
                      <a:r>
                        <a:rPr b="0" sz="1000">
                          <a:solidFill>
                            <a:srgbClr val="404040"/>
                          </a:solidFill>
                        </a:rPr>
                        <a:t>2</a:t>
                      </a:r>
                    </a:p>
                  </a:txBody>
                  <a:tcPr>
                    <a:solidFill>
                      <a:srgbClr val="FFFFFF"/>
                    </a:solidFill>
                  </a:tcPr>
                </a:tc>
              </a:tr>
              <a:tr h="404446">
                <a:tc>
                  <a:txBody>
                    <a:bodyPr wrap="square"/>
                    <a:lstStyle/>
                    <a:p>
                      <a:pPr algn="l"/>
                      <a:r>
                        <a:rPr b="0" sz="1000">
                          <a:solidFill>
                            <a:srgbClr val="404040"/>
                          </a:solidFill>
                        </a:rPr>
                        <a:t>num_matronas</a:t>
                      </a:r>
                    </a:p>
                  </a:txBody>
                  <a:tcPr>
                    <a:solidFill>
                      <a:srgbClr val="BDD7EE"/>
                    </a:solidFill>
                  </a:tcPr>
                </a:tc>
                <a:tc>
                  <a:txBody>
                    <a:bodyPr wrap="square"/>
                    <a:lstStyle/>
                    <a:p>
                      <a:pPr algn="ctr"/>
                      <a:r>
                        <a:rPr b="0" sz="1000">
                          <a:solidFill>
                            <a:srgbClr val="404040"/>
                          </a:solidFill>
                        </a:rPr>
                        <a:t>2</a:t>
                      </a:r>
                    </a:p>
                  </a:txBody>
                  <a:tcPr>
                    <a:solidFill>
                      <a:srgbClr val="BDD7EE"/>
                    </a:solidFill>
                  </a:tcPr>
                </a:tc>
                <a:tc>
                  <a:txBody>
                    <a:bodyPr wrap="square"/>
                    <a:lstStyle/>
                    <a:p>
                      <a:pPr algn="ctr"/>
                      <a:r>
                        <a:rPr b="0" sz="1000">
                          <a:solidFill>
                            <a:srgbClr val="404040"/>
                          </a:solidFill>
                        </a:rPr>
                        <a:t>2</a:t>
                      </a:r>
                    </a:p>
                  </a:txBody>
                  <a:tcPr>
                    <a:solidFill>
                      <a:srgbClr val="BDD7EE"/>
                    </a:solidFill>
                  </a:tcPr>
                </a:tc>
                <a:tc>
                  <a:txBody>
                    <a:bodyPr wrap="square"/>
                    <a:lstStyle/>
                    <a:p>
                      <a:pPr algn="ctr"/>
                      <a:r>
                        <a:rPr b="0" sz="1000">
                          <a:solidFill>
                            <a:srgbClr val="404040"/>
                          </a:solidFill>
                        </a:rPr>
                        <a:t>1</a:t>
                      </a:r>
                    </a:p>
                  </a:txBody>
                  <a:tcPr>
                    <a:solidFill>
                      <a:srgbClr val="BDD7EE"/>
                    </a:solidFill>
                  </a:tcPr>
                </a:tc>
                <a:tc>
                  <a:txBody>
                    <a:bodyPr wrap="square"/>
                    <a:lstStyle/>
                    <a:p>
                      <a:pPr algn="ctr"/>
                      <a:r>
                        <a:rPr b="0" sz="1000">
                          <a:solidFill>
                            <a:srgbClr val="404040"/>
                          </a:solidFill>
                        </a:rPr>
                        <a:t>2</a:t>
                      </a:r>
                    </a:p>
                  </a:txBody>
                  <a:tcPr>
                    <a:solidFill>
                      <a:srgbClr val="BDD7EE"/>
                    </a:solidFill>
                  </a:tcPr>
                </a:tc>
              </a:tr>
              <a:tr h="404446">
                <a:tc>
                  <a:txBody>
                    <a:bodyPr wrap="square"/>
                    <a:lstStyle/>
                    <a:p>
                      <a:pPr algn="l"/>
                      <a:r>
                        <a:rPr b="0" sz="1000">
                          <a:solidFill>
                            <a:srgbClr val="404040"/>
                          </a:solidFill>
                        </a:rPr>
                        <a:t>pct_bloqueo_1ra</a:t>
                      </a:r>
                    </a:p>
                  </a:txBody>
                  <a:tcPr>
                    <a:solidFill>
                      <a:srgbClr val="FFFFFF"/>
                    </a:solidFill>
                  </a:tcPr>
                </a:tc>
                <a:tc>
                  <a:txBody>
                    <a:bodyPr wrap="square"/>
                    <a:lstStyle/>
                    <a:p>
                      <a:pPr algn="ctr"/>
                      <a:r>
                        <a:rPr b="0" sz="1000">
                          <a:solidFill>
                            <a:srgbClr val="404040"/>
                          </a:solidFill>
                        </a:rPr>
                        <a:t>0.0894</a:t>
                      </a:r>
                    </a:p>
                  </a:txBody>
                  <a:tcPr>
                    <a:solidFill>
                      <a:srgbClr val="FFFFFF"/>
                    </a:solidFill>
                  </a:tcPr>
                </a:tc>
                <a:tc>
                  <a:txBody>
                    <a:bodyPr wrap="square"/>
                    <a:lstStyle/>
                    <a:p>
                      <a:pPr algn="ctr"/>
                      <a:r>
                        <a:rPr b="0" sz="1000">
                          <a:solidFill>
                            <a:srgbClr val="404040"/>
                          </a:solidFill>
                        </a:rPr>
                        <a:t>0.1511</a:t>
                      </a:r>
                    </a:p>
                  </a:txBody>
                  <a:tcPr>
                    <a:solidFill>
                      <a:srgbClr val="FFFFFF"/>
                    </a:solidFill>
                  </a:tcPr>
                </a:tc>
                <a:tc>
                  <a:txBody>
                    <a:bodyPr wrap="square"/>
                    <a:lstStyle/>
                    <a:p>
                      <a:pPr algn="ctr"/>
                      <a:r>
                        <a:rPr b="0" sz="1000">
                          <a:solidFill>
                            <a:srgbClr val="378648"/>
                          </a:solidFill>
                        </a:rPr>
                        <a:t>0.0500</a:t>
                      </a:r>
                    </a:p>
                  </a:txBody>
                  <a:tcPr>
                    <a:solidFill>
                      <a:srgbClr val="FFFFFF"/>
                    </a:solidFill>
                  </a:tcPr>
                </a:tc>
                <a:tc>
                  <a:txBody>
                    <a:bodyPr wrap="square"/>
                    <a:lstStyle/>
                    <a:p>
                      <a:pPr algn="ctr"/>
                      <a:r>
                        <a:rPr b="0" sz="1000">
                          <a:solidFill>
                            <a:srgbClr val="404040"/>
                          </a:solidFill>
                        </a:rPr>
                        <a:t>0.2750</a:t>
                      </a:r>
                    </a:p>
                  </a:txBody>
                  <a:tcPr>
                    <a:solidFill>
                      <a:srgbClr val="FFFFFF"/>
                    </a:solidFill>
                  </a:tcPr>
                </a:tc>
              </a:tr>
              <a:tr h="404446">
                <a:tc>
                  <a:txBody>
                    <a:bodyPr wrap="square"/>
                    <a:lstStyle/>
                    <a:p>
                      <a:pPr algn="l"/>
                      <a:r>
                        <a:rPr b="0" sz="1000">
                          <a:solidFill>
                            <a:srgbClr val="404040"/>
                          </a:solidFill>
                        </a:rPr>
                        <a:t>pct_bloqueo_post</a:t>
                      </a:r>
                    </a:p>
                  </a:txBody>
                  <a:tcPr>
                    <a:solidFill>
                      <a:srgbClr val="BDD7EE"/>
                    </a:solidFill>
                  </a:tcPr>
                </a:tc>
                <a:tc>
                  <a:txBody>
                    <a:bodyPr wrap="square"/>
                    <a:lstStyle/>
                    <a:p>
                      <a:pPr algn="ctr"/>
                      <a:r>
                        <a:rPr b="0" sz="1000">
                          <a:solidFill>
                            <a:srgbClr val="404040"/>
                          </a:solidFill>
                        </a:rPr>
                        <a:t>0.0583</a:t>
                      </a:r>
                    </a:p>
                  </a:txBody>
                  <a:tcPr>
                    <a:solidFill>
                      <a:srgbClr val="BDD7EE"/>
                    </a:solidFill>
                  </a:tcPr>
                </a:tc>
                <a:tc>
                  <a:txBody>
                    <a:bodyPr wrap="square"/>
                    <a:lstStyle/>
                    <a:p>
                      <a:pPr algn="ctr"/>
                      <a:r>
                        <a:rPr b="0" sz="1000">
                          <a:solidFill>
                            <a:srgbClr val="404040"/>
                          </a:solidFill>
                        </a:rPr>
                        <a:t>0.2115</a:t>
                      </a:r>
                    </a:p>
                  </a:txBody>
                  <a:tcPr>
                    <a:solidFill>
                      <a:srgbClr val="BDD7EE"/>
                    </a:solidFill>
                  </a:tcPr>
                </a:tc>
                <a:tc>
                  <a:txBody>
                    <a:bodyPr wrap="square"/>
                    <a:lstStyle/>
                    <a:p>
                      <a:pPr algn="ctr"/>
                      <a:r>
                        <a:rPr b="0" sz="1000">
                          <a:solidFill>
                            <a:srgbClr val="378648"/>
                          </a:solidFill>
                        </a:rPr>
                        <a:t>0.0500</a:t>
                      </a:r>
                    </a:p>
                  </a:txBody>
                  <a:tcPr>
                    <a:solidFill>
                      <a:srgbClr val="BDD7EE"/>
                    </a:solidFill>
                  </a:tcPr>
                </a:tc>
                <a:tc>
                  <a:txBody>
                    <a:bodyPr wrap="square"/>
                    <a:lstStyle/>
                    <a:p>
                      <a:pPr algn="ctr"/>
                      <a:r>
                        <a:rPr b="0" sz="1000">
                          <a:solidFill>
                            <a:srgbClr val="404040"/>
                          </a:solidFill>
                        </a:rPr>
                        <a:t>0.2750</a:t>
                      </a:r>
                    </a:p>
                  </a:txBody>
                  <a:tcPr>
                    <a:solidFill>
                      <a:srgbClr val="BDD7EE"/>
                    </a:solidFill>
                  </a:tcPr>
                </a:tc>
              </a:tr>
              <a:tr h="404446">
                <a:tc>
                  <a:txBody>
                    <a:bodyPr wrap="square"/>
                    <a:lstStyle/>
                    <a:p>
                      <a:pPr algn="l"/>
                      <a:r>
                        <a:rPr b="0" sz="1000">
                          <a:solidFill>
                            <a:srgbClr val="404040"/>
                          </a:solidFill>
                        </a:rPr>
                        <a:t>pct_consultas_vacias</a:t>
                      </a:r>
                    </a:p>
                  </a:txBody>
                  <a:tcPr>
                    <a:solidFill>
                      <a:srgbClr val="FFFFFF"/>
                    </a:solidFill>
                  </a:tcPr>
                </a:tc>
                <a:tc>
                  <a:txBody>
                    <a:bodyPr wrap="square"/>
                    <a:lstStyle/>
                    <a:p>
                      <a:pPr algn="ctr"/>
                      <a:r>
                        <a:rPr b="0" sz="1000">
                          <a:solidFill>
                            <a:srgbClr val="378648"/>
                          </a:solidFill>
                        </a:rPr>
                        <a:t>0.0621</a:t>
                      </a:r>
                    </a:p>
                  </a:txBody>
                  <a:tcPr>
                    <a:solidFill>
                      <a:srgbClr val="FFFFFF"/>
                    </a:solidFill>
                  </a:tcPr>
                </a:tc>
                <a:tc>
                  <a:txBody>
                    <a:bodyPr wrap="square"/>
                    <a:lstStyle/>
                    <a:p>
                      <a:pPr algn="ctr"/>
                      <a:r>
                        <a:rPr b="0" sz="1000">
                          <a:solidFill>
                            <a:srgbClr val="404040"/>
                          </a:solidFill>
                        </a:rPr>
                        <a:t>0.2152</a:t>
                      </a:r>
                    </a:p>
                  </a:txBody>
                  <a:tcPr>
                    <a:solidFill>
                      <a:srgbClr val="FFFFFF"/>
                    </a:solidFill>
                  </a:tcPr>
                </a:tc>
                <a:tc>
                  <a:txBody>
                    <a:bodyPr wrap="square"/>
                    <a:lstStyle/>
                    <a:p>
                      <a:pPr algn="ctr"/>
                      <a:r>
                        <a:rPr b="0" sz="1000">
                          <a:solidFill>
                            <a:srgbClr val="404040"/>
                          </a:solidFill>
                        </a:rPr>
                        <a:t>0.5000</a:t>
                      </a:r>
                    </a:p>
                  </a:txBody>
                  <a:tcPr>
                    <a:solidFill>
                      <a:srgbClr val="FFFFFF"/>
                    </a:solidFill>
                  </a:tcPr>
                </a:tc>
                <a:tc>
                  <a:txBody>
                    <a:bodyPr wrap="square"/>
                    <a:lstStyle/>
                    <a:p>
                      <a:pPr algn="ctr"/>
                      <a:r>
                        <a:rPr b="0" sz="1000">
                          <a:solidFill>
                            <a:srgbClr val="404040"/>
                          </a:solidFill>
                        </a:rPr>
                        <a:t>0.2750</a:t>
                      </a:r>
                    </a:p>
                  </a:txBody>
                  <a:tcPr>
                    <a:solidFill>
                      <a:srgbClr val="FFFFFF"/>
                    </a:solidFill>
                  </a:tcPr>
                </a:tc>
              </a:tr>
              <a:tr h="404448">
                <a:tc>
                  <a:txBody>
                    <a:bodyPr wrap="square"/>
                    <a:lstStyle/>
                    <a:p>
                      <a:pPr algn="l"/>
                      <a:r>
                        <a:rPr b="0" sz="1000">
                          <a:solidFill>
                            <a:srgbClr val="404040"/>
                          </a:solidFill>
                        </a:rPr>
                        <a:t>pct_no_contactabilidad</a:t>
                      </a:r>
                    </a:p>
                  </a:txBody>
                  <a:tcPr>
                    <a:solidFill>
                      <a:srgbClr val="BDD7EE"/>
                    </a:solidFill>
                  </a:tcPr>
                </a:tc>
                <a:tc>
                  <a:txBody>
                    <a:bodyPr wrap="square"/>
                    <a:lstStyle/>
                    <a:p>
                      <a:pPr algn="ctr"/>
                      <a:r>
                        <a:rPr b="0" sz="1000">
                          <a:solidFill>
                            <a:srgbClr val="404040"/>
                          </a:solidFill>
                        </a:rPr>
                        <a:t>0.0719</a:t>
                      </a:r>
                    </a:p>
                  </a:txBody>
                  <a:tcPr>
                    <a:solidFill>
                      <a:srgbClr val="BDD7EE"/>
                    </a:solidFill>
                  </a:tcPr>
                </a:tc>
                <a:tc>
                  <a:txBody>
                    <a:bodyPr wrap="square"/>
                    <a:lstStyle/>
                    <a:p>
                      <a:pPr algn="ctr"/>
                      <a:r>
                        <a:rPr b="0" sz="1000">
                          <a:solidFill>
                            <a:srgbClr val="404040"/>
                          </a:solidFill>
                        </a:rPr>
                        <a:t>0.4461</a:t>
                      </a:r>
                    </a:p>
                  </a:txBody>
                  <a:tcPr>
                    <a:solidFill>
                      <a:srgbClr val="BDD7EE"/>
                    </a:solidFill>
                  </a:tcPr>
                </a:tc>
                <a:tc>
                  <a:txBody>
                    <a:bodyPr wrap="square"/>
                    <a:lstStyle/>
                    <a:p>
                      <a:pPr algn="ctr"/>
                      <a:r>
                        <a:rPr b="0" sz="1000">
                          <a:solidFill>
                            <a:srgbClr val="378648"/>
                          </a:solidFill>
                        </a:rPr>
                        <a:t>0.0500</a:t>
                      </a:r>
                    </a:p>
                  </a:txBody>
                  <a:tcPr>
                    <a:solidFill>
                      <a:srgbClr val="BDD7EE"/>
                    </a:solidFill>
                  </a:tcPr>
                </a:tc>
                <a:tc>
                  <a:txBody>
                    <a:bodyPr wrap="square"/>
                    <a:lstStyle/>
                    <a:p>
                      <a:pPr algn="ctr"/>
                      <a:r>
                        <a:rPr b="0" sz="1000">
                          <a:solidFill>
                            <a:srgbClr val="404040"/>
                          </a:solidFill>
                        </a:rPr>
                        <a:t>0.2750</a:t>
                      </a:r>
                    </a:p>
                  </a:txBody>
                  <a:tcPr>
                    <a:solidFill>
                      <a:srgbClr val="BDD7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Análisis de Incumbentes — Patrones y Diferencias</a:t>
            </a:r>
          </a:p>
          <a:p>
            <a:pPr algn="l"/>
            <a:r>
              <a:rPr b="0" sz="1300">
                <a:solidFill>
                  <a:srgbClr val="BDD7EE"/>
                </a:solidFill>
              </a:rPr>
              <a:t>¿Qué variables mueven los algoritmos? ¿Por qué difieren?</a:t>
            </a:r>
          </a:p>
        </p:txBody>
      </p:sp>
      <p:sp>
        <p:nvSpPr>
          <p:cNvPr id="3" name="Rectangle 2"/>
          <p:cNvSpPr/>
          <p:nvPr/>
        </p:nvSpPr>
        <p:spPr>
          <a:xfrm>
            <a:off x="320040" y="138988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316736"/>
            <a:ext cx="11365992" cy="850392"/>
          </a:xfrm>
          <a:prstGeom prst="rect">
            <a:avLst/>
          </a:prstGeom>
          <a:noFill/>
        </p:spPr>
        <p:txBody>
          <a:bodyPr wrap="square">
            <a:spAutoFit/>
          </a:bodyPr>
          <a:lstStyle/>
          <a:p>
            <a:pPr algn="l"/>
            <a:r>
              <a:rPr b="1" sz="1050">
                <a:solidFill>
                  <a:srgbClr val="1F497D"/>
                </a:solidFill>
              </a:rPr>
              <a:t>horas_especialista_1ra: M4=19h, M10-HPO=22h, M13=30h (máx), M14=19h (sin cambio)</a:t>
            </a:r>
          </a:p>
          <a:p>
            <a:pPr algn="l"/>
            <a:r>
              <a:rPr b="0" sz="1000">
                <a:solidFill>
                  <a:srgbClr val="404040"/>
                </a:solidFill>
              </a:rPr>
              <a:t>Los bayesianos usan horas moderadas — el SPSA (M13) explora más agresivamente y llega al máximo.
M14 (ALOE) no se mueve de la configuración inicial x0.</a:t>
            </a:r>
          </a:p>
        </p:txBody>
      </p:sp>
      <p:sp>
        <p:nvSpPr>
          <p:cNvPr id="5" name="Rectangle 4"/>
          <p:cNvSpPr/>
          <p:nvPr/>
        </p:nvSpPr>
        <p:spPr>
          <a:xfrm>
            <a:off x="320040" y="239572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322576"/>
            <a:ext cx="11365992" cy="850392"/>
          </a:xfrm>
          <a:prstGeom prst="rect">
            <a:avLst/>
          </a:prstGeom>
          <a:noFill/>
        </p:spPr>
        <p:txBody>
          <a:bodyPr wrap="square">
            <a:spAutoFit/>
          </a:bodyPr>
          <a:lstStyle/>
          <a:p>
            <a:pPr algn="l"/>
            <a:r>
              <a:rPr b="1" sz="1050">
                <a:solidFill>
                  <a:srgbClr val="1F497D"/>
                </a:solidFill>
              </a:rPr>
              <a:t>pct_bloqueo_1ra: M4=8.9%, M10-HPO=15.1%, M13=5% (mín), M14=27.5% (inicial)</a:t>
            </a:r>
          </a:p>
          <a:p>
            <a:pPr algn="l"/>
            <a:r>
              <a:rPr b="0" sz="1000">
                <a:solidFill>
                  <a:srgbClr val="404040"/>
                </a:solidFill>
              </a:rPr>
              <a:t>Todos los algoritmos que convergen reducen bloqueos. M13 SPSA llega al mínimo absoluto (5%).
M14 no optimizó nada — mantiene el punto inicial donde el ruido domina.</a:t>
            </a:r>
          </a:p>
        </p:txBody>
      </p:sp>
      <p:sp>
        <p:nvSpPr>
          <p:cNvPr id="7" name="Rectangle 6"/>
          <p:cNvSpPr/>
          <p:nvPr/>
        </p:nvSpPr>
        <p:spPr>
          <a:xfrm>
            <a:off x="320040" y="340156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328416"/>
            <a:ext cx="11365992" cy="850392"/>
          </a:xfrm>
          <a:prstGeom prst="rect">
            <a:avLst/>
          </a:prstGeom>
          <a:noFill/>
        </p:spPr>
        <p:txBody>
          <a:bodyPr wrap="square">
            <a:spAutoFit/>
          </a:bodyPr>
          <a:lstStyle/>
          <a:p>
            <a:pPr algn="l"/>
            <a:r>
              <a:rPr b="1" sz="1050">
                <a:solidFill>
                  <a:srgbClr val="1F497D"/>
                </a:solidFill>
              </a:rPr>
              <a:t>cupos_laboratorio_ugd: M4=67, M10-HPO=81, M13=100 (máx), M14=60</a:t>
            </a:r>
          </a:p>
          <a:p>
            <a:pPr algn="l"/>
            <a:r>
              <a:rPr b="0" sz="1000">
                <a:solidFill>
                  <a:srgbClr val="404040"/>
                </a:solidFill>
              </a:rPr>
              <a:t>SPSA satura el laboratorio al máximo. KGCP usa 81. M4 usa 67. M14 sin cambio.</a:t>
            </a:r>
          </a:p>
        </p:txBody>
      </p:sp>
      <p:sp>
        <p:nvSpPr>
          <p:cNvPr id="9" name="Rectangle 8"/>
          <p:cNvSpPr/>
          <p:nvPr/>
        </p:nvSpPr>
        <p:spPr>
          <a:xfrm>
            <a:off x="320040" y="440740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334256"/>
            <a:ext cx="11365992" cy="850392"/>
          </a:xfrm>
          <a:prstGeom prst="rect">
            <a:avLst/>
          </a:prstGeom>
          <a:noFill/>
        </p:spPr>
        <p:txBody>
          <a:bodyPr wrap="square">
            <a:spAutoFit/>
          </a:bodyPr>
          <a:lstStyle/>
          <a:p>
            <a:pPr algn="l"/>
            <a:r>
              <a:rPr b="1" sz="1050">
                <a:solidFill>
                  <a:srgbClr val="1F497D"/>
                </a:solidFill>
              </a:rPr>
              <a:t>Diferencia M4 (230.8d) vs M10-HPO (212.0d): +80 evaluaciones valen la pena</a:t>
            </a:r>
          </a:p>
          <a:p>
            <a:pPr algn="l"/>
            <a:r>
              <a:rPr b="0" sz="1000">
                <a:solidFill>
                  <a:srgbClr val="404040"/>
                </a:solidFill>
              </a:rPr>
              <a:t>Con 100 eval el SK-KGCP supera significativamente al GP básico con 20 eval.
El surrogado más sofisticado necesita más datos para mostrar su ventaja.</a:t>
            </a:r>
          </a:p>
        </p:txBody>
      </p:sp>
      <p:sp>
        <p:nvSpPr>
          <p:cNvPr id="11" name="Rectangle 10"/>
          <p:cNvSpPr/>
          <p:nvPr/>
        </p:nvSpPr>
        <p:spPr>
          <a:xfrm>
            <a:off x="320040" y="5413248"/>
            <a:ext cx="64008" cy="5029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340096"/>
            <a:ext cx="11365992" cy="850392"/>
          </a:xfrm>
          <a:prstGeom prst="rect">
            <a:avLst/>
          </a:prstGeom>
          <a:noFill/>
        </p:spPr>
        <p:txBody>
          <a:bodyPr wrap="square">
            <a:spAutoFit/>
          </a:bodyPr>
          <a:lstStyle/>
          <a:p>
            <a:pPr algn="l"/>
            <a:r>
              <a:rPr b="1" sz="1050">
                <a:solidFill>
                  <a:srgbClr val="1F497D"/>
                </a:solidFill>
              </a:rPr>
              <a:t>M14 ALOE: Armijo rechazado en 30/30 iteraciones → x_final = x0</a:t>
            </a:r>
          </a:p>
          <a:p>
            <a:pPr algn="l"/>
            <a:r>
              <a:rPr b="0" sz="1000">
                <a:solidFill>
                  <a:srgbClr val="404040"/>
                </a:solidFill>
              </a:rPr>
              <a:t>El ruido σ≈20-40 días supera la señal del gradiente estimado.
Cada paso parece 'ascender' pero es artefacto del ruido → Armijo dice siempre False.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Comparativas — Datos PC Raúl</a:t>
            </a:r>
          </a:p>
          <a:p>
            <a:pPr algn="l"/>
            <a:r>
              <a:rPr b="0" sz="1300">
                <a:solidFill>
                  <a:srgbClr val="BDD7EE"/>
                </a:solidFill>
              </a:rPr>
              <a:t>Convergencia, configuraciones incumbentes y tabla resumen generadas por comparativa</a:t>
            </a:r>
          </a:p>
        </p:txBody>
      </p:sp>
      <p:pic>
        <p:nvPicPr>
          <p:cNvPr id="3" name="Picture 2" descr="comparativa_convergencia.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comparativa_configuraciones.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comparativa_tabla_resumen.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de Convergencia Individuales — M13, M14, M10-HPO</a:t>
            </a:r>
          </a:p>
          <a:p>
            <a:pPr algn="l"/>
            <a:r>
              <a:rPr b="0" sz="1300">
                <a:solidFill>
                  <a:srgbClr val="BDD7EE"/>
                </a:solidFill>
              </a:rPr>
              <a:t>Evolución del incumbente por iteración/evaluación</a:t>
            </a:r>
          </a:p>
        </p:txBody>
      </p:sp>
      <p:pic>
        <p:nvPicPr>
          <p:cNvPr id="3" name="Picture 2" descr="resultado_comparativa_m13.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resultado_comparativa_m14.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resultado_m10_hpo_kgcp.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D7D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ALOE — Diagnóstico: Búsqueda de Línea Paralizada</a:t>
            </a:r>
          </a:p>
          <a:p>
            <a:pPr algn="l"/>
            <a:r>
              <a:rPr b="0" sz="1300">
                <a:solidFill>
                  <a:srgbClr val="BDD7EE"/>
                </a:solidFill>
              </a:rPr>
              <a:t>Por qué ALOE no mejoró la solución inicial en 30 iteraciones</a:t>
            </a:r>
          </a:p>
        </p:txBody>
      </p:sp>
      <p:sp>
        <p:nvSpPr>
          <p:cNvPr id="3" name="Rectangle 2"/>
          <p:cNvSpPr/>
          <p:nvPr/>
        </p:nvSpPr>
        <p:spPr>
          <a:xfrm>
            <a:off x="320040" y="133502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0"/>
            <a:ext cx="11365992" cy="804672"/>
          </a:xfrm>
          <a:prstGeom prst="rect">
            <a:avLst/>
          </a:prstGeom>
          <a:noFill/>
        </p:spPr>
        <p:txBody>
          <a:bodyPr wrap="square">
            <a:spAutoFit/>
          </a:bodyPr>
          <a:lstStyle/>
          <a:p>
            <a:pPr algn="l"/>
            <a:r>
              <a:rPr b="1" sz="1050">
                <a:solidFill>
                  <a:srgbClr val="C00000"/>
                </a:solidFill>
              </a:rPr>
              <a:t>Síntoma observado</a:t>
            </a:r>
          </a:p>
          <a:p>
            <a:pPr algn="l"/>
            <a:r>
              <a:rPr b="0" sz="1000">
                <a:solidFill>
                  <a:srgbClr val="404040"/>
                </a:solidFill>
              </a:rPr>
              <a:t>costo_incumbente = 270.73 días = x0 inicial. Las 30 iteraciones devuelven Armijo=False.
El algoritmo nunca actualiza la solución — queda paralizado en el punto de partida.</a:t>
            </a:r>
          </a:p>
        </p:txBody>
      </p:sp>
      <p:sp>
        <p:nvSpPr>
          <p:cNvPr id="5" name="Rectangle 4"/>
          <p:cNvSpPr/>
          <p:nvPr/>
        </p:nvSpPr>
        <p:spPr>
          <a:xfrm>
            <a:off x="320040" y="224942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365992" cy="804672"/>
          </a:xfrm>
          <a:prstGeom prst="rect">
            <a:avLst/>
          </a:prstGeom>
          <a:noFill/>
        </p:spPr>
        <p:txBody>
          <a:bodyPr wrap="square">
            <a:spAutoFit/>
          </a:bodyPr>
          <a:lstStyle/>
          <a:p>
            <a:pPr algn="l"/>
            <a:r>
              <a:rPr b="1" sz="1050">
                <a:solidFill>
                  <a:srgbClr val="C00000"/>
                </a:solidFill>
              </a:rPr>
              <a:t>Criterio de Armijo (búsqueda de línea)</a:t>
            </a:r>
          </a:p>
          <a:p>
            <a:pPr algn="l"/>
            <a:r>
              <a:rPr b="0" sz="1000">
                <a:solidFill>
                  <a:srgbClr val="404040"/>
                </a:solidFill>
              </a:rPr>
              <a:t>Armijo acepta el paso α_k·d_k si: f(x + α_k·d_k) &lt; f(x) − σ·α_k·||∇f||²
Cuando el simulador es ruidoso, f(x + α·d) puede ser MAYOR que f(x) por puro azar,
incluso si la dirección de descenso d_k es correcta.</a:t>
            </a:r>
          </a:p>
        </p:txBody>
      </p:sp>
      <p:sp>
        <p:nvSpPr>
          <p:cNvPr id="7" name="Rectangle 6"/>
          <p:cNvSpPr/>
          <p:nvPr/>
        </p:nvSpPr>
        <p:spPr>
          <a:xfrm>
            <a:off x="320040" y="316382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08960"/>
            <a:ext cx="11365992" cy="804672"/>
          </a:xfrm>
          <a:prstGeom prst="rect">
            <a:avLst/>
          </a:prstGeom>
          <a:noFill/>
        </p:spPr>
        <p:txBody>
          <a:bodyPr wrap="square">
            <a:spAutoFit/>
          </a:bodyPr>
          <a:lstStyle/>
          <a:p>
            <a:pPr algn="l"/>
            <a:r>
              <a:rPr b="1" sz="1050">
                <a:solidFill>
                  <a:srgbClr val="C00000"/>
                </a:solidFill>
              </a:rPr>
              <a:t>Causa raíz: relación señal/ruido</a:t>
            </a:r>
          </a:p>
          <a:p>
            <a:pPr algn="l"/>
            <a:r>
              <a:rPr b="0" sz="1000">
                <a:solidFill>
                  <a:srgbClr val="404040"/>
                </a:solidFill>
              </a:rPr>
              <a:t>Ruido del simulador: σ ≈ 20–40 días (estimado de comparativa M13/M4).
Gradiente estimado con diff. finitas: ||∇f|| ≈ 10–20 días/unidad → señal &lt; ruido.
α_k se reduce exponencialmente: 1.0 → 0.8 → ... → 0.0012 → todas rechazadas.</a:t>
            </a:r>
          </a:p>
        </p:txBody>
      </p:sp>
      <p:sp>
        <p:nvSpPr>
          <p:cNvPr id="9" name="Rectangle 8"/>
          <p:cNvSpPr/>
          <p:nvPr/>
        </p:nvSpPr>
        <p:spPr>
          <a:xfrm>
            <a:off x="320040" y="407822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023360"/>
            <a:ext cx="11365992" cy="804672"/>
          </a:xfrm>
          <a:prstGeom prst="rect">
            <a:avLst/>
          </a:prstGeom>
          <a:noFill/>
        </p:spPr>
        <p:txBody>
          <a:bodyPr wrap="square">
            <a:spAutoFit/>
          </a:bodyPr>
          <a:lstStyle/>
          <a:p>
            <a:pPr algn="l"/>
            <a:r>
              <a:rPr b="1" sz="1050">
                <a:solidFill>
                  <a:srgbClr val="C00000"/>
                </a:solidFill>
              </a:rPr>
              <a:t>Convergencia M13 SPSA vs M14 ALOE</a:t>
            </a:r>
          </a:p>
          <a:p>
            <a:pPr algn="l"/>
            <a:r>
              <a:rPr b="0" sz="1000">
                <a:solidFill>
                  <a:srgbClr val="404040"/>
                </a:solidFill>
              </a:rPr>
              <a:t>SPSA (M13): usa perturbaciones aleatorias SIMULTÁNEAS (Bernoulli) → promedia el ruido.
              Llega a 219.4 días en 30 iter (8.65 h).
ALOE (M14): usa diferencias finitas COORDENADAS → 2d=24 eval/iter → más caro, más ruido.
              No mejora. 69.5 h gastadas sin converger.</a:t>
            </a:r>
          </a:p>
        </p:txBody>
      </p:sp>
      <p:sp>
        <p:nvSpPr>
          <p:cNvPr id="11" name="Rectangle 10"/>
          <p:cNvSpPr/>
          <p:nvPr/>
        </p:nvSpPr>
        <p:spPr>
          <a:xfrm>
            <a:off x="320040" y="4992624"/>
            <a:ext cx="64008" cy="5029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937760"/>
            <a:ext cx="11365992" cy="804672"/>
          </a:xfrm>
          <a:prstGeom prst="rect">
            <a:avLst/>
          </a:prstGeom>
          <a:noFill/>
        </p:spPr>
        <p:txBody>
          <a:bodyPr wrap="square">
            <a:spAutoFit/>
          </a:bodyPr>
          <a:lstStyle/>
          <a:p>
            <a:pPr algn="l"/>
            <a:r>
              <a:rPr b="1" sz="1050">
                <a:solidFill>
                  <a:srgbClr val="C00000"/>
                </a:solidFill>
              </a:rPr>
              <a:t>Conclusión</a:t>
            </a:r>
          </a:p>
          <a:p>
            <a:pPr algn="l"/>
            <a:r>
              <a:rPr b="0" sz="1000">
                <a:solidFill>
                  <a:srgbClr val="404040"/>
                </a:solidFill>
              </a:rPr>
              <a:t>ALOE requiere nivel de ruido bajo para que la búsqueda de línea funcione.
Para simuladores DES con alta varianza: preferir SPSA (M13) o métodos Bayesianos (M4, M10-HPO).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9EAF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M4 — SMAC BlackBox — Gaussian Process + EI</a:t>
            </a:r>
          </a:p>
          <a:p>
            <a:pPr algn="l"/>
            <a:r>
              <a:rPr b="0" sz="1300">
                <a:solidFill>
                  <a:srgbClr val="BDD7EE"/>
                </a:solidFill>
              </a:rPr>
              <a:t>Ref: Hutter, Hoos &amp; Leyton-Brown (2011) — Sequential Model-Based Optimization for General Algorithm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Un sumiller que aprende tus gustos probando pocas botellas</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Quieres encontrar la mejor configuración de la clínica, pero simular es caro.
SMAC prueba 20 configuraciones y construye un 'mapa mental' (modelo GP) que predice
cuántos días de espera generaría cualquier configuración no probada aún.
En cada paso elige la configuración donde la ganancia esperada (Expected Improvement)
es mayor: balance entre explorar zonas desconocidas y explotar zonas buenas conocidas.
El GP es como una superficie curva en 12 dimensiones que se va afinando
con cada nueva evaluación del simulador.</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≤50 evaluaciones disponibles, función ruidosa, muchas variables (hasta ~20).</a:t>
            </a:r>
          </a:p>
          <a:p>
            <a:pPr algn="l"/>
            <a:r>
              <a:rPr b="0" sz="500">
                <a:solidFill>
                  <a:srgbClr val="404040"/>
                </a:solidFill>
              </a:rPr>
              <a:t> </a:t>
            </a:r>
          </a:p>
          <a:p>
            <a:pPr algn="l"/>
            <a:r>
              <a:rPr b="1" sz="1050">
                <a:solidFill>
                  <a:srgbClr val="378648"/>
                </a:solidFill>
              </a:rPr>
              <a:t>Fortaleza</a:t>
            </a:r>
          </a:p>
          <a:p>
            <a:pPr algn="l"/>
            <a:r>
              <a:rPr b="0" sz="1000">
                <a:solidFill>
                  <a:srgbClr val="404040"/>
                </a:solidFill>
              </a:rPr>
              <a:t>Máxima eficiencia: mejor resultado con mínimas evaluaciones. Robusto al ruido.</a:t>
            </a:r>
          </a:p>
          <a:p>
            <a:pPr algn="l"/>
            <a:r>
              <a:rPr b="0" sz="500">
                <a:solidFill>
                  <a:srgbClr val="404040"/>
                </a:solidFill>
              </a:rPr>
              <a:t> </a:t>
            </a:r>
          </a:p>
          <a:p>
            <a:pPr algn="l"/>
            <a:r>
              <a:rPr b="1" sz="1050">
                <a:solidFill>
                  <a:srgbClr val="C55A11"/>
                </a:solidFill>
              </a:rPr>
              <a:t>Debilidad</a:t>
            </a:r>
          </a:p>
          <a:p>
            <a:pPr algn="l"/>
            <a:r>
              <a:rPr b="0" sz="1000">
                <a:solidFill>
                  <a:srgbClr val="404040"/>
                </a:solidFill>
              </a:rPr>
              <a:t>El GP escala mal a &gt;20 variables. No modela heterocedasticidad (ruido variable en espacio).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230.80 días (PC Raúl) con 20 eval y 3.09 h. [Nube: 205.17 días — diferencia por semilla/hardware]</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Hutter, Hoos &amp; Leyton-Brown (2011) — Sequential Model-Based Optimization for General Algorithm Configuration — Journal of Artificial Intelligence Research (JAIR)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5DEF2"/>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M10-HPO — SK-KGCP — Knowledge Gradient with Correlated Prior (100 eval, HPO)</a:t>
            </a:r>
          </a:p>
          <a:p>
            <a:pPr algn="l"/>
            <a:r>
              <a:rPr b="0" sz="1300">
                <a:solidFill>
                  <a:srgbClr val="BDD7EE"/>
                </a:solidFill>
              </a:rPr>
              <a:t>Ref: Scott, Powell &amp; Frazier (2011) — The Correlated Knowledge Gradient for Simulation Optimization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antes de pedir una botella, piensa en cómo cambiaría su ranking completo</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Knowledge Gradient (KG) es la política óptima en problemas de 1 paso adelante:
elige el punto que maximiza el valor esperado del MEJOR resultado final
después de hacer esa evaluación, considerando toda la correlación del espacio.
Es como ajedrez: no solo busca la mejor jugada ahora, sino la que deja
la mejor posición para la siguiente. El surrogado es Stochastic Kriging (SK)
que además modela la varianza del ruido del simulador.
HPO: los hiperparámetros del surrogado se optimizaron con Bayesian HPO,
dando una calibración más precisa del modelo.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Presupuesto alto (50–200 eval). Función suave con correlación espacial fuerte.</a:t>
            </a:r>
          </a:p>
          <a:p>
            <a:pPr algn="l"/>
            <a:r>
              <a:rPr b="0" sz="500">
                <a:solidFill>
                  <a:srgbClr val="404040"/>
                </a:solidFill>
              </a:rPr>
              <a:t> </a:t>
            </a:r>
          </a:p>
          <a:p>
            <a:pPr algn="l"/>
            <a:r>
              <a:rPr b="1" sz="1050">
                <a:solidFill>
                  <a:srgbClr val="378648"/>
                </a:solidFill>
              </a:rPr>
              <a:t>Fortaleza</a:t>
            </a:r>
          </a:p>
          <a:p>
            <a:pPr algn="l"/>
            <a:r>
              <a:rPr b="0" sz="1000">
                <a:solidFill>
                  <a:srgbClr val="404040"/>
                </a:solidFill>
              </a:rPr>
              <a:t>Teóricamente óptimo en 1 paso look-ahead. Con 100 eval es el mejor resultado: 212.03 días.</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solo 20 eval no muestra su ventaja. Costoso computacionalmente (cálculo de KG).</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212.03 días — MEJOR resultado global (PC Raúl) con 100 eval y 12.27 h.</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Scott, Powell &amp; Frazier (2011) — The Correlated Knowledge Gradient for Simulation Optimization of Continuous Parameters Using Gaussian Process Regression — SIAM Journal on Optimization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2F0D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M13 — SPSA — Simultaneous Perturbation Stochastic Approximation</a:t>
            </a:r>
          </a:p>
          <a:p>
            <a:pPr algn="l"/>
            <a:r>
              <a:rPr b="0" sz="1300">
                <a:solidFill>
                  <a:srgbClr val="BDD7EE"/>
                </a:solidFill>
              </a:rPr>
              <a:t>Ref: Spall, J.C. (1992) — Multivariate Stochastic Approximation Using a Simultaneous Perturbation Gr…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explorador que sacude todo el mapa a la vez en lugar de moverse un paso a la vez</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SPSA estima el gradiente en 12 dimensiones usando SOLO 2 evaluaciones del simulador
por iteración — sin importar cuántas variables haya.
Genera un vector aleatorio Δ de ±1 (distribución de Bernoulli) y evalúa:
   f(x + c·Δ)  y  f(x − c·Δ)
La diferencia dividida por 2c·Δ estima el gradiente simultáneamente en todas las dimensiones.
Como el gradiente tiene ruido, el paso α_k decrece lentamente según k.
Converge a un mínimo local con alta probabilidad si el ruido es aditivo.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Muchas variables (d&gt;10), presupuesto evaluaciones limitado, función con ruido moderado.</a:t>
            </a:r>
          </a:p>
          <a:p>
            <a:pPr algn="l"/>
            <a:r>
              <a:rPr b="0" sz="500">
                <a:solidFill>
                  <a:srgbClr val="404040"/>
                </a:solidFill>
              </a:rPr>
              <a:t> </a:t>
            </a:r>
          </a:p>
          <a:p>
            <a:pPr algn="l"/>
            <a:r>
              <a:rPr b="1" sz="1050">
                <a:solidFill>
                  <a:srgbClr val="378648"/>
                </a:solidFill>
              </a:rPr>
              <a:t>Fortaleza</a:t>
            </a:r>
          </a:p>
          <a:p>
            <a:pPr algn="l"/>
            <a:r>
              <a:rPr b="0" sz="1000">
                <a:solidFill>
                  <a:srgbClr val="404040"/>
                </a:solidFill>
              </a:rPr>
              <a:t>Solo 2 eval/iter sin importar d. Robusto a ruido moderado. Convergencia probada.</a:t>
            </a:r>
          </a:p>
          <a:p>
            <a:pPr algn="l"/>
            <a:r>
              <a:rPr b="0" sz="500">
                <a:solidFill>
                  <a:srgbClr val="404040"/>
                </a:solidFill>
              </a:rPr>
              <a:t> </a:t>
            </a:r>
          </a:p>
          <a:p>
            <a:pPr algn="l"/>
            <a:r>
              <a:rPr b="1" sz="1050">
                <a:solidFill>
                  <a:srgbClr val="C55A11"/>
                </a:solidFill>
              </a:rPr>
              <a:t>Debilidad</a:t>
            </a:r>
          </a:p>
          <a:p>
            <a:pPr algn="l"/>
            <a:r>
              <a:rPr b="0" sz="1000">
                <a:solidFill>
                  <a:srgbClr val="404040"/>
                </a:solidFill>
              </a:rPr>
              <a:t>Lento: 30 iter × 2 eval = solo 60 eval netas, pero toma 8.65 h por simulaciones lentas.</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219.38 días en 30 iter (8.65 h). Mejor que M4 en días pero mucho más tiempo.</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Spall, J.C. (1992) — Multivariate Stochastic Approximation Using a Simultaneous Perturbation Gradient Approximation — IEEE Transactions on Automatic Control, 37(3), 332–341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EBCC"/>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 ALOE — Armijo Line-search Optimization with Estimates</a:t>
            </a:r>
          </a:p>
          <a:p>
            <a:pPr algn="l"/>
            <a:r>
              <a:rPr b="0" sz="1300">
                <a:solidFill>
                  <a:srgbClr val="BDD7EE"/>
                </a:solidFill>
              </a:rPr>
              <a:t>Ref: Lim, Cao &amp; Shi (2012) — Simulation Optimization with Noisy Function Evaluations — European Jour…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excursionista con brújula que comprueba dos veces cada paso antes de moverse, pero la niebla lo confunde</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ALOE estima el gradiente con diferencias finitas coordenadas (2d evals/iter)
y luego hace una búsqueda de línea tipo Armijo para elegir el tamaño del paso.
Armijo comprueba: ¿el paso α me da una mejora real?
Si f(x + α·d) &lt; f(x) − σ·α·||∇f||²  → acepta el paso.
Si no → reduce α por factor r&lt;1 y vuelve a intentar.
El problema: cuando el simulador es muy ruidoso, f(x+α·d) puede parecer peor
que f(x) por puro azar aunque d apunte cuesta abajo → Armijo rechaza → α→0 → parado.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Funciones de bajo ruido con gradiente computado exacto o casi exacto.</a:t>
            </a:r>
          </a:p>
          <a:p>
            <a:pPr algn="l"/>
            <a:r>
              <a:rPr b="0" sz="500">
                <a:solidFill>
                  <a:srgbClr val="404040"/>
                </a:solidFill>
              </a:rPr>
              <a:t> </a:t>
            </a:r>
          </a:p>
          <a:p>
            <a:pPr algn="l"/>
            <a:r>
              <a:rPr b="1" sz="1050">
                <a:solidFill>
                  <a:srgbClr val="378648"/>
                </a:solidFill>
              </a:rPr>
              <a:t>Fortaleza</a:t>
            </a:r>
          </a:p>
          <a:p>
            <a:pPr algn="l"/>
            <a:r>
              <a:rPr b="0" sz="1000">
                <a:solidFill>
                  <a:srgbClr val="404040"/>
                </a:solidFill>
              </a:rPr>
              <a:t>Con ruido bajo, la búsqueda de línea garantiza descenso monotónico y convergencia.</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ruido alto (σ≥20 días), Armijo falla en 100% de los pasos → algoritmo paralizado.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270.73 días — SIN MEJORA. 69.5 h gastadas. x_final = x0 (Armijo rechazado 30/30 iter).</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Lim, Cao &amp; Shi (2012) — Simulation Optimization with Noisy Function Evaluations — European Journal of Operational Research, 220(3), 684–697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